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607" r:id="rId2"/>
    <p:sldId id="752" r:id="rId3"/>
    <p:sldId id="753" r:id="rId4"/>
    <p:sldId id="754" r:id="rId5"/>
    <p:sldId id="755" r:id="rId6"/>
    <p:sldId id="756" r:id="rId7"/>
    <p:sldId id="757" r:id="rId8"/>
    <p:sldId id="758" r:id="rId9"/>
    <p:sldId id="759" r:id="rId10"/>
    <p:sldId id="760" r:id="rId11"/>
    <p:sldId id="761" r:id="rId12"/>
    <p:sldId id="686" r:id="rId13"/>
    <p:sldId id="762" r:id="rId14"/>
    <p:sldId id="763" r:id="rId15"/>
    <p:sldId id="764" r:id="rId16"/>
    <p:sldId id="765" r:id="rId17"/>
    <p:sldId id="766" r:id="rId18"/>
    <p:sldId id="767" r:id="rId19"/>
    <p:sldId id="768" r:id="rId20"/>
    <p:sldId id="769" r:id="rId21"/>
    <p:sldId id="770" r:id="rId22"/>
    <p:sldId id="771" r:id="rId23"/>
    <p:sldId id="772" r:id="rId24"/>
    <p:sldId id="773" r:id="rId25"/>
    <p:sldId id="546" r:id="rId26"/>
    <p:sldId id="774" r:id="rId27"/>
    <p:sldId id="775" r:id="rId28"/>
    <p:sldId id="776" r:id="rId29"/>
    <p:sldId id="777" r:id="rId30"/>
    <p:sldId id="778" r:id="rId31"/>
    <p:sldId id="779" r:id="rId32"/>
    <p:sldId id="780" r:id="rId33"/>
    <p:sldId id="682" r:id="rId34"/>
    <p:sldId id="781" r:id="rId35"/>
    <p:sldId id="782" r:id="rId36"/>
    <p:sldId id="783" r:id="rId37"/>
    <p:sldId id="697" r:id="rId38"/>
    <p:sldId id="784" r:id="rId39"/>
    <p:sldId id="785" r:id="rId40"/>
    <p:sldId id="786" r:id="rId41"/>
    <p:sldId id="787" r:id="rId42"/>
    <p:sldId id="788" r:id="rId43"/>
    <p:sldId id="793" r:id="rId44"/>
    <p:sldId id="792" r:id="rId45"/>
    <p:sldId id="643" r:id="rId46"/>
    <p:sldId id="579" r:id="rId47"/>
    <p:sldId id="641" r:id="rId48"/>
    <p:sldId id="690" r:id="rId49"/>
    <p:sldId id="677" r:id="rId50"/>
    <p:sldId id="790" r:id="rId51"/>
    <p:sldId id="791" r:id="rId52"/>
    <p:sldId id="662" r:id="rId53"/>
    <p:sldId id="663" r:id="rId54"/>
    <p:sldId id="664" r:id="rId55"/>
    <p:sldId id="665" r:id="rId56"/>
    <p:sldId id="666" r:id="rId57"/>
    <p:sldId id="667" r:id="rId58"/>
    <p:sldId id="668" r:id="rId59"/>
    <p:sldId id="669" r:id="rId60"/>
    <p:sldId id="645" r:id="rId61"/>
    <p:sldId id="646" r:id="rId62"/>
    <p:sldId id="647" r:id="rId63"/>
    <p:sldId id="648" r:id="rId64"/>
    <p:sldId id="592" r:id="rId65"/>
    <p:sldId id="670" r:id="rId66"/>
    <p:sldId id="611" r:id="rId67"/>
    <p:sldId id="649" r:id="rId68"/>
    <p:sldId id="650" r:id="rId69"/>
    <p:sldId id="671" r:id="rId70"/>
    <p:sldId id="672" r:id="rId71"/>
    <p:sldId id="599" r:id="rId72"/>
    <p:sldId id="651" r:id="rId73"/>
    <p:sldId id="652" r:id="rId74"/>
    <p:sldId id="653" r:id="rId75"/>
    <p:sldId id="654" r:id="rId76"/>
    <p:sldId id="655" r:id="rId77"/>
    <p:sldId id="673" r:id="rId78"/>
    <p:sldId id="609" r:id="rId79"/>
    <p:sldId id="695" r:id="rId80"/>
    <p:sldId id="693" r:id="rId81"/>
    <p:sldId id="656" r:id="rId82"/>
    <p:sldId id="543" r:id="rId83"/>
    <p:sldId id="635" r:id="rId84"/>
    <p:sldId id="636" r:id="rId85"/>
    <p:sldId id="637" r:id="rId86"/>
    <p:sldId id="638" r:id="rId87"/>
    <p:sldId id="559" r:id="rId88"/>
    <p:sldId id="630" r:id="rId89"/>
    <p:sldId id="678" r:id="rId90"/>
    <p:sldId id="640" r:id="rId91"/>
    <p:sldId id="679" r:id="rId92"/>
    <p:sldId id="642" r:id="rId93"/>
    <p:sldId id="675" r:id="rId9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CFE"/>
    <a:srgbClr val="EAEAEA"/>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9" d="100"/>
          <a:sy n="99" d="100"/>
        </p:scale>
        <p:origin x="108" y="2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580" y="365671"/>
            <a:ext cx="6350000" cy="247650"/>
          </a:xfrm>
          <a:prstGeom prst="rect">
            <a:avLst/>
          </a:prstGeom>
          <a:noFill/>
        </p:spPr>
        <p:txBody>
          <a:bodyPr wrap="square" lIns="0" tIns="0" rIns="0" bIns="0" anchor="t">
            <a:noAutofit/>
          </a:bodyPr>
          <a:lstStyle/>
          <a:p>
            <a:pPr algn="l">
              <a:spcBef>
                <a:spcPts val="0"/>
              </a:spcBef>
              <a:spcAft>
                <a:spcPts val="0"/>
              </a:spcAft>
            </a:pPr>
            <a:r>
              <a:rPr sz="1159" b="1" i="0" cap="all" spc="232" dirty="0">
                <a:solidFill>
                  <a:srgbClr val="5D7176"/>
                </a:solidFill>
                <a:latin typeface="Noto Sans"/>
              </a:rPr>
              <a:t>n_TOF Collaboration Meeting 2026</a:t>
            </a:r>
          </a:p>
        </p:txBody>
      </p:sp>
      <p:sp>
        <p:nvSpPr>
          <p:cNvPr id="4" name="Rectangle 3"/>
          <p:cNvSpPr/>
          <p:nvPr/>
        </p:nvSpPr>
        <p:spPr>
          <a:xfrm>
            <a:off x="548580" y="771971"/>
            <a:ext cx="1505693"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580" y="1198661"/>
            <a:ext cx="8416230" cy="1334964"/>
          </a:xfrm>
          <a:prstGeom prst="rect">
            <a:avLst/>
          </a:prstGeom>
          <a:noFill/>
        </p:spPr>
        <p:txBody>
          <a:bodyPr wrap="square" lIns="0" tIns="0" rIns="0" bIns="0" anchor="t">
            <a:noAutofit/>
          </a:bodyPr>
          <a:lstStyle/>
          <a:p>
            <a:pPr>
              <a:lnSpc>
                <a:spcPts val="5107"/>
              </a:lnSpc>
            </a:pPr>
            <a:r>
              <a:rPr sz="4559" b="1" i="0" spc="-46" dirty="0">
                <a:solidFill>
                  <a:srgbClr val="23373B"/>
                </a:solidFill>
                <a:latin typeface="Noto Sans Display"/>
              </a:rPr>
              <a:t>X17 Search </a:t>
            </a:r>
            <a:r>
              <a:rPr lang="en-US" sz="4559" b="1" spc="-46" dirty="0">
                <a:solidFill>
                  <a:srgbClr val="23373B"/>
                </a:solidFill>
                <a:latin typeface="Noto Sans Display"/>
              </a:rPr>
              <a:t>in EAR2</a:t>
            </a:r>
            <a:endParaRPr sz="4559" b="1" i="0" spc="-46" dirty="0">
              <a:solidFill>
                <a:srgbClr val="23373B"/>
              </a:solidFill>
              <a:latin typeface="Noto Sans Display"/>
            </a:endParaRPr>
          </a:p>
        </p:txBody>
      </p:sp>
      <p:sp>
        <p:nvSpPr>
          <p:cNvPr id="6" name="TextBox 5"/>
          <p:cNvSpPr txBox="1"/>
          <p:nvPr/>
        </p:nvSpPr>
        <p:spPr>
          <a:xfrm>
            <a:off x="548580" y="2809428"/>
            <a:ext cx="5008940" cy="1241251"/>
          </a:xfrm>
          <a:prstGeom prst="rect">
            <a:avLst/>
          </a:prstGeom>
          <a:noFill/>
        </p:spPr>
        <p:txBody>
          <a:bodyPr wrap="square" lIns="0" tIns="0" rIns="0" bIns="0" anchor="t">
            <a:noAutofit/>
          </a:bodyPr>
          <a:lstStyle/>
          <a:p>
            <a:pPr algn="l">
              <a:spcBef>
                <a:spcPts val="0"/>
              </a:spcBef>
              <a:spcAft>
                <a:spcPts val="0"/>
              </a:spcAft>
            </a:pPr>
            <a:r>
              <a:rPr lang="en-US" sz="1944" b="0" i="0" dirty="0">
                <a:solidFill>
                  <a:srgbClr val="5D7176"/>
                </a:solidFill>
                <a:latin typeface="Noto Sans"/>
              </a:rPr>
              <a:t>Overview + Status of the </a:t>
            </a:r>
            <a:r>
              <a:rPr lang="en-US" sz="1944" b="0" i="0" dirty="0" err="1">
                <a:solidFill>
                  <a:srgbClr val="5D7176"/>
                </a:solidFill>
                <a:latin typeface="Noto Sans"/>
              </a:rPr>
              <a:t>July+August</a:t>
            </a:r>
            <a:r>
              <a:rPr lang="en-US" sz="1944" b="0" i="0" dirty="0">
                <a:solidFill>
                  <a:srgbClr val="5D7176"/>
                </a:solidFill>
                <a:latin typeface="Noto Sans"/>
              </a:rPr>
              <a:t> Run</a:t>
            </a:r>
            <a:endParaRPr sz="1944" b="0" i="0" dirty="0">
              <a:solidFill>
                <a:srgbClr val="5D7176"/>
              </a:solidFill>
              <a:latin typeface="Noto Sans"/>
            </a:endParaRPr>
          </a:p>
        </p:txBody>
      </p:sp>
      <p:sp>
        <p:nvSpPr>
          <p:cNvPr id="7" name="Rectangle 6"/>
          <p:cNvSpPr/>
          <p:nvPr/>
        </p:nvSpPr>
        <p:spPr>
          <a:xfrm>
            <a:off x="548580" y="5970984"/>
            <a:ext cx="11094839"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6098269"/>
            <a:ext cx="11113889" cy="238089"/>
          </a:xfrm>
          <a:prstGeom prst="rect">
            <a:avLst/>
          </a:prstGeom>
          <a:noFill/>
        </p:spPr>
        <p:txBody>
          <a:bodyPr wrap="square" lIns="0" tIns="0" rIns="0" bIns="0" anchor="t">
            <a:noAutofit/>
          </a:bodyPr>
          <a:lstStyle/>
          <a:p>
            <a:pPr algn="l">
              <a:spcBef>
                <a:spcPts val="0"/>
              </a:spcBef>
              <a:spcAft>
                <a:spcPts val="0"/>
              </a:spcAft>
            </a:pPr>
            <a:r>
              <a:rPr sz="1113" b="0" i="0" spc="22" dirty="0">
                <a:solidFill>
                  <a:srgbClr val="23373B"/>
                </a:solidFill>
                <a:latin typeface="Noto Sans SemiBold"/>
              </a:rPr>
              <a:t>Dylan Neff</a:t>
            </a:r>
            <a:r>
              <a:rPr sz="1113" b="0" i="0" spc="22" dirty="0">
                <a:solidFill>
                  <a:srgbClr val="5D7176"/>
                </a:solidFill>
                <a:latin typeface="Noto Sans"/>
              </a:rPr>
              <a:t> · </a:t>
            </a:r>
            <a:r>
              <a:rPr lang="en-US" sz="1113" b="0" i="0" spc="22" dirty="0">
                <a:solidFill>
                  <a:srgbClr val="5D7176"/>
                </a:solidFill>
                <a:latin typeface="Noto Sans"/>
              </a:rPr>
              <a:t>n_TOF Collaboration Meeting, Athens · 1 October 2026</a:t>
            </a:r>
          </a:p>
        </p:txBody>
      </p:sp>
      <p:sp>
        <p:nvSpPr>
          <p:cNvPr id="9" name="TextBox 8"/>
          <p:cNvSpPr txBox="1"/>
          <p:nvPr/>
        </p:nvSpPr>
        <p:spPr>
          <a:xfrm>
            <a:off x="548580" y="6346330"/>
            <a:ext cx="3207343" cy="146000"/>
          </a:xfrm>
          <a:prstGeom prst="rect">
            <a:avLst/>
          </a:prstGeom>
          <a:noFill/>
        </p:spPr>
        <p:txBody>
          <a:bodyPr wrap="square" lIns="0" tIns="0" rIns="0" bIns="0" anchor="t">
            <a:noAutofit/>
          </a:bodyPr>
          <a:lstStyle/>
          <a:p>
            <a:pPr algn="l">
              <a:spcBef>
                <a:spcPts val="0"/>
              </a:spcBef>
              <a:spcAft>
                <a:spcPts val="0"/>
              </a:spcAft>
            </a:pPr>
            <a:r>
              <a:rPr sz="946" b="0" i="0" spc="9" dirty="0">
                <a:solidFill>
                  <a:srgbClr val="5D7176"/>
                </a:solidFill>
                <a:latin typeface="Noto Sans"/>
              </a:rPr>
              <a:t>Slides </a:t>
            </a:r>
            <a:r>
              <a:rPr lang="en-US" sz="946" spc="9" dirty="0">
                <a:solidFill>
                  <a:srgbClr val="5D7176"/>
                </a:solidFill>
                <a:latin typeface="Noto Sans"/>
              </a:rPr>
              <a:t>and analysis built</a:t>
            </a:r>
            <a:r>
              <a:rPr sz="946" b="0" i="0" spc="9" dirty="0">
                <a:solidFill>
                  <a:srgbClr val="5D7176"/>
                </a:solidFill>
                <a:latin typeface="Noto Sans"/>
              </a:rPr>
              <a:t> with Claude Code (Anthropic)</a:t>
            </a:r>
          </a:p>
        </p:txBody>
      </p:sp>
    </p:spTree>
    <p:extLst>
      <p:ext uri="{BB962C8B-B14F-4D97-AF65-F5344CB8AC3E}">
        <p14:creationId xmlns:p14="http://schemas.microsoft.com/office/powerpoint/2010/main" val="1408208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845F-9FCA-14FA-3811-7F901946212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7F6D6CD-7167-FB3F-1EA5-95770A82457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06270252-AFC9-4640-40DC-D85F6A800770}"/>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Outline</a:t>
            </a:r>
          </a:p>
        </p:txBody>
      </p:sp>
      <p:sp>
        <p:nvSpPr>
          <p:cNvPr id="19" name="TextBox 18">
            <a:extLst>
              <a:ext uri="{FF2B5EF4-FFF2-40B4-BE49-F238E27FC236}">
                <a16:creationId xmlns:a16="http://schemas.microsoft.com/office/drawing/2014/main" id="{6BD300AB-8B9F-9980-E952-BF3E89A9F5D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a:extLst>
              <a:ext uri="{FF2B5EF4-FFF2-40B4-BE49-F238E27FC236}">
                <a16:creationId xmlns:a16="http://schemas.microsoft.com/office/drawing/2014/main" id="{5FA1A382-F02C-8E5F-9E9F-CA40BEE88C1A}"/>
              </a:ext>
            </a:extLst>
          </p:cNvPr>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 / 25</a:t>
            </a:r>
            <a:endParaRPr sz="719" b="0" i="0" spc="58">
              <a:solidFill>
                <a:srgbClr val="5D7176"/>
              </a:solidFill>
              <a:latin typeface="Noto Sans"/>
            </a:endParaRPr>
          </a:p>
        </p:txBody>
      </p:sp>
      <p:sp>
        <p:nvSpPr>
          <p:cNvPr id="23" name="Rectangle 22">
            <a:extLst>
              <a:ext uri="{FF2B5EF4-FFF2-40B4-BE49-F238E27FC236}">
                <a16:creationId xmlns:a16="http://schemas.microsoft.com/office/drawing/2014/main" id="{60E272C0-CF65-1C20-AF0E-7CB4B342349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0" name="Outline number 1"/>
          <p:cNvSpPr txBox="1"/>
          <p:nvPr/>
        </p:nvSpPr>
        <p:spPr>
          <a:xfrm>
            <a:off x="546100" y="14732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01</a:t>
            </a:r>
          </a:p>
        </p:txBody>
      </p:sp>
      <p:sp>
        <p:nvSpPr>
          <p:cNvPr id="101" name="Outline item 1"/>
          <p:cNvSpPr txBox="1"/>
          <p:nvPr/>
        </p:nvSpPr>
        <p:spPr>
          <a:xfrm>
            <a:off x="1651000" y="14732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X17</a:t>
            </a:r>
            <a:r>
              <a:rPr lang="en-US" sz="2200" dirty="0">
                <a:solidFill>
                  <a:srgbClr val="5D7176"/>
                </a:solidFill>
                <a:latin typeface="Noto Sans"/>
              </a:rPr>
              <a:t>, and how we would see it at n_TOF</a:t>
            </a:r>
          </a:p>
        </p:txBody>
      </p:sp>
      <p:sp>
        <p:nvSpPr>
          <p:cNvPr id="102" name="Outline divider"/>
          <p:cNvSpPr/>
          <p:nvPr/>
        </p:nvSpPr>
        <p:spPr>
          <a:xfrm>
            <a:off x="546100" y="2425700"/>
            <a:ext cx="11099800" cy="12700"/>
          </a:xfrm>
          <a:prstGeom prst="rect">
            <a:avLst/>
          </a:prstGeom>
          <a:solidFill>
            <a:srgbClr val="D3DADB"/>
          </a:solidFill>
          <a:ln>
            <a:noFill/>
          </a:ln>
        </p:spPr>
        <p:txBody>
          <a:bodyPr/>
          <a:lstStyle/>
          <a:p>
            <a:endParaRPr lang="en-US"/>
          </a:p>
        </p:txBody>
      </p:sp>
      <p:sp>
        <p:nvSpPr>
          <p:cNvPr id="103" name="Outline number 2"/>
          <p:cNvSpPr txBox="1"/>
          <p:nvPr/>
        </p:nvSpPr>
        <p:spPr>
          <a:xfrm>
            <a:off x="546100" y="24384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02</a:t>
            </a:r>
          </a:p>
        </p:txBody>
      </p:sp>
      <p:sp>
        <p:nvSpPr>
          <p:cNvPr id="104" name="Outline item 2"/>
          <p:cNvSpPr txBox="1"/>
          <p:nvPr/>
        </p:nvSpPr>
        <p:spPr>
          <a:xfrm>
            <a:off x="1651000" y="24384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The detector system in EAR2</a:t>
            </a:r>
          </a:p>
        </p:txBody>
      </p:sp>
      <p:sp>
        <p:nvSpPr>
          <p:cNvPr id="105" name="Outline divider"/>
          <p:cNvSpPr/>
          <p:nvPr/>
        </p:nvSpPr>
        <p:spPr>
          <a:xfrm>
            <a:off x="546100" y="3390900"/>
            <a:ext cx="11099800" cy="12700"/>
          </a:xfrm>
          <a:prstGeom prst="rect">
            <a:avLst/>
          </a:prstGeom>
          <a:solidFill>
            <a:srgbClr val="D3DADB"/>
          </a:solidFill>
          <a:ln>
            <a:noFill/>
          </a:ln>
        </p:spPr>
        <p:txBody>
          <a:bodyPr/>
          <a:lstStyle/>
          <a:p>
            <a:endParaRPr lang="en-US"/>
          </a:p>
        </p:txBody>
      </p:sp>
      <p:sp>
        <p:nvSpPr>
          <p:cNvPr id="106" name="Outline number 3"/>
          <p:cNvSpPr txBox="1"/>
          <p:nvPr/>
        </p:nvSpPr>
        <p:spPr>
          <a:xfrm>
            <a:off x="546100" y="34036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03</a:t>
            </a:r>
          </a:p>
        </p:txBody>
      </p:sp>
      <p:sp>
        <p:nvSpPr>
          <p:cNvPr id="107" name="Outline item 3"/>
          <p:cNvSpPr txBox="1"/>
          <p:nvPr/>
        </p:nvSpPr>
        <p:spPr>
          <a:xfrm>
            <a:off x="1651000" y="34036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Plan A: MeV neutrons</a:t>
            </a:r>
            <a:r>
              <a:rPr lang="en-US" sz="2200" dirty="0">
                <a:solidFill>
                  <a:srgbClr val="5D7176"/>
                </a:solidFill>
                <a:latin typeface="Noto Sans"/>
              </a:rPr>
              <a:t> — and the γ flash</a:t>
            </a:r>
          </a:p>
        </p:txBody>
      </p:sp>
      <p:sp>
        <p:nvSpPr>
          <p:cNvPr id="108" name="Outline divider"/>
          <p:cNvSpPr/>
          <p:nvPr/>
        </p:nvSpPr>
        <p:spPr>
          <a:xfrm>
            <a:off x="546100" y="4356100"/>
            <a:ext cx="11099800" cy="12700"/>
          </a:xfrm>
          <a:prstGeom prst="rect">
            <a:avLst/>
          </a:prstGeom>
          <a:solidFill>
            <a:srgbClr val="D3DADB"/>
          </a:solidFill>
          <a:ln>
            <a:noFill/>
          </a:ln>
        </p:spPr>
        <p:txBody>
          <a:bodyPr/>
          <a:lstStyle/>
          <a:p>
            <a:endParaRPr lang="en-US"/>
          </a:p>
        </p:txBody>
      </p:sp>
      <p:sp>
        <p:nvSpPr>
          <p:cNvPr id="109" name="Outline number 4"/>
          <p:cNvSpPr txBox="1"/>
          <p:nvPr/>
        </p:nvSpPr>
        <p:spPr>
          <a:xfrm>
            <a:off x="546100" y="43688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04</a:t>
            </a:r>
          </a:p>
        </p:txBody>
      </p:sp>
      <p:sp>
        <p:nvSpPr>
          <p:cNvPr id="110" name="Outline item 4"/>
          <p:cNvSpPr txBox="1"/>
          <p:nvPr/>
        </p:nvSpPr>
        <p:spPr>
          <a:xfrm>
            <a:off x="1651000" y="43688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Plan B: thermal neutrons</a:t>
            </a:r>
            <a:r>
              <a:rPr lang="en-US" sz="2200" dirty="0">
                <a:solidFill>
                  <a:srgbClr val="5D7176"/>
                </a:solidFill>
                <a:latin typeface="Noto Sans"/>
              </a:rPr>
              <a:t> — and self-shielding</a:t>
            </a:r>
          </a:p>
        </p:txBody>
      </p:sp>
      <p:sp>
        <p:nvSpPr>
          <p:cNvPr id="111" name="Outline divider"/>
          <p:cNvSpPr/>
          <p:nvPr/>
        </p:nvSpPr>
        <p:spPr>
          <a:xfrm>
            <a:off x="546100" y="5321300"/>
            <a:ext cx="11099800" cy="12700"/>
          </a:xfrm>
          <a:prstGeom prst="rect">
            <a:avLst/>
          </a:prstGeom>
          <a:solidFill>
            <a:srgbClr val="D3DADB"/>
          </a:solidFill>
          <a:ln>
            <a:noFill/>
          </a:ln>
        </p:spPr>
        <p:txBody>
          <a:bodyPr/>
          <a:lstStyle/>
          <a:p>
            <a:endParaRPr lang="en-US"/>
          </a:p>
        </p:txBody>
      </p:sp>
      <p:sp>
        <p:nvSpPr>
          <p:cNvPr id="112" name="Outline number 5"/>
          <p:cNvSpPr txBox="1"/>
          <p:nvPr/>
        </p:nvSpPr>
        <p:spPr>
          <a:xfrm>
            <a:off x="546100" y="5334000"/>
            <a:ext cx="1016000" cy="952500"/>
          </a:xfrm>
          <a:prstGeom prst="rect">
            <a:avLst/>
          </a:prstGeom>
          <a:noFill/>
        </p:spPr>
        <p:txBody>
          <a:bodyPr wrap="square" lIns="0" tIns="0" rIns="0" bIns="0" anchor="ctr">
            <a:noAutofit/>
          </a:bodyPr>
          <a:lstStyle/>
          <a:p>
            <a:pPr>
              <a:buNone/>
            </a:pPr>
            <a:r>
              <a:rPr lang="en-US" sz="3600" b="1" dirty="0">
                <a:solidFill>
                  <a:srgbClr val="EB811B"/>
                </a:solidFill>
                <a:latin typeface="Noto Sans Display"/>
              </a:rPr>
              <a:t>05</a:t>
            </a:r>
          </a:p>
        </p:txBody>
      </p:sp>
      <p:sp>
        <p:nvSpPr>
          <p:cNvPr id="113" name="Outline item 5"/>
          <p:cNvSpPr txBox="1"/>
          <p:nvPr/>
        </p:nvSpPr>
        <p:spPr>
          <a:xfrm>
            <a:off x="1651000" y="5334000"/>
            <a:ext cx="9994900" cy="952500"/>
          </a:xfrm>
          <a:prstGeom prst="rect">
            <a:avLst/>
          </a:prstGeom>
          <a:noFill/>
        </p:spPr>
        <p:txBody>
          <a:bodyPr wrap="square" lIns="0" tIns="0" rIns="0" bIns="0" anchor="ctr">
            <a:noAutofit/>
          </a:bodyPr>
          <a:lstStyle/>
          <a:p>
            <a:pPr>
              <a:buNone/>
            </a:pPr>
            <a:r>
              <a:rPr lang="en-US" sz="2200" b="1" dirty="0">
                <a:solidFill>
                  <a:srgbClr val="23373B"/>
                </a:solidFill>
                <a:latin typeface="Noto Sans"/>
              </a:rPr>
              <a:t>Plan C: the aluminum spectrum</a:t>
            </a:r>
            <a:r>
              <a:rPr lang="en-US" sz="2200" dirty="0">
                <a:solidFill>
                  <a:srgbClr val="5D7176"/>
                </a:solidFill>
                <a:latin typeface="Noto Sans"/>
              </a:rPr>
              <a:t> — capsule image, pairs to analyse</a:t>
            </a:r>
          </a:p>
        </p:txBody>
      </p:sp>
    </p:spTree>
    <p:extLst>
      <p:ext uri="{BB962C8B-B14F-4D97-AF65-F5344CB8AC3E}">
        <p14:creationId xmlns:p14="http://schemas.microsoft.com/office/powerpoint/2010/main" val="3770327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possible new boson at 17 MeV?</a:t>
            </a:r>
          </a:p>
        </p:txBody>
      </p:sp>
      <p:sp>
        <p:nvSpPr>
          <p:cNvPr id="7" name="TextBox 6"/>
          <p:cNvSpPr txBox="1"/>
          <p:nvPr/>
        </p:nvSpPr>
        <p:spPr>
          <a:xfrm>
            <a:off x="200660" y="153162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ATOMKI, 2016:</a:t>
            </a:r>
            <a:r>
              <a:rPr sz="1800" b="0" i="0" dirty="0">
                <a:solidFill>
                  <a:srgbClr val="23373B"/>
                </a:solidFill>
                <a:latin typeface="Noto Sans"/>
              </a:rPr>
              <a:t> an excess of </a:t>
            </a:r>
            <a:r>
              <a:rPr sz="1800" b="0" i="0" dirty="0" err="1">
                <a:solidFill>
                  <a:srgbClr val="23373B"/>
                </a:solidFill>
                <a:latin typeface="Noto Sans"/>
              </a:rPr>
              <a:t>e⁺e</a:t>
            </a:r>
            <a:r>
              <a:rPr sz="1800" b="0" i="0" dirty="0">
                <a:solidFill>
                  <a:srgbClr val="23373B"/>
                </a:solidFill>
                <a:latin typeface="Noto Sans"/>
              </a:rPr>
              <a:t>⁻ pairs at large opening angle, in three nuclear transitions</a:t>
            </a:r>
          </a:p>
        </p:txBody>
      </p:sp>
      <p:sp>
        <p:nvSpPr>
          <p:cNvPr id="8" name="TextBox 7"/>
          <p:cNvSpPr txBox="1"/>
          <p:nvPr/>
        </p:nvSpPr>
        <p:spPr>
          <a:xfrm>
            <a:off x="200660" y="3042920"/>
            <a:ext cx="3954780" cy="11557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0" i="0" dirty="0">
                <a:solidFill>
                  <a:srgbClr val="23373B"/>
                </a:solidFill>
                <a:latin typeface="Noto Sans"/>
              </a:rPr>
              <a:t>Consistent with a new particle</a:t>
            </a:r>
            <a:r>
              <a:rPr lang="en-US" sz="1800" b="0" i="0" dirty="0">
                <a:solidFill>
                  <a:srgbClr val="23373B"/>
                </a:solidFill>
                <a:latin typeface="Noto Sans"/>
              </a:rPr>
              <a:t>:</a:t>
            </a:r>
            <a:r>
              <a:rPr sz="1800" b="0" i="0" dirty="0">
                <a:solidFill>
                  <a:srgbClr val="23373B"/>
                </a:solidFill>
                <a:latin typeface="Noto Sans"/>
              </a:rPr>
              <a:t> </a:t>
            </a:r>
            <a:r>
              <a:rPr sz="1800" b="1" i="0" dirty="0">
                <a:solidFill>
                  <a:srgbClr val="23373B"/>
                </a:solidFill>
                <a:latin typeface="Noto Sans"/>
              </a:rPr>
              <a:t>X17</a:t>
            </a:r>
            <a:r>
              <a:rPr sz="1800" b="0" i="0" dirty="0">
                <a:solidFill>
                  <a:srgbClr val="23373B"/>
                </a:solidFill>
                <a:latin typeface="Noto Sans"/>
              </a:rPr>
              <a:t>, ~17 MeV, decaying to </a:t>
            </a:r>
            <a:r>
              <a:rPr sz="1800" b="0" i="0" dirty="0" err="1">
                <a:solidFill>
                  <a:srgbClr val="23373B"/>
                </a:solidFill>
                <a:latin typeface="Noto Sans"/>
              </a:rPr>
              <a:t>e⁺e</a:t>
            </a:r>
            <a:r>
              <a:rPr sz="1800" b="0" i="0" dirty="0">
                <a:solidFill>
                  <a:srgbClr val="23373B"/>
                </a:solidFill>
                <a:latin typeface="Noto Sans"/>
              </a:rPr>
              <a:t>⁻</a:t>
            </a:r>
          </a:p>
        </p:txBody>
      </p:sp>
      <p:sp>
        <p:nvSpPr>
          <p:cNvPr id="9" name="TextBox 8"/>
          <p:cNvSpPr txBox="1"/>
          <p:nvPr/>
        </p:nvSpPr>
        <p:spPr>
          <a:xfrm>
            <a:off x="200660" y="4269740"/>
            <a:ext cx="3954780" cy="1511300"/>
          </a:xfrm>
          <a:prstGeom prst="rect">
            <a:avLst/>
          </a:prstGeom>
          <a:noFill/>
        </p:spPr>
        <p:txBody>
          <a:bodyPr wrap="square" lIns="0" tIns="0" rIns="0" bIns="0" anchor="t">
            <a:noAutofit/>
          </a:bodyPr>
          <a:lstStyle/>
          <a:p>
            <a:pPr marL="323850" indent="-323850" algn="l">
              <a:lnSpc>
                <a:spcPts val="2790"/>
              </a:lnSpc>
              <a:spcBef>
                <a:spcPts val="0"/>
              </a:spcBef>
              <a:spcAft>
                <a:spcPts val="0"/>
              </a:spcAft>
              <a:buClr>
                <a:srgbClr val="EB811B"/>
              </a:buClr>
              <a:buChar char="▸"/>
            </a:pPr>
            <a:r>
              <a:rPr sz="1800" b="1" i="0" dirty="0">
                <a:solidFill>
                  <a:srgbClr val="23373B"/>
                </a:solidFill>
                <a:latin typeface="Noto Sans"/>
              </a:rPr>
              <a:t>Can we make an independent measurement?</a:t>
            </a:r>
            <a:r>
              <a:rPr sz="1800" b="0" i="0" dirty="0">
                <a:solidFill>
                  <a:srgbClr val="23373B"/>
                </a:solidFill>
                <a:latin typeface="Noto Sans"/>
              </a:rPr>
              <a:t> </a:t>
            </a:r>
          </a:p>
          <a:p>
            <a:pPr marL="323850" indent="-323850" algn="l">
              <a:lnSpc>
                <a:spcPts val="2790"/>
              </a:lnSpc>
              <a:spcBef>
                <a:spcPts val="0"/>
              </a:spcBef>
              <a:spcAft>
                <a:spcPts val="0"/>
              </a:spcAft>
              <a:buClr>
                <a:srgbClr val="EB811B"/>
              </a:buClr>
              <a:buChar char="▸"/>
            </a:pPr>
            <a:r>
              <a:rPr sz="1800" b="0" i="0" dirty="0">
                <a:solidFill>
                  <a:srgbClr val="23373B"/>
                </a:solidFill>
                <a:latin typeface="Noto Sans"/>
              </a:rPr>
              <a:t>The same ⁴He* state, generated with neutrons + ³He?</a:t>
            </a:r>
          </a:p>
        </p:txBody>
      </p:sp>
      <p:pic>
        <p:nvPicPr>
          <p:cNvPr id="10" name="Picture 9" descr="Angular correlation spectra showing an excess of e+e- pairs near 115-125 degrees in the 7Li(p,e+e-)8Be, 3H(p,e+e-)4He, and 11B(p,e+e-)12C reactions"/>
          <p:cNvPicPr>
            <a:picLocks noChangeAspect="1"/>
          </p:cNvPicPr>
          <p:nvPr/>
        </p:nvPicPr>
        <p:blipFill>
          <a:blip r:embed="rId2"/>
          <a:stretch>
            <a:fillRect/>
          </a:stretch>
        </p:blipFill>
        <p:spPr>
          <a:xfrm>
            <a:off x="4109680" y="1344814"/>
            <a:ext cx="8062000" cy="4725623"/>
          </a:xfrm>
          <a:prstGeom prst="rect">
            <a:avLst/>
          </a:prstGeom>
        </p:spPr>
      </p:pic>
      <p:sp>
        <p:nvSpPr>
          <p:cNvPr id="11" name="TextBox 10"/>
          <p:cNvSpPr txBox="1"/>
          <p:nvPr/>
        </p:nvSpPr>
        <p:spPr>
          <a:xfrm>
            <a:off x="4513808" y="6240998"/>
            <a:ext cx="7148661"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A.J. Krasznahorkay et al., </a:t>
            </a:r>
            <a:r>
              <a:rPr sz="1024" b="0" i="1" spc="20">
                <a:solidFill>
                  <a:srgbClr val="5D7176"/>
                </a:solidFill>
                <a:latin typeface="Noto Sans"/>
              </a:rPr>
              <a:t>PRL</a:t>
            </a:r>
            <a:r>
              <a:rPr sz="1024" b="0" i="0" spc="20">
                <a:solidFill>
                  <a:srgbClr val="5D7176"/>
                </a:solidFill>
                <a:latin typeface="Noto Sans"/>
              </a:rPr>
              <a:t> </a:t>
            </a:r>
            <a:r>
              <a:rPr sz="1024" b="1" i="0" spc="20">
                <a:solidFill>
                  <a:srgbClr val="5D7176"/>
                </a:solidFill>
                <a:latin typeface="Noto Sans"/>
              </a:rPr>
              <a:t>116</a:t>
            </a:r>
            <a:r>
              <a:rPr sz="1024" b="0" i="0" spc="20">
                <a:solidFill>
                  <a:srgbClr val="5D7176"/>
                </a:solidFill>
                <a:latin typeface="Noto Sans"/>
              </a:rPr>
              <a:t>, 042501 (2016)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104</a:t>
            </a:r>
            <a:r>
              <a:rPr sz="1024" b="0" i="0" spc="20">
                <a:solidFill>
                  <a:srgbClr val="5D7176"/>
                </a:solidFill>
                <a:latin typeface="Noto Sans"/>
              </a:rPr>
              <a:t>, 044003 (2021) · </a:t>
            </a:r>
            <a:r>
              <a:rPr sz="1024" b="0" i="1" spc="20">
                <a:solidFill>
                  <a:srgbClr val="5D7176"/>
                </a:solidFill>
                <a:latin typeface="Noto Sans"/>
              </a:rPr>
              <a:t>PRC</a:t>
            </a:r>
            <a:r>
              <a:rPr sz="1024" b="0" i="0" spc="20">
                <a:solidFill>
                  <a:srgbClr val="5D7176"/>
                </a:solidFill>
                <a:latin typeface="Noto Sans"/>
              </a:rPr>
              <a:t> </a:t>
            </a:r>
            <a:r>
              <a:rPr sz="1024" b="1" i="0" spc="20">
                <a:solidFill>
                  <a:srgbClr val="5D7176"/>
                </a:solidFill>
                <a:latin typeface="Noto Sans"/>
              </a:rPr>
              <a:t>106</a:t>
            </a:r>
            <a:r>
              <a:rPr sz="1024" b="0" i="0" spc="20">
                <a:solidFill>
                  <a:srgbClr val="5D7176"/>
                </a:solidFill>
                <a:latin typeface="Noto Sans"/>
              </a:rPr>
              <a:t>, L061601 (2022)</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3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FBF8E374-6482-4CC7-ACB3-B0D3A3D24FA5}"/>
              </a:ext>
            </a:extLst>
          </p:cNvPr>
          <p:cNvSpPr/>
          <p:nvPr/>
        </p:nvSpPr>
        <p:spPr>
          <a:xfrm>
            <a:off x="546100" y="6556248"/>
            <a:ext cx="11099800" cy="9525"/>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4898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1 of 3: a neutron beam arriving from below on the real Geant4 3He vessel, with a zoom onto one neutron meeting one 3He nucleus in the gas"/>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4.1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E371EF1D-85D6-449C-98C0-C38AAC1F32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254B9E1A-110C-2C2F-473F-2F1BCBDB7F34}"/>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007B6909-56DE-B7CB-A900-25F42E5B459A}"/>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2494139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2 of 3: the same, plus n + 3He making an excited 4He nucleus left 20.58 MeV above its ground state"/>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4.2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72F11431-33E8-412C-B1B3-877F590B071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3EA4E636-00F2-77F7-F7FC-ECFF7A622F6D}"/>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603D0904-1646-88C9-605A-6963531B2C98}"/>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186357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Capture on ³He and how X17 could come out</a:t>
            </a:r>
          </a:p>
        </p:txBody>
      </p:sp>
      <p:pic>
        <p:nvPicPr>
          <p:cNvPr id="7" name="Picture 6" descr="Build frame 3 of 3: the level scheme and the three ways the excitation can be shed - gamma emission with no pair to see, internal pair conversion, and X17 emission followed by its decay to an e+e- pair - ending on the instruction to detect the e+e- pair"/>
          <p:cNvPicPr>
            <a:picLocks noChangeAspect="1"/>
          </p:cNvPicPr>
          <p:nvPr/>
        </p:nvPicPr>
        <p:blipFill>
          <a:blip r:embed="rId2"/>
          <a:stretch>
            <a:fillRect/>
          </a:stretch>
        </p:blipFill>
        <p:spPr>
          <a:xfrm>
            <a:off x="548656" y="1215777"/>
            <a:ext cx="11094688" cy="5132784"/>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4.3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9CA9024-8EAA-4DF4-BBAB-4E5E1C4926D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EF795619-4DF8-7D46-0899-BB0868C521FC}"/>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11A772D-0B13-D72B-8864-9E727C0D7114}"/>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2" name="X17 question mark">
            <a:extLst>
              <a:ext uri="{FF2B5EF4-FFF2-40B4-BE49-F238E27FC236}">
                <a16:creationId xmlns:a16="http://schemas.microsoft.com/office/drawing/2014/main" id="{BAF867D3-701B-4A5A-B701-3E256C1C3FA7}"/>
              </a:ext>
            </a:extLst>
          </p:cNvPr>
          <p:cNvSpPr txBox="1"/>
          <p:nvPr/>
        </p:nvSpPr>
        <p:spPr>
          <a:xfrm>
            <a:off x="8312192" y="4664423"/>
            <a:ext cx="477520" cy="595835"/>
          </a:xfrm>
          <a:prstGeom prst="rect">
            <a:avLst/>
          </a:prstGeom>
          <a:noFill/>
        </p:spPr>
        <p:txBody>
          <a:bodyPr vertOverflow="overflow" vert="horz" wrap="none" rtlCol="0" anchor="ctr" anchorCtr="0">
            <a:noAutofit/>
          </a:bodyPr>
          <a:lstStyle/>
          <a:p>
            <a:pPr algn="l"/>
            <a:r>
              <a:rPr lang="en-US" sz="4000" b="1" dirty="0">
                <a:solidFill>
                  <a:srgbClr val="C0399A"/>
                </a:solidFill>
                <a:latin typeface="Comic Sans MS"/>
              </a:rPr>
              <a:t>?</a:t>
            </a:r>
          </a:p>
        </p:txBody>
      </p:sp>
    </p:spTree>
    <p:extLst>
      <p:ext uri="{BB962C8B-B14F-4D97-AF65-F5344CB8AC3E}">
        <p14:creationId xmlns:p14="http://schemas.microsoft.com/office/powerpoint/2010/main" val="4030063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5.1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4442AA18-AE1B-4707-8064-40562AB38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127102-4954-1CB0-25B2-C29FD5278C29}"/>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28E24CE3-C392-B093-FAD9-C6E8A2537B41}"/>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11" name="Picture 10">
            <a:extLst>
              <a:ext uri="{FF2B5EF4-FFF2-40B4-BE49-F238E27FC236}">
                <a16:creationId xmlns:a16="http://schemas.microsoft.com/office/drawing/2014/main" id="{31A5E084-8DC8-DAC8-B334-A888E18B70D3}"/>
              </a:ext>
            </a:extLst>
          </p:cNvPr>
          <p:cNvPicPr>
            <a:picLocks noChangeAspect="1"/>
          </p:cNvPicPr>
          <p:nvPr/>
        </p:nvPicPr>
        <p:blipFill>
          <a:blip r:embed="rId2"/>
          <a:stretch>
            <a:fillRect/>
          </a:stretch>
        </p:blipFill>
        <p:spPr>
          <a:xfrm>
            <a:off x="581453" y="1121763"/>
            <a:ext cx="11029092" cy="5434495"/>
          </a:xfrm>
          <a:prstGeom prst="rect">
            <a:avLst/>
          </a:prstGeom>
        </p:spPr>
      </p:pic>
    </p:spTree>
    <p:extLst>
      <p:ext uri="{BB962C8B-B14F-4D97-AF65-F5344CB8AC3E}">
        <p14:creationId xmlns:p14="http://schemas.microsoft.com/office/powerpoint/2010/main" val="167208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5.2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0A8C748-9A54-47B4-BB77-D4BB49896B9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B2A9EAD0-5F66-8897-545D-C4194DE3D422}"/>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78D67A6-094F-14CD-AF02-6F464DD831C5}"/>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pic>
        <p:nvPicPr>
          <p:cNvPr id="3" name="Picture 2">
            <a:extLst>
              <a:ext uri="{FF2B5EF4-FFF2-40B4-BE49-F238E27FC236}">
                <a16:creationId xmlns:a16="http://schemas.microsoft.com/office/drawing/2014/main" id="{F80BEAC9-5B3E-E2D8-BB27-9AD258E47284}"/>
              </a:ext>
            </a:extLst>
          </p:cNvPr>
          <p:cNvPicPr>
            <a:picLocks noChangeAspect="1"/>
          </p:cNvPicPr>
          <p:nvPr/>
        </p:nvPicPr>
        <p:blipFill>
          <a:blip r:embed="rId2"/>
          <a:stretch>
            <a:fillRect/>
          </a:stretch>
        </p:blipFill>
        <p:spPr>
          <a:xfrm>
            <a:off x="581452" y="1122525"/>
            <a:ext cx="11029092" cy="5434495"/>
          </a:xfrm>
          <a:prstGeom prst="rect">
            <a:avLst/>
          </a:prstGeom>
        </p:spPr>
      </p:pic>
    </p:spTree>
    <p:extLst>
      <p:ext uri="{BB962C8B-B14F-4D97-AF65-F5344CB8AC3E}">
        <p14:creationId xmlns:p14="http://schemas.microsoft.com/office/powerpoint/2010/main" val="209681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BB4C0-B4DC-921A-CEC3-6F90C3DD64F0}"/>
              </a:ext>
            </a:extLst>
          </p:cNvPr>
          <p:cNvPicPr>
            <a:picLocks noChangeAspect="1"/>
          </p:cNvPicPr>
          <p:nvPr/>
        </p:nvPicPr>
        <p:blipFill>
          <a:blip r:embed="rId2"/>
          <a:stretch>
            <a:fillRect/>
          </a:stretch>
        </p:blipFill>
        <p:spPr>
          <a:xfrm>
            <a:off x="581453" y="1121763"/>
            <a:ext cx="11029092" cy="5434495"/>
          </a:xfrm>
          <a:prstGeom prst="rect">
            <a:avLst/>
          </a:prstGeom>
        </p:spPr>
      </p:pic>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opening angle observable -- X17 moves slow</a:t>
            </a: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81702" y="6629400"/>
            <a:ext cx="37689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5.3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6BA9678F-2AA5-4ADE-96CE-CA9F89CE52D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8539DC93-0B93-6249-FF5D-425064D53800}"/>
              </a:ext>
            </a:extLst>
          </p:cNvPr>
          <p:cNvSpPr/>
          <p:nvPr/>
        </p:nvSpPr>
        <p:spPr>
          <a:xfrm>
            <a:off x="546100" y="431800"/>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F2CEC4AF-4626-6461-2DF5-D0D74576A69C}"/>
              </a:ext>
            </a:extLst>
          </p:cNvPr>
          <p:cNvSpPr txBox="1"/>
          <p:nvPr/>
        </p:nvSpPr>
        <p:spPr>
          <a:xfrm>
            <a:off x="838200" y="368300"/>
            <a:ext cx="10793889" cy="20955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Tree>
    <p:extLst>
      <p:ext uri="{BB962C8B-B14F-4D97-AF65-F5344CB8AC3E}">
        <p14:creationId xmlns:p14="http://schemas.microsoft.com/office/powerpoint/2010/main" val="233755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TPC operation</a:t>
            </a:r>
          </a:p>
        </p:txBody>
      </p:sp>
      <p:pic>
        <p:nvPicPr>
          <p:cNvPr id="14" name="Picture 13" descr="Simulated event. Left: a muon crossing the 30 mm drift gap, every primary ionisation cluster drifting down to the mesh, coloured by arrival time. Right: the per-strip waveforms those clusters produce, one trace per strip, the pulse walking steadily across strips as the depth changes."/>
          <p:cNvPicPr>
            <a:picLocks noChangeAspect="1"/>
          </p:cNvPicPr>
          <p:nvPr/>
        </p:nvPicPr>
        <p:blipFill>
          <a:blip r:embed="rId2"/>
          <a:stretch>
            <a:fillRect/>
          </a:stretch>
        </p:blipFill>
        <p:spPr>
          <a:xfrm>
            <a:off x="702534" y="1185771"/>
            <a:ext cx="10783882" cy="5343045"/>
          </a:xfrm>
          <a:prstGeom prst="rect">
            <a:avLst/>
          </a:prstGeom>
        </p:spPr>
      </p:pic>
      <p:sp>
        <p:nvSpPr>
          <p:cNvPr id="15" name="TextBox 14"/>
          <p:cNvSpPr txBox="1"/>
          <p:nvPr/>
        </p:nvSpPr>
        <p:spPr>
          <a:xfrm>
            <a:off x="4815781" y="1276982"/>
            <a:ext cx="2397820" cy="413743"/>
          </a:xfrm>
          <a:prstGeom prst="rect">
            <a:avLst/>
          </a:prstGeom>
          <a:noFill/>
        </p:spPr>
        <p:txBody>
          <a:bodyPr wrap="square" lIns="0" tIns="0" rIns="0" bIns="0" anchor="t">
            <a:noAutofit/>
          </a:bodyPr>
          <a:lstStyle/>
          <a:p>
            <a:pPr algn="ctr">
              <a:spcBef>
                <a:spcPts val="0"/>
              </a:spcBef>
              <a:spcAft>
                <a:spcPts val="0"/>
              </a:spcAft>
            </a:pPr>
            <a:r>
              <a:rPr sz="1600" i="0" spc="18" dirty="0">
                <a:solidFill>
                  <a:srgbClr val="5D7176"/>
                </a:solidFill>
                <a:latin typeface="Noto Sans"/>
              </a:rPr>
              <a:t>Simulated event </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6 / 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FB51374E-C931-495A-B0FD-BC1BF18EB5F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289988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spc="-28" dirty="0">
                <a:solidFill>
                  <a:srgbClr val="23373B"/>
                </a:solidFill>
                <a:latin typeface="Noto Sans Display"/>
              </a:rPr>
              <a:t>Adequate angular, spatial and temporal resolution</a:t>
            </a:r>
            <a:endParaRPr sz="2783" b="1" i="0" spc="-28" dirty="0">
              <a:solidFill>
                <a:srgbClr val="23373B"/>
              </a:solidFill>
              <a:latin typeface="Noto Sans Display"/>
            </a:endParaRPr>
          </a:p>
        </p:txBody>
      </p:sp>
      <p:sp>
        <p:nvSpPr>
          <p:cNvPr id="13" name="TextBox 12"/>
          <p:cNvSpPr txBox="1"/>
          <p:nvPr/>
        </p:nvSpPr>
        <p:spPr>
          <a:xfrm>
            <a:off x="548580" y="1341467"/>
            <a:ext cx="6068169"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Reconstructed against reference, per plane</a:t>
            </a:r>
          </a:p>
        </p:txBody>
      </p:sp>
      <p:pic>
        <p:nvPicPr>
          <p:cNvPr id="15" name="Picture 14" descr="Two panels, X view and Y view: two-dimensional density of the reconstructed track angle against the M3 reference angle, tight along the line of equality from minus 20 to plus 20 degrees, with sigma68 of 1.19 and 1.23 degrees and bias below 0.1 degrees"/>
          <p:cNvPicPr>
            <a:picLocks noChangeAspect="1"/>
          </p:cNvPicPr>
          <p:nvPr/>
        </p:nvPicPr>
        <p:blipFill>
          <a:blip r:embed="rId2"/>
          <a:stretch>
            <a:fillRect/>
          </a:stretch>
        </p:blipFill>
        <p:spPr>
          <a:xfrm>
            <a:off x="779" y="1806376"/>
            <a:ext cx="7100626" cy="3348782"/>
          </a:xfrm>
          <a:prstGeom prst="rect">
            <a:avLst/>
          </a:prstGeom>
        </p:spPr>
      </p:pic>
      <p:sp>
        <p:nvSpPr>
          <p:cNvPr id="17" name="TextBox 16"/>
          <p:cNvSpPr txBox="1"/>
          <p:nvPr/>
        </p:nvSpPr>
        <p:spPr>
          <a:xfrm>
            <a:off x="7528220" y="1251751"/>
            <a:ext cx="4373059" cy="338605"/>
          </a:xfrm>
          <a:prstGeom prst="rect">
            <a:avLst/>
          </a:prstGeom>
          <a:noFill/>
        </p:spPr>
        <p:txBody>
          <a:bodyPr wrap="square" lIns="0" tIns="0" rIns="0" bIns="0" anchor="t">
            <a:noAutofit/>
          </a:bodyPr>
          <a:lstStyle/>
          <a:p>
            <a:pPr algn="ctr">
              <a:spcBef>
                <a:spcPts val="0"/>
              </a:spcBef>
              <a:spcAft>
                <a:spcPts val="0"/>
              </a:spcAft>
            </a:pPr>
            <a:r>
              <a:rPr lang="en-US" sz="1400" b="0" i="0" spc="10" dirty="0">
                <a:solidFill>
                  <a:srgbClr val="3C5257"/>
                </a:solidFill>
                <a:latin typeface="Noto Sans SemiBold"/>
              </a:rPr>
              <a:t>Head on tracks reasonable and angled tracks approach 1°</a:t>
            </a:r>
            <a:endParaRPr sz="1400" b="0" i="0" spc="10" dirty="0">
              <a:solidFill>
                <a:srgbClr val="3C5257"/>
              </a:solidFill>
              <a:latin typeface="Noto Sans SemiBold"/>
            </a:endParaRPr>
          </a:p>
        </p:txBody>
      </p:sp>
      <p:pic>
        <p:nvPicPr>
          <p:cNvPr id="19" name="Picture 18" descr="Sigma68 of the angle residual against the absolute reference angle, both planes, between 0.98 and 1.71 degrees across 0 to 18 degrees, the widest bin being the head-on Y one"/>
          <p:cNvPicPr>
            <a:picLocks noChangeAspect="1"/>
          </p:cNvPicPr>
          <p:nvPr/>
        </p:nvPicPr>
        <p:blipFill>
          <a:blip r:embed="rId3"/>
          <a:stretch>
            <a:fillRect/>
          </a:stretch>
        </p:blipFill>
        <p:spPr>
          <a:xfrm>
            <a:off x="7000591" y="1725532"/>
            <a:ext cx="5168070" cy="3612129"/>
          </a:xfrm>
          <a:prstGeom prst="rect">
            <a:avLst/>
          </a:prstGeom>
        </p:spPr>
      </p:pic>
      <p:sp>
        <p:nvSpPr>
          <p:cNvPr id="21" name="Rectangle 20"/>
          <p:cNvSpPr/>
          <p:nvPr/>
        </p:nvSpPr>
        <p:spPr>
          <a:xfrm>
            <a:off x="548580" y="5527897"/>
            <a:ext cx="1990725"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5688681"/>
            <a:ext cx="2009775"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1.19 / 1.23°</a:t>
            </a:r>
          </a:p>
        </p:txBody>
      </p:sp>
      <p:sp>
        <p:nvSpPr>
          <p:cNvPr id="23" name="TextBox 22"/>
          <p:cNvSpPr txBox="1"/>
          <p:nvPr/>
        </p:nvSpPr>
        <p:spPr>
          <a:xfrm>
            <a:off x="548580" y="6079305"/>
            <a:ext cx="1969740" cy="40377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angle per plane, X / Y (σ</a:t>
            </a:r>
            <a:r>
              <a:rPr sz="800" b="0" i="0" baseline="-25000">
                <a:solidFill>
                  <a:srgbClr val="5D7176"/>
                </a:solidFill>
                <a:latin typeface="Noto Sans"/>
              </a:rPr>
              <a:t>68</a:t>
            </a:r>
            <a:r>
              <a:rPr sz="960" b="0" i="0">
                <a:solidFill>
                  <a:srgbClr val="5D7176"/>
                </a:solidFill>
                <a:latin typeface="Noto Sans"/>
              </a:rPr>
              <a:t>), bias &lt; 0.1°</a:t>
            </a:r>
          </a:p>
        </p:txBody>
      </p:sp>
      <p:sp>
        <p:nvSpPr>
          <p:cNvPr id="24" name="Rectangle 23"/>
          <p:cNvSpPr/>
          <p:nvPr/>
        </p:nvSpPr>
        <p:spPr>
          <a:xfrm>
            <a:off x="5131665" y="55278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131665" y="56886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dirty="0">
                <a:solidFill>
                  <a:srgbClr val="23373B"/>
                </a:solidFill>
                <a:latin typeface="Noto Sans Display"/>
              </a:rPr>
              <a:t>18</a:t>
            </a:r>
            <a:r>
              <a:rPr lang="en-US" sz="3120" b="1" i="0" spc="-31" dirty="0">
                <a:solidFill>
                  <a:srgbClr val="23373B"/>
                </a:solidFill>
                <a:latin typeface="Noto Sans Display"/>
              </a:rPr>
              <a:t>0</a:t>
            </a:r>
            <a:r>
              <a:rPr sz="3120" b="1" i="0" spc="-31" dirty="0">
                <a:solidFill>
                  <a:srgbClr val="23373B"/>
                </a:solidFill>
                <a:latin typeface="Noto Sans Display"/>
              </a:rPr>
              <a:t> </a:t>
            </a:r>
            <a:r>
              <a:rPr lang="en-US" sz="3120" b="1" i="0" spc="-31" dirty="0">
                <a:solidFill>
                  <a:srgbClr val="23373B"/>
                </a:solidFill>
                <a:latin typeface="Noto Sans Display"/>
              </a:rPr>
              <a:t>µ</a:t>
            </a:r>
            <a:r>
              <a:rPr sz="3120" b="1" i="0" spc="-31" dirty="0">
                <a:solidFill>
                  <a:srgbClr val="23373B"/>
                </a:solidFill>
                <a:latin typeface="Noto Sans Display"/>
              </a:rPr>
              <a:t>m</a:t>
            </a:r>
          </a:p>
        </p:txBody>
      </p:sp>
      <p:sp>
        <p:nvSpPr>
          <p:cNvPr id="26" name="TextBox 25"/>
          <p:cNvSpPr txBox="1"/>
          <p:nvPr/>
        </p:nvSpPr>
        <p:spPr>
          <a:xfrm>
            <a:off x="5131665" y="6079305"/>
            <a:ext cx="1969740" cy="410319"/>
          </a:xfrm>
          <a:prstGeom prst="rect">
            <a:avLst/>
          </a:prstGeom>
          <a:noFill/>
        </p:spPr>
        <p:txBody>
          <a:bodyPr wrap="square" lIns="0" tIns="0" rIns="0" bIns="0" anchor="t">
            <a:noAutofit/>
          </a:bodyPr>
          <a:lstStyle/>
          <a:p>
            <a:pPr algn="l">
              <a:lnSpc>
                <a:spcPts val="1344"/>
              </a:lnSpc>
              <a:spcBef>
                <a:spcPts val="0"/>
              </a:spcBef>
              <a:spcAft>
                <a:spcPts val="0"/>
              </a:spcAft>
            </a:pPr>
            <a:r>
              <a:rPr sz="960" b="0" i="0" dirty="0">
                <a:solidFill>
                  <a:srgbClr val="5D7176"/>
                </a:solidFill>
                <a:latin typeface="Noto Sans"/>
              </a:rPr>
              <a:t>position at normal incidence, </a:t>
            </a:r>
            <a:r>
              <a:rPr sz="960" b="1" i="0" dirty="0">
                <a:solidFill>
                  <a:srgbClr val="5D7176"/>
                </a:solidFill>
                <a:latin typeface="Noto Sans"/>
              </a:rPr>
              <a:t>±0.035 mm</a:t>
            </a:r>
            <a:r>
              <a:rPr sz="960" b="0" i="0" dirty="0">
                <a:solidFill>
                  <a:srgbClr val="5D7176"/>
                </a:solidFill>
                <a:latin typeface="Noto Sans"/>
              </a:rPr>
              <a:t> conservatively</a:t>
            </a:r>
            <a:endParaRPr sz="800" b="0" i="0" baseline="30000" dirty="0">
              <a:solidFill>
                <a:srgbClr val="5D7176"/>
              </a:solidFill>
              <a:latin typeface="Noto Sans"/>
            </a:endParaRPr>
          </a:p>
        </p:txBody>
      </p:sp>
      <p:sp>
        <p:nvSpPr>
          <p:cNvPr id="27" name="Rectangle 26"/>
          <p:cNvSpPr/>
          <p:nvPr/>
        </p:nvSpPr>
        <p:spPr>
          <a:xfrm>
            <a:off x="9714750" y="54897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714750" y="56505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33 ns</a:t>
            </a:r>
          </a:p>
        </p:txBody>
      </p:sp>
      <p:sp>
        <p:nvSpPr>
          <p:cNvPr id="29" name="TextBox 28"/>
          <p:cNvSpPr txBox="1"/>
          <p:nvPr/>
        </p:nvSpPr>
        <p:spPr>
          <a:xfrm>
            <a:off x="9714750" y="6041205"/>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plane-to-plane timing, ≈ 1.1 mm of drift</a:t>
            </a:r>
          </a:p>
        </p:txBody>
      </p:sp>
      <p:sp>
        <p:nvSpPr>
          <p:cNvPr id="31" name="TextBox 3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32" name="TextBox 31"/>
          <p:cNvSpPr txBox="1"/>
          <p:nvPr/>
        </p:nvSpPr>
        <p:spPr>
          <a:xfrm>
            <a:off x="11373522" y="6629400"/>
            <a:ext cx="285078"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7 / 25</a:t>
            </a:r>
            <a:endParaRPr sz="719" b="0" i="0" spc="58">
              <a:solidFill>
                <a:srgbClr val="5D7176"/>
              </a:solidFill>
              <a:latin typeface="Noto Sans"/>
            </a:endParaRPr>
          </a:p>
        </p:txBody>
      </p:sp>
      <p:sp>
        <p:nvSpPr>
          <p:cNvPr id="35" name="Rectangle 34">
            <a:extLst>
              <a:ext uri="{FF2B5EF4-FFF2-40B4-BE49-F238E27FC236}">
                <a16:creationId xmlns:a16="http://schemas.microsoft.com/office/drawing/2014/main" id="{C7FE2CCD-8B18-4471-AB0A-A76FEB7E41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96856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FFDB-9769-418C-FABC-CDBC45E3DB2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C29035-19A5-289A-8B91-BC083A744F7E}"/>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E7F5F0B2-7BB3-2372-A661-C0E8218CEC16}"/>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7EAB18C2-44EE-B791-2562-433F31BBB09D}"/>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a:t>
            </a:r>
            <a:r>
              <a:rPr lang="en-US" sz="4320" b="1" spc="86" dirty="0">
                <a:solidFill>
                  <a:srgbClr val="23373B"/>
                </a:solidFill>
                <a:latin typeface="Noto Sans Display"/>
              </a:rPr>
              <a:t>EAR2</a:t>
            </a:r>
            <a:r>
              <a:rPr sz="4320" b="1" i="0" spc="86" dirty="0">
                <a:solidFill>
                  <a:srgbClr val="23373B"/>
                </a:solidFill>
                <a:latin typeface="Noto Sans Display"/>
              </a:rPr>
              <a:t> </a:t>
            </a:r>
            <a:r>
              <a:rPr lang="en-US" sz="4320" b="1" i="0" spc="86" dirty="0">
                <a:solidFill>
                  <a:srgbClr val="23373B"/>
                </a:solidFill>
                <a:latin typeface="Noto Sans Display"/>
              </a:rPr>
              <a:t>Setup</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E2BECA2C-180A-86AA-5439-8F3F4E2DA029}"/>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dirty="0">
                <a:solidFill>
                  <a:srgbClr val="5D7176"/>
                </a:solidFill>
                <a:latin typeface="Noto Sans"/>
              </a:rPr>
              <a:t>An apparatus capable of detecting X17</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D0046E29-C2BC-C2F0-3CB6-7B45F39DA5B8}"/>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2F50CA8C-EFC9-0433-7977-E69E0E12C67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84380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he He-3 capsule cut open along the beam axis and labelled, in the EAR2 neutron beam"/>
          <p:cNvPicPr>
            <a:picLocks noChangeAspect="1"/>
          </p:cNvPicPr>
          <p:nvPr/>
        </p:nvPicPr>
        <p:blipFill>
          <a:blip r:embed="rId2"/>
          <a:stretch>
            <a:fillRect/>
          </a:stretch>
        </p:blipFill>
        <p:spPr>
          <a:xfrm>
            <a:off x="546100" y="495300"/>
            <a:ext cx="4965700" cy="6565900"/>
          </a:xfrm>
          <a:prstGeom prst="rect">
            <a:avLst/>
          </a:prstGeom>
        </p:spPr>
      </p:pic>
      <p:pic>
        <p:nvPicPr>
          <p:cNvPr id="11" name="Picture 10" descr="svg2.png"/>
          <p:cNvPicPr>
            <a:picLocks noChangeAspect="1"/>
          </p:cNvPicPr>
          <p:nvPr/>
        </p:nvPicPr>
        <p:blipFill>
          <a:blip r:embed="rId3"/>
          <a:stretch>
            <a:fillRect/>
          </a:stretch>
        </p:blipFill>
        <p:spPr>
          <a:xfrm>
            <a:off x="5031219" y="1134467"/>
            <a:ext cx="7050071" cy="2159000"/>
          </a:xfrm>
          <a:prstGeom prst="rect">
            <a:avLst/>
          </a:prstGeom>
        </p:spPr>
      </p:pic>
      <p:sp>
        <p:nvSpPr>
          <p:cNvPr id="2" name="Rectangle 1">
            <a:extLst>
              <a:ext uri="{FF2B5EF4-FFF2-40B4-BE49-F238E27FC236}">
                <a16:creationId xmlns:a16="http://schemas.microsoft.com/office/drawing/2014/main" id="{FF93753B-9848-CD19-AE5F-F67CA4F5E0E2}"/>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The vessel, as built: 500 bar of ³He in the beam</a:t>
            </a:r>
            <a:endParaRPr sz="2783" b="1" i="0" spc="-28" dirty="0">
              <a:solidFill>
                <a:srgbClr val="23373B"/>
              </a:solidFill>
              <a:latin typeface="Noto Sans Display"/>
            </a:endParaRP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1" i="0" dirty="0">
                <a:solidFill>
                  <a:srgbClr val="23373B"/>
                </a:solidFill>
                <a:latin typeface="Noto Sans"/>
              </a:rPr>
              <a:t>500 bar of ³He</a:t>
            </a:r>
            <a:r>
              <a:rPr sz="1600" b="0" i="0" dirty="0">
                <a:solidFill>
                  <a:srgbClr val="23373B"/>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Ø20 mm bore, 40 mm of gas, domed both ends — </a:t>
            </a:r>
            <a:br>
              <a:rPr lang="en-US" sz="1600" b="0" i="0" dirty="0">
                <a:solidFill>
                  <a:srgbClr val="23373B"/>
                </a:solidFill>
                <a:latin typeface="Noto Sans"/>
              </a:rPr>
            </a:br>
            <a:r>
              <a:rPr lang="en-US" sz="1600" b="1" i="0" dirty="0">
                <a:solidFill>
                  <a:srgbClr val="23373B"/>
                </a:solidFill>
                <a:latin typeface="Noto Sans"/>
              </a:rPr>
              <a:t>walls of</a:t>
            </a:r>
            <a:r>
              <a:rPr sz="1600" b="0" i="0" dirty="0">
                <a:solidFill>
                  <a:srgbClr val="23373B"/>
                </a:solidFill>
                <a:latin typeface="Noto Sans"/>
              </a:rPr>
              <a:t> </a:t>
            </a:r>
            <a:r>
              <a:rPr sz="1600" b="1" i="0" dirty="0">
                <a:solidFill>
                  <a:srgbClr val="23373B"/>
                </a:solidFill>
                <a:latin typeface="Noto Sans"/>
              </a:rPr>
              <a:t>0.6 mm Al + 0.9 mm CFRP</a:t>
            </a:r>
            <a:r>
              <a:rPr sz="1600" b="0" i="0" dirty="0">
                <a:solidFill>
                  <a:srgbClr val="23373B"/>
                </a:solidFill>
                <a:latin typeface="Noto Sans"/>
              </a:rPr>
              <a: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8.1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DCEC7CD-C682-4C61-89F7-7DEACF7DDF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F3298649-61EB-4B31-3ED7-14FEAA3782A0}"/>
              </a:ext>
            </a:extLst>
          </p:cNvPr>
          <p:cNvSpPr/>
          <p:nvPr/>
        </p:nvSpPr>
        <p:spPr>
          <a:xfrm>
            <a:off x="635000" y="2451100"/>
            <a:ext cx="1651000" cy="35560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62B39E4-6BF1-33CA-20EB-F6C529042BBD}"/>
              </a:ext>
            </a:extLst>
          </p:cNvPr>
          <p:cNvSpPr/>
          <p:nvPr/>
        </p:nvSpPr>
        <p:spPr>
          <a:xfrm>
            <a:off x="1050280" y="5410200"/>
            <a:ext cx="1418600" cy="35179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B7D953-9EFF-A4CA-0B8D-140633E274B6}"/>
              </a:ext>
            </a:extLst>
          </p:cNvPr>
          <p:cNvSpPr/>
          <p:nvPr/>
        </p:nvSpPr>
        <p:spPr>
          <a:xfrm>
            <a:off x="3931920" y="4820006"/>
            <a:ext cx="1418600" cy="425450"/>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F86C38F-3696-BE33-982A-AB62E2D7DABC}"/>
              </a:ext>
            </a:extLst>
          </p:cNvPr>
          <p:cNvSpPr/>
          <p:nvPr/>
        </p:nvSpPr>
        <p:spPr>
          <a:xfrm>
            <a:off x="3808438" y="2651659"/>
            <a:ext cx="1306334" cy="446951"/>
          </a:xfrm>
          <a:prstGeom prst="rect">
            <a:avLst/>
          </a:prstGeom>
          <a:solidFill>
            <a:srgbClr val="FFFFFF"/>
          </a:solidFill>
          <a:ln w="9525"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0" name="Leader 201"/>
          <p:cNvCxnSpPr/>
          <p:nvPr/>
        </p:nvCxnSpPr>
        <p:spPr>
          <a:xfrm>
            <a:off x="1612900" y="2774950"/>
            <a:ext cx="1231900" cy="1123950"/>
          </a:xfrm>
          <a:prstGeom prst="line">
            <a:avLst/>
          </a:prstGeom>
          <a:ln w="38100" cap="rnd">
            <a:solidFill>
              <a:srgbClr val="5C6E72"/>
            </a:solidFill>
          </a:ln>
        </p:spPr>
      </p:cxnSp>
      <p:cxnSp>
        <p:nvCxnSpPr>
          <p:cNvPr id="201" name="Leader 202"/>
          <p:cNvCxnSpPr>
            <a:cxnSpLocks/>
          </p:cNvCxnSpPr>
          <p:nvPr/>
        </p:nvCxnSpPr>
        <p:spPr>
          <a:xfrm flipH="1">
            <a:off x="3568700" y="3048000"/>
            <a:ext cx="533875" cy="457200"/>
          </a:xfrm>
          <a:prstGeom prst="line">
            <a:avLst/>
          </a:prstGeom>
          <a:ln w="38100" cap="rnd">
            <a:solidFill>
              <a:srgbClr val="5C6E72"/>
            </a:solidFill>
          </a:ln>
        </p:spPr>
      </p:cxnSp>
      <p:cxnSp>
        <p:nvCxnSpPr>
          <p:cNvPr id="202" name="Leader 203"/>
          <p:cNvCxnSpPr>
            <a:cxnSpLocks/>
          </p:cNvCxnSpPr>
          <p:nvPr/>
        </p:nvCxnSpPr>
        <p:spPr>
          <a:xfrm>
            <a:off x="3517900" y="4425950"/>
            <a:ext cx="739140" cy="425450"/>
          </a:xfrm>
          <a:prstGeom prst="line">
            <a:avLst/>
          </a:prstGeom>
          <a:ln w="38100" cap="rnd">
            <a:solidFill>
              <a:srgbClr val="5C6E72"/>
            </a:solidFill>
          </a:ln>
        </p:spPr>
      </p:cxnSp>
      <p:cxnSp>
        <p:nvCxnSpPr>
          <p:cNvPr id="203" name="Leader 204"/>
          <p:cNvCxnSpPr>
            <a:cxnSpLocks/>
          </p:cNvCxnSpPr>
          <p:nvPr/>
        </p:nvCxnSpPr>
        <p:spPr>
          <a:xfrm flipV="1">
            <a:off x="2016125" y="5041900"/>
            <a:ext cx="993775" cy="459740"/>
          </a:xfrm>
          <a:prstGeom prst="line">
            <a:avLst/>
          </a:prstGeom>
          <a:ln w="38100" cap="rnd">
            <a:solidFill>
              <a:srgbClr val="5C6E72"/>
            </a:solidFill>
          </a:ln>
        </p:spPr>
      </p:cxnSp>
      <p:sp>
        <p:nvSpPr>
          <p:cNvPr id="204" name="Label 205"/>
          <p:cNvSpPr txBox="1"/>
          <p:nvPr/>
        </p:nvSpPr>
        <p:spPr>
          <a:xfrm>
            <a:off x="330200" y="2082800"/>
            <a:ext cx="1930400" cy="7112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500 bar ³He</a:t>
            </a:r>
          </a:p>
          <a:p>
            <a:pPr algn="r">
              <a:spcBef>
                <a:spcPts val="0"/>
              </a:spcBef>
              <a:spcAft>
                <a:spcPts val="0"/>
              </a:spcAft>
              <a:buNone/>
            </a:pPr>
            <a:r>
              <a:rPr lang="en-US" sz="1400" b="0" i="0" dirty="0">
                <a:solidFill>
                  <a:srgbClr val="23373B"/>
                </a:solidFill>
                <a:latin typeface="Noto Sans"/>
              </a:rPr>
              <a:t>Ø20 mm bore,</a:t>
            </a:r>
          </a:p>
          <a:p>
            <a:pPr algn="r">
              <a:spcBef>
                <a:spcPts val="0"/>
              </a:spcBef>
              <a:spcAft>
                <a:spcPts val="0"/>
              </a:spcAft>
              <a:buNone/>
            </a:pPr>
            <a:r>
              <a:rPr lang="en-US" sz="1400" b="0" i="0" dirty="0">
                <a:solidFill>
                  <a:srgbClr val="23373B"/>
                </a:solidFill>
                <a:latin typeface="Noto Sans"/>
              </a:rPr>
              <a:t>40 mm long</a:t>
            </a:r>
          </a:p>
        </p:txBody>
      </p:sp>
      <p:sp>
        <p:nvSpPr>
          <p:cNvPr id="205" name="Label 206"/>
          <p:cNvSpPr txBox="1"/>
          <p:nvPr/>
        </p:nvSpPr>
        <p:spPr>
          <a:xfrm>
            <a:off x="4140200" y="2540000"/>
            <a:ext cx="12192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0.6 mm Al</a:t>
            </a:r>
          </a:p>
          <a:p>
            <a:pPr algn="l">
              <a:spcBef>
                <a:spcPts val="0"/>
              </a:spcBef>
              <a:spcAft>
                <a:spcPts val="0"/>
              </a:spcAft>
              <a:buNone/>
            </a:pPr>
            <a:r>
              <a:rPr lang="en-US" sz="1400" b="0" i="0" dirty="0">
                <a:solidFill>
                  <a:srgbClr val="23373B"/>
                </a:solidFill>
                <a:latin typeface="Noto Sans"/>
              </a:rPr>
              <a:t>vessel</a:t>
            </a:r>
          </a:p>
        </p:txBody>
      </p:sp>
      <p:sp>
        <p:nvSpPr>
          <p:cNvPr id="206" name="Label 207"/>
          <p:cNvSpPr txBox="1"/>
          <p:nvPr/>
        </p:nvSpPr>
        <p:spPr>
          <a:xfrm>
            <a:off x="4140200" y="4851400"/>
            <a:ext cx="1625600" cy="508000"/>
          </a:xfrm>
          <a:prstGeom prst="rect">
            <a:avLst/>
          </a:prstGeom>
          <a:noFill/>
        </p:spPr>
        <p:txBody>
          <a:bodyPr wrap="square" lIns="0" tIns="0" rIns="0" bIns="0" anchor="ctr">
            <a:noAutofit/>
          </a:bodyPr>
          <a:lstStyle/>
          <a:p>
            <a:pPr algn="l">
              <a:spcBef>
                <a:spcPts val="0"/>
              </a:spcBef>
              <a:spcAft>
                <a:spcPts val="0"/>
              </a:spcAft>
              <a:buNone/>
            </a:pPr>
            <a:r>
              <a:rPr lang="en-US" sz="1400" b="0" i="0" dirty="0">
                <a:solidFill>
                  <a:srgbClr val="23373B"/>
                </a:solidFill>
                <a:latin typeface="Noto Sans"/>
              </a:rPr>
              <a:t>0.9 mm CFRP</a:t>
            </a:r>
          </a:p>
          <a:p>
            <a:pPr algn="l">
              <a:spcBef>
                <a:spcPts val="0"/>
              </a:spcBef>
              <a:spcAft>
                <a:spcPts val="0"/>
              </a:spcAft>
              <a:buNone/>
            </a:pPr>
            <a:r>
              <a:rPr lang="en-US" sz="1400" b="0" i="0" dirty="0">
                <a:solidFill>
                  <a:srgbClr val="23373B"/>
                </a:solidFill>
                <a:latin typeface="Noto Sans"/>
              </a:rPr>
              <a:t>overwrap</a:t>
            </a:r>
          </a:p>
        </p:txBody>
      </p:sp>
      <p:sp>
        <p:nvSpPr>
          <p:cNvPr id="207" name="Label 208"/>
          <p:cNvSpPr txBox="1"/>
          <p:nvPr/>
        </p:nvSpPr>
        <p:spPr>
          <a:xfrm>
            <a:off x="370840" y="5501640"/>
            <a:ext cx="1752600" cy="508000"/>
          </a:xfrm>
          <a:prstGeom prst="rect">
            <a:avLst/>
          </a:prstGeom>
          <a:noFill/>
        </p:spPr>
        <p:txBody>
          <a:bodyPr wrap="square" lIns="0" tIns="0" rIns="0" bIns="0" anchor="ctr">
            <a:noAutofit/>
          </a:bodyPr>
          <a:lstStyle/>
          <a:p>
            <a:pPr algn="r">
              <a:spcBef>
                <a:spcPts val="0"/>
              </a:spcBef>
              <a:spcAft>
                <a:spcPts val="0"/>
              </a:spcAft>
              <a:buNone/>
            </a:pPr>
            <a:r>
              <a:rPr lang="en-US" sz="1400" b="0" i="0" dirty="0">
                <a:solidFill>
                  <a:srgbClr val="23373B"/>
                </a:solidFill>
                <a:latin typeface="Noto Sans"/>
              </a:rPr>
              <a:t>EAR2 neutron beam,</a:t>
            </a:r>
          </a:p>
          <a:p>
            <a:pPr algn="r">
              <a:spcBef>
                <a:spcPts val="0"/>
              </a:spcBef>
              <a:spcAft>
                <a:spcPts val="0"/>
              </a:spcAft>
              <a:buNone/>
            </a:pPr>
            <a:r>
              <a:rPr lang="en-US" sz="1400" b="0" i="0" dirty="0">
                <a:solidFill>
                  <a:srgbClr val="23373B"/>
                </a:solidFill>
                <a:latin typeface="Noto Sans"/>
              </a:rPr>
              <a:t>from below</a:t>
            </a:r>
          </a:p>
        </p:txBody>
      </p:sp>
    </p:spTree>
    <p:extLst>
      <p:ext uri="{BB962C8B-B14F-4D97-AF65-F5344CB8AC3E}">
        <p14:creationId xmlns:p14="http://schemas.microsoft.com/office/powerpoint/2010/main" val="37511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svg2.png">
            <a:extLst>
              <a:ext uri="{FF2B5EF4-FFF2-40B4-BE49-F238E27FC236}">
                <a16:creationId xmlns:a16="http://schemas.microsoft.com/office/drawing/2014/main" id="{37A06ACF-78B1-6164-06A9-0EF9BBB1AD8F}"/>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 simulated 222 eV EAR2 neutron travelling up the beam line into the He-3 gas"/>
          <p:cNvPicPr>
            <a:picLocks noChangeAspect="1"/>
          </p:cNvPicPr>
          <p:nvPr/>
        </p:nvPicPr>
        <p:blipFill>
          <a:blip r:embed="rId3"/>
          <a:stretch>
            <a:fillRect/>
          </a:stretch>
        </p:blipFill>
        <p:spPr>
          <a:xfrm>
            <a:off x="548583" y="500955"/>
            <a:ext cx="4968920" cy="6562725"/>
          </a:xfrm>
          <a:prstGeom prst="rect">
            <a:avLst/>
          </a:prstGeom>
        </p:spPr>
      </p:pic>
      <p:sp>
        <p:nvSpPr>
          <p:cNvPr id="14" name="Rectangle 13">
            <a:extLst>
              <a:ext uri="{FF2B5EF4-FFF2-40B4-BE49-F238E27FC236}">
                <a16:creationId xmlns:a16="http://schemas.microsoft.com/office/drawing/2014/main" id="{33AC067F-32F2-1DA6-5FA6-1B5FC9AE8EBB}"/>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 neutron arrives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23373B"/>
                </a:solidFill>
                <a:latin typeface="Noto Sans"/>
              </a:rPr>
              <a:t>The </a:t>
            </a:r>
            <a:r>
              <a:rPr sz="1600" b="1" i="0" dirty="0">
                <a:solidFill>
                  <a:srgbClr val="23373B"/>
                </a:solidFill>
                <a:latin typeface="Noto Sans"/>
              </a:rPr>
              <a:t>neutron beam arrives from below</a:t>
            </a:r>
            <a:r>
              <a:rPr sz="1600" b="0" i="0" dirty="0">
                <a:solidFill>
                  <a:srgbClr val="23373B"/>
                </a:solidFill>
                <a:latin typeface="Noto Sans"/>
              </a:rPr>
              <a:t> and interacts in the ³He gas volume. </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8.2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E0812814-096F-4E32-ABC3-B68D9B2070C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917341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svg2.png">
            <a:extLst>
              <a:ext uri="{FF2B5EF4-FFF2-40B4-BE49-F238E27FC236}">
                <a16:creationId xmlns:a16="http://schemas.microsoft.com/office/drawing/2014/main" id="{ABE40E30-488A-BE7E-6F36-9445955F2DFD}"/>
              </a:ext>
            </a:extLst>
          </p:cNvPr>
          <p:cNvPicPr>
            <a:picLocks noChangeAspect="1"/>
          </p:cNvPicPr>
          <p:nvPr/>
        </p:nvPicPr>
        <p:blipFill>
          <a:blip r:embed="rId2"/>
          <a:stretch>
            <a:fillRect/>
          </a:stretch>
        </p:blipFill>
        <p:spPr>
          <a:xfrm>
            <a:off x="5031219" y="1134467"/>
            <a:ext cx="7050071" cy="2159000"/>
          </a:xfrm>
          <a:prstGeom prst="rect">
            <a:avLst/>
          </a:prstGeom>
        </p:spPr>
      </p:pic>
      <p:pic>
        <p:nvPicPr>
          <p:cNvPr id="7" name="Picture 6" descr="An e+e- pair leaving the He-3 gas from the capture vertex"/>
          <p:cNvPicPr>
            <a:picLocks noChangeAspect="1"/>
          </p:cNvPicPr>
          <p:nvPr/>
        </p:nvPicPr>
        <p:blipFill>
          <a:blip r:embed="rId3"/>
          <a:stretch>
            <a:fillRect/>
          </a:stretch>
        </p:blipFill>
        <p:spPr>
          <a:xfrm>
            <a:off x="548583" y="500955"/>
            <a:ext cx="4968920" cy="6562725"/>
          </a:xfrm>
          <a:prstGeom prst="rect">
            <a:avLst/>
          </a:prstGeom>
        </p:spPr>
      </p:pic>
      <p:sp>
        <p:nvSpPr>
          <p:cNvPr id="23" name="Rectangle 22">
            <a:extLst>
              <a:ext uri="{FF2B5EF4-FFF2-40B4-BE49-F238E27FC236}">
                <a16:creationId xmlns:a16="http://schemas.microsoft.com/office/drawing/2014/main" id="{6BA3BECD-BCA2-11AC-FA76-73B4FC9D1F70}"/>
              </a:ext>
            </a:extLst>
          </p:cNvPr>
          <p:cNvSpPr/>
          <p:nvPr/>
        </p:nvSpPr>
        <p:spPr>
          <a:xfrm>
            <a:off x="2164080" y="324040"/>
            <a:ext cx="1767840" cy="78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…and a pair leaves</a:t>
            </a:r>
          </a:p>
        </p:txBody>
      </p:sp>
      <p:sp>
        <p:nvSpPr>
          <p:cNvPr id="8" name="TextBox 7"/>
          <p:cNvSpPr txBox="1"/>
          <p:nvPr/>
        </p:nvSpPr>
        <p:spPr>
          <a:xfrm>
            <a:off x="5816600" y="37944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5D7176"/>
                </a:solidFill>
                <a:latin typeface="Noto Sans SemiBold"/>
              </a:rPr>
              <a:t>500 bar of ³He</a:t>
            </a:r>
            <a:r>
              <a:rPr sz="1600" b="0" i="0">
                <a:solidFill>
                  <a:srgbClr val="5D7176"/>
                </a:solidFill>
                <a:latin typeface="Noto Sans"/>
              </a:rPr>
              <a:t> in as thin a capsule as we can build — least scattering on the way out, most interaction on the way in.</a:t>
            </a:r>
          </a:p>
        </p:txBody>
      </p:sp>
      <p:sp>
        <p:nvSpPr>
          <p:cNvPr id="9" name="TextBox 8"/>
          <p:cNvSpPr txBox="1"/>
          <p:nvPr/>
        </p:nvSpPr>
        <p:spPr>
          <a:xfrm>
            <a:off x="5816600" y="4480240"/>
            <a:ext cx="6139426"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dirty="0">
                <a:solidFill>
                  <a:srgbClr val="5D7176"/>
                </a:solidFill>
                <a:latin typeface="Noto Sans"/>
              </a:rPr>
              <a:t>The </a:t>
            </a:r>
            <a:r>
              <a:rPr sz="1600" b="0" i="0" dirty="0">
                <a:solidFill>
                  <a:srgbClr val="5D7176"/>
                </a:solidFill>
                <a:latin typeface="Noto Sans SemiBold"/>
              </a:rPr>
              <a:t>neutron beam arrives from below</a:t>
            </a:r>
            <a:r>
              <a:rPr sz="1600" b="0" i="0" dirty="0">
                <a:solidFill>
                  <a:srgbClr val="5D7176"/>
                </a:solidFill>
                <a:latin typeface="Noto Sans"/>
              </a:rPr>
              <a:t> and interacts in the ³He gas volume. </a:t>
            </a:r>
          </a:p>
        </p:txBody>
      </p:sp>
      <p:sp>
        <p:nvSpPr>
          <p:cNvPr id="10" name="TextBox 9"/>
          <p:cNvSpPr txBox="1"/>
          <p:nvPr/>
        </p:nvSpPr>
        <p:spPr>
          <a:xfrm>
            <a:off x="5816600" y="5166040"/>
            <a:ext cx="6261100" cy="635000"/>
          </a:xfrm>
          <a:prstGeom prst="rect">
            <a:avLst/>
          </a:prstGeom>
          <a:noFill/>
        </p:spPr>
        <p:txBody>
          <a:bodyPr wrap="square" lIns="0" tIns="0" rIns="0" bIns="0" anchor="t">
            <a:noAutofit/>
          </a:bodyPr>
          <a:lstStyle/>
          <a:p>
            <a:pPr marL="180975" indent="-180975" algn="l">
              <a:lnSpc>
                <a:spcPts val="2400"/>
              </a:lnSpc>
              <a:spcBef>
                <a:spcPts val="0"/>
              </a:spcBef>
              <a:spcAft>
                <a:spcPts val="0"/>
              </a:spcAft>
              <a:buClr>
                <a:srgbClr val="EB811B"/>
              </a:buClr>
              <a:buChar char="▸"/>
            </a:pPr>
            <a:r>
              <a:rPr sz="1600" b="0" i="0">
                <a:solidFill>
                  <a:srgbClr val="23373B"/>
                </a:solidFill>
                <a:latin typeface="Noto Sans"/>
              </a:rPr>
              <a:t>Some probability of </a:t>
            </a:r>
            <a:r>
              <a:rPr sz="1600" b="1" i="0">
                <a:solidFill>
                  <a:srgbClr val="23373B"/>
                </a:solidFill>
                <a:latin typeface="Noto Sans"/>
              </a:rPr>
              <a:t>internal pair conversion</a:t>
            </a:r>
            <a:r>
              <a:rPr sz="1600" b="0" i="0">
                <a:solidFill>
                  <a:srgbClr val="23373B"/>
                </a:solidFill>
                <a:latin typeface="Noto Sans"/>
              </a:rPr>
              <a:t> — or of </a:t>
            </a:r>
            <a:r>
              <a:rPr sz="1600" b="1" i="0">
                <a:solidFill>
                  <a:srgbClr val="23373B"/>
                </a:solidFill>
                <a:latin typeface="Noto Sans"/>
              </a:rPr>
              <a:t>X17 → e⁺e⁻</a:t>
            </a:r>
            <a:r>
              <a:rPr sz="1600" b="0" i="0">
                <a:solidFill>
                  <a:srgbClr val="23373B"/>
                </a:solidFill>
                <a:latin typeface="Noto Sans"/>
              </a:rPr>
              <a:t> — leaving the capsule, with some scattering in its wall.</a:t>
            </a:r>
          </a:p>
        </p:txBody>
      </p:sp>
      <p:sp>
        <p:nvSpPr>
          <p:cNvPr id="11" name="Rectangle 10"/>
          <p:cNvSpPr/>
          <p:nvPr/>
        </p:nvSpPr>
        <p:spPr>
          <a:xfrm>
            <a:off x="5816600" y="5978840"/>
            <a:ext cx="190500" cy="38100"/>
          </a:xfrm>
          <a:prstGeom prst="rect">
            <a:avLst/>
          </a:prstGeom>
          <a:solidFill>
            <a:srgbClr val="A02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0706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3" name="Rectangle 12"/>
          <p:cNvSpPr/>
          <p:nvPr/>
        </p:nvSpPr>
        <p:spPr>
          <a:xfrm>
            <a:off x="6375400" y="5978840"/>
            <a:ext cx="190500" cy="38100"/>
          </a:xfrm>
          <a:prstGeom prst="rect">
            <a:avLst/>
          </a:prstGeom>
          <a:solidFill>
            <a:srgbClr val="D64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629400" y="5877240"/>
            <a:ext cx="2286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e⁺</a:t>
            </a:r>
          </a:p>
        </p:txBody>
      </p:sp>
      <p:sp>
        <p:nvSpPr>
          <p:cNvPr id="15" name="Rectangle 14"/>
          <p:cNvSpPr/>
          <p:nvPr/>
        </p:nvSpPr>
        <p:spPr>
          <a:xfrm>
            <a:off x="6934200" y="5978840"/>
            <a:ext cx="190500" cy="38100"/>
          </a:xfrm>
          <a:prstGeom prst="rect">
            <a:avLst/>
          </a:prstGeom>
          <a:solidFill>
            <a:srgbClr val="8B96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188200" y="5877240"/>
            <a:ext cx="6604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neutron</a:t>
            </a:r>
          </a:p>
        </p:txBody>
      </p:sp>
      <p:sp>
        <p:nvSpPr>
          <p:cNvPr id="17" name="Rectangle 16"/>
          <p:cNvSpPr/>
          <p:nvPr/>
        </p:nvSpPr>
        <p:spPr>
          <a:xfrm>
            <a:off x="7924800" y="5978840"/>
            <a:ext cx="190500" cy="38100"/>
          </a:xfrm>
          <a:prstGeom prst="rect">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78800" y="5877240"/>
            <a:ext cx="508000" cy="228600"/>
          </a:xfrm>
          <a:prstGeom prst="rect">
            <a:avLst/>
          </a:prstGeom>
          <a:noFill/>
        </p:spPr>
        <p:txBody>
          <a:bodyPr wrap="square" lIns="0" tIns="0" rIns="0" bIns="0" anchor="t">
            <a:noAutofit/>
          </a:bodyPr>
          <a:lstStyle/>
          <a:p>
            <a:pPr algn="l">
              <a:spcBef>
                <a:spcPts val="0"/>
              </a:spcBef>
              <a:spcAft>
                <a:spcPts val="0"/>
              </a:spcAft>
            </a:pPr>
            <a:r>
              <a:rPr sz="1200" b="0" i="0">
                <a:solidFill>
                  <a:srgbClr val="5D7176"/>
                </a:solidFill>
                <a:latin typeface="Noto Sans"/>
              </a:rPr>
              <a:t>beam</a:t>
            </a:r>
          </a:p>
        </p:txBody>
      </p:sp>
      <p:sp>
        <p:nvSpPr>
          <p:cNvPr id="21" name="TextBox 2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2" name="TextBox 21"/>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8.3 / 25</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D2421C91-3BED-4220-86D3-E33D53B87EF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7901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Now build something that can catch them</a:t>
            </a:r>
          </a:p>
        </p:txBody>
      </p:sp>
      <p:pic>
        <p:nvPicPr>
          <p:cNvPr id="7" name="Picture 6" descr="The four Micromegas chambers closing in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Reduce </a:t>
            </a:r>
            <a:r>
              <a:rPr lang="en-US" sz="1500" b="1" i="0" dirty="0">
                <a:solidFill>
                  <a:srgbClr val="23373B"/>
                </a:solidFill>
                <a:latin typeface="Noto Sans"/>
              </a:rPr>
              <a:t>material budget</a:t>
            </a:r>
            <a:r>
              <a:rPr lang="en-US" sz="1500" b="0" i="0" dirty="0">
                <a:solidFill>
                  <a:srgbClr val="23373B"/>
                </a:solidFill>
                <a:latin typeface="Noto Sans"/>
              </a:rPr>
              <a:t> until the track angles have been recorded with four Micromegas TPCs</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8.4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A14F9817-5F43-467F-9B0E-C5644BEF94D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3971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four Micromegas TPCs</a:t>
            </a:r>
          </a:p>
        </p:txBody>
      </p:sp>
      <p:pic>
        <p:nvPicPr>
          <p:cNvPr id="7" name="Picture 6" descr="Four MX17 chambers in a pinwheel around the capsule, the pair crossing two of them"/>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Need an </a:t>
            </a:r>
            <a:r>
              <a:rPr lang="en-US" sz="1500" b="1" i="0" dirty="0">
                <a:solidFill>
                  <a:srgbClr val="23373B"/>
                </a:solidFill>
                <a:latin typeface="Noto Sans"/>
              </a:rPr>
              <a:t>external trigger</a:t>
            </a:r>
            <a:r>
              <a:rPr lang="en-US" sz="1500" b="0" i="0" dirty="0">
                <a:solidFill>
                  <a:srgbClr val="23373B"/>
                </a:solidFill>
                <a:latin typeface="Noto Sans"/>
              </a:rPr>
              <a:t> for these trackers</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8.5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15ACDCF0-75A8-4A54-A893-1F232643898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245498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SiPM trigger wall</a:t>
            </a:r>
          </a:p>
        </p:txBody>
      </p:sp>
      <p:pic>
        <p:nvPicPr>
          <p:cNvPr id="7" name="Picture 6" descr="The SiPM scintillator trigger walls added behind the chamber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Thin vertical scintillator bars readout by SiPMs: </a:t>
            </a:r>
            <a:r>
              <a:rPr lang="en-US" sz="1500" b="1" i="0" dirty="0">
                <a:solidFill>
                  <a:srgbClr val="23373B"/>
                </a:solidFill>
                <a:latin typeface="Noto Sans"/>
              </a:rPr>
              <a:t>register the hit</a:t>
            </a:r>
            <a:r>
              <a:rPr lang="en-US" sz="1500" b="0" i="0" dirty="0">
                <a:solidFill>
                  <a:srgbClr val="23373B"/>
                </a:solidFill>
                <a:latin typeface="Noto Sans"/>
              </a:rPr>
              <a:t> without stopping the electron or the positron. Precise timing.</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8.6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F8860EA9-02CD-4914-AD68-4065C9D1F4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79447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the plastic scintillators</a:t>
            </a:r>
          </a:p>
        </p:txBody>
      </p:sp>
      <p:pic>
        <p:nvPicPr>
          <p:cNvPr id="7" name="Picture 6" descr="The plastic scintillator bars added outside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2cm thick plastic scintillators </a:t>
            </a:r>
            <a:r>
              <a:rPr lang="en-US" sz="1500" b="1" i="0" dirty="0">
                <a:solidFill>
                  <a:srgbClr val="23373B"/>
                </a:solidFill>
                <a:latin typeface="Noto Sans"/>
              </a:rPr>
              <a:t>complete the coincidence</a:t>
            </a:r>
            <a:r>
              <a:rPr lang="en-US" sz="1500" b="0" i="0" dirty="0">
                <a:solidFill>
                  <a:srgbClr val="23373B"/>
                </a:solidFill>
                <a:latin typeface="Noto Sans"/>
              </a:rPr>
              <a:t> with the trigger wall.</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8.7 / 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A74AA7BA-E9F2-406D-8C27-1EF95624E3C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7874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event from above — where </a:t>
            </a:r>
            <a:r>
              <a:rPr lang="en-US" sz="2783" b="1" spc="-28" dirty="0">
                <a:solidFill>
                  <a:srgbClr val="23373B"/>
                </a:solidFill>
                <a:latin typeface="Noto Sans Display"/>
              </a:rPr>
              <a:t>the pair </a:t>
            </a:r>
            <a:r>
              <a:rPr lang="en-US" sz="2783" b="1" i="0" spc="-28" dirty="0">
                <a:solidFill>
                  <a:srgbClr val="23373B"/>
                </a:solidFill>
                <a:latin typeface="Noto Sans Display"/>
              </a:rPr>
              <a:t>goes</a:t>
            </a:r>
            <a:endParaRPr sz="2783" b="1" i="0" spc="-28" dirty="0">
              <a:solidFill>
                <a:srgbClr val="23373B"/>
              </a:solidFill>
              <a:latin typeface="Noto Sans Display"/>
            </a:endParaRPr>
          </a:p>
        </p:txBody>
      </p:sp>
      <p:pic>
        <p:nvPicPr>
          <p:cNvPr id="7" name="Picture 6" descr="The setup seen from above, so the pair's arrival in the plastic scintillators is not hidden behind the trigger wall"/>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Also provides stopping for </a:t>
            </a:r>
            <a:r>
              <a:rPr lang="en-US" sz="1500" b="1" i="0" dirty="0">
                <a:solidFill>
                  <a:srgbClr val="23373B"/>
                </a:solidFill>
                <a:latin typeface="Noto Sans"/>
              </a:rPr>
              <a:t>calorimetry</a:t>
            </a:r>
          </a:p>
        </p:txBody>
      </p:sp>
      <p:sp>
        <p:nvSpPr>
          <p:cNvPr id="18" name="TextBox 1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8.8 / 25</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AB38131D-B888-4565-AAFA-240EFB97B3D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51431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 liquid-scintillator calorimetry — the full setup</a:t>
            </a:r>
          </a:p>
        </p:txBody>
      </p:sp>
      <p:pic>
        <p:nvPicPr>
          <p:cNvPr id="7" name="Picture 6" descr="The complete n_TOF setup: capsule, four chambers, trigger walls, plastics and liquid scintillator vessels"/>
          <p:cNvPicPr>
            <a:picLocks noChangeAspect="1"/>
          </p:cNvPicPr>
          <p:nvPr/>
        </p:nvPicPr>
        <p:blipFill>
          <a:blip r:embed="rId2"/>
          <a:stretch>
            <a:fillRect/>
          </a:stretch>
        </p:blipFill>
        <p:spPr>
          <a:xfrm>
            <a:off x="1274287" y="1208732"/>
            <a:ext cx="5677899" cy="5299373"/>
          </a:xfrm>
          <a:prstGeom prst="rect">
            <a:avLst/>
          </a:prstGeom>
        </p:spPr>
      </p:pic>
      <p:sp>
        <p:nvSpPr>
          <p:cNvPr id="8" name="TextBox 7"/>
          <p:cNvSpPr txBox="1"/>
          <p:nvPr/>
        </p:nvSpPr>
        <p:spPr>
          <a:xfrm>
            <a:off x="7302500" y="12065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Reduce </a:t>
            </a:r>
            <a:r>
              <a:rPr lang="en-US" sz="1500" b="0" i="0" dirty="0">
                <a:solidFill>
                  <a:srgbClr val="5D7176"/>
                </a:solidFill>
                <a:latin typeface="Noto Sans SemiBold"/>
              </a:rPr>
              <a:t>material budget</a:t>
            </a:r>
            <a:r>
              <a:rPr lang="en-US" sz="1500" b="0" i="0" dirty="0">
                <a:solidFill>
                  <a:srgbClr val="5D7176"/>
                </a:solidFill>
                <a:latin typeface="Noto Sans"/>
              </a:rPr>
              <a:t> until the track angles have been recorded with four Micromegas TPCs</a:t>
            </a:r>
          </a:p>
        </p:txBody>
      </p:sp>
      <p:sp>
        <p:nvSpPr>
          <p:cNvPr id="9" name="TextBox 8"/>
          <p:cNvSpPr txBox="1"/>
          <p:nvPr/>
        </p:nvSpPr>
        <p:spPr>
          <a:xfrm>
            <a:off x="7302500" y="23114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Need an </a:t>
            </a:r>
            <a:r>
              <a:rPr lang="en-US" sz="1500" b="0" i="0" dirty="0">
                <a:solidFill>
                  <a:srgbClr val="5D7176"/>
                </a:solidFill>
                <a:latin typeface="Noto Sans SemiBold"/>
              </a:rPr>
              <a:t>external trigger</a:t>
            </a:r>
            <a:r>
              <a:rPr lang="en-US" sz="1500" b="0" i="0" dirty="0">
                <a:solidFill>
                  <a:srgbClr val="5D7176"/>
                </a:solidFill>
                <a:latin typeface="Noto Sans"/>
              </a:rPr>
              <a:t> for these trackers</a:t>
            </a:r>
          </a:p>
        </p:txBody>
      </p:sp>
      <p:sp>
        <p:nvSpPr>
          <p:cNvPr id="10" name="TextBox 9"/>
          <p:cNvSpPr txBox="1"/>
          <p:nvPr/>
        </p:nvSpPr>
        <p:spPr>
          <a:xfrm>
            <a:off x="7302500" y="2882900"/>
            <a:ext cx="4356100" cy="8509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Thin vertical scintillator bars readout by SiPMs: </a:t>
            </a:r>
            <a:r>
              <a:rPr lang="en-US" sz="1500" b="0" i="0" dirty="0">
                <a:solidFill>
                  <a:srgbClr val="5D7176"/>
                </a:solidFill>
                <a:latin typeface="Noto Sans SemiBold"/>
              </a:rPr>
              <a:t>register the hit</a:t>
            </a:r>
            <a:r>
              <a:rPr lang="en-US" sz="1500" b="0" i="0" dirty="0">
                <a:solidFill>
                  <a:srgbClr val="5D7176"/>
                </a:solidFill>
                <a:latin typeface="Noto Sans"/>
              </a:rPr>
              <a:t> without stopping the electron or the positron. Precise timing.</a:t>
            </a:r>
          </a:p>
        </p:txBody>
      </p:sp>
      <p:sp>
        <p:nvSpPr>
          <p:cNvPr id="11" name="TextBox 10"/>
          <p:cNvSpPr txBox="1"/>
          <p:nvPr/>
        </p:nvSpPr>
        <p:spPr>
          <a:xfrm>
            <a:off x="7302500" y="39878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2cm thick plastic scintillators </a:t>
            </a:r>
            <a:r>
              <a:rPr lang="en-US" sz="1500" b="0" i="0" dirty="0">
                <a:solidFill>
                  <a:srgbClr val="5D7176"/>
                </a:solidFill>
                <a:latin typeface="Noto Sans SemiBold"/>
              </a:rPr>
              <a:t>complete the coincidence</a:t>
            </a:r>
            <a:r>
              <a:rPr lang="en-US" sz="1500" b="0" i="0" dirty="0">
                <a:solidFill>
                  <a:srgbClr val="5D7176"/>
                </a:solidFill>
                <a:latin typeface="Noto Sans"/>
              </a:rPr>
              <a:t> with the trigger wall.</a:t>
            </a:r>
          </a:p>
        </p:txBody>
      </p:sp>
      <p:sp>
        <p:nvSpPr>
          <p:cNvPr id="12" name="TextBox 11"/>
          <p:cNvSpPr txBox="1"/>
          <p:nvPr/>
        </p:nvSpPr>
        <p:spPr>
          <a:xfrm>
            <a:off x="7302500" y="4826000"/>
            <a:ext cx="4356100" cy="3175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5D7176"/>
                </a:solidFill>
                <a:latin typeface="Noto Sans"/>
              </a:rPr>
              <a:t>Also provides stopping for </a:t>
            </a:r>
            <a:r>
              <a:rPr lang="en-US" sz="1500" b="0" i="0" dirty="0">
                <a:solidFill>
                  <a:srgbClr val="5D7176"/>
                </a:solidFill>
                <a:latin typeface="Noto Sans SemiBold"/>
              </a:rPr>
              <a:t>calorimetry</a:t>
            </a:r>
          </a:p>
        </p:txBody>
      </p:sp>
      <p:sp>
        <p:nvSpPr>
          <p:cNvPr id="13" name="TextBox 12"/>
          <p:cNvSpPr txBox="1"/>
          <p:nvPr/>
        </p:nvSpPr>
        <p:spPr>
          <a:xfrm>
            <a:off x="7302500" y="5397500"/>
            <a:ext cx="4356100" cy="584200"/>
          </a:xfrm>
          <a:prstGeom prst="rect">
            <a:avLst/>
          </a:prstGeom>
          <a:noFill/>
        </p:spPr>
        <p:txBody>
          <a:bodyPr wrap="square" lIns="0" tIns="0" rIns="0" bIns="0" anchor="t">
            <a:noAutofit/>
          </a:bodyPr>
          <a:lstStyle/>
          <a:p>
            <a:pPr marL="228600" indent="-228600" algn="l">
              <a:lnSpc>
                <a:spcPts val="2100"/>
              </a:lnSpc>
              <a:spcBef>
                <a:spcPts val="0"/>
              </a:spcBef>
              <a:spcAft>
                <a:spcPts val="0"/>
              </a:spcAft>
              <a:buClr>
                <a:srgbClr val="EB811B"/>
              </a:buClr>
              <a:buSzPct val="140000"/>
              <a:buChar char="▸"/>
            </a:pPr>
            <a:r>
              <a:rPr lang="en-US" sz="1500" b="0" i="0" dirty="0">
                <a:solidFill>
                  <a:srgbClr val="23373B"/>
                </a:solidFill>
                <a:latin typeface="Noto Sans"/>
              </a:rPr>
              <a:t>Add 2cm of </a:t>
            </a:r>
            <a:r>
              <a:rPr lang="en-US" sz="1500" b="1" i="0" dirty="0">
                <a:solidFill>
                  <a:srgbClr val="23373B"/>
                </a:solidFill>
                <a:latin typeface="Noto Sans"/>
              </a:rPr>
              <a:t>liquid scintillator</a:t>
            </a:r>
            <a:r>
              <a:rPr lang="en-US" sz="1500" b="0" i="0" dirty="0">
                <a:solidFill>
                  <a:srgbClr val="23373B"/>
                </a:solidFill>
                <a:latin typeface="Noto Sans"/>
              </a:rPr>
              <a:t> to stop the pair completely</a:t>
            </a:r>
          </a:p>
        </p:txBody>
      </p:sp>
      <p:sp>
        <p:nvSpPr>
          <p:cNvPr id="20" name="TextBox 1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1" name="TextBox 20"/>
          <p:cNvSpPr txBox="1"/>
          <p:nvPr/>
        </p:nvSpPr>
        <p:spPr>
          <a:xfrm>
            <a:off x="11281701" y="6629400"/>
            <a:ext cx="376899"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8.9 / 25</a:t>
            </a:r>
            <a:endParaRPr sz="719" b="0" i="0" spc="58">
              <a:solidFill>
                <a:srgbClr val="5D7176"/>
              </a:solidFill>
              <a:latin typeface="Noto Sans"/>
            </a:endParaRPr>
          </a:p>
        </p:txBody>
      </p:sp>
      <p:sp>
        <p:nvSpPr>
          <p:cNvPr id="24" name="Rectangle 23">
            <a:extLst>
              <a:ext uri="{FF2B5EF4-FFF2-40B4-BE49-F238E27FC236}">
                <a16:creationId xmlns:a16="http://schemas.microsoft.com/office/drawing/2014/main" id="{F0A3717A-E895-4DF8-A456-7475ADF3D0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65919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FEF0BC6-A41B-4FB8-B724-D3FB7683C865}"/>
              </a:ext>
            </a:extLst>
          </p:cNvPr>
          <p:cNvSpPr/>
          <p:nvPr/>
        </p:nvSpPr>
        <p:spPr>
          <a:xfrm>
            <a:off x="7785100" y="2387600"/>
            <a:ext cx="3860800" cy="2616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same setup </a:t>
            </a:r>
            <a:r>
              <a:rPr lang="en-US" sz="2783" b="1" i="0" spc="-28" dirty="0">
                <a:solidFill>
                  <a:srgbClr val="23373B"/>
                </a:solidFill>
                <a:latin typeface="Noto Sans Display"/>
              </a:rPr>
              <a:t>from above</a:t>
            </a:r>
            <a:endParaRPr sz="2783" b="1" i="0" spc="-28" dirty="0">
              <a:solidFill>
                <a:srgbClr val="23373B"/>
              </a:solidFill>
              <a:latin typeface="Noto Sans Display"/>
            </a:endParaRPr>
          </a:p>
        </p:txBody>
      </p:sp>
      <p:sp>
        <p:nvSpPr>
          <p:cNvPr id="7" name="Rectangle 6"/>
          <p:cNvSpPr/>
          <p:nvPr/>
        </p:nvSpPr>
        <p:spPr>
          <a:xfrm>
            <a:off x="648289" y="1208732"/>
            <a:ext cx="6930043" cy="529952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Orthographic plan view of the four n_TOF arms and one simulated e+e- pair, looking down the beam"/>
          <p:cNvPicPr>
            <a:picLocks noChangeAspect="1"/>
          </p:cNvPicPr>
          <p:nvPr/>
        </p:nvPicPr>
        <p:blipFill>
          <a:blip r:embed="rId2"/>
          <a:stretch>
            <a:fillRect/>
          </a:stretch>
        </p:blipFill>
        <p:spPr>
          <a:xfrm>
            <a:off x="1525032" y="1208881"/>
            <a:ext cx="5176409" cy="5299223"/>
          </a:xfrm>
          <a:prstGeom prst="rect">
            <a:avLst/>
          </a:prstGeom>
        </p:spPr>
      </p:pic>
      <p:sp>
        <p:nvSpPr>
          <p:cNvPr id="9" name="TextBox 8"/>
          <p:cNvSpPr txBox="1"/>
          <p:nvPr/>
        </p:nvSpPr>
        <p:spPr>
          <a:xfrm>
            <a:off x="8064500" y="2616200"/>
            <a:ext cx="3327400" cy="8890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Opening angle</a:t>
            </a:r>
            <a:r>
              <a:rPr sz="1600" b="0" i="0">
                <a:solidFill>
                  <a:srgbClr val="23373B"/>
                </a:solidFill>
                <a:latin typeface="Noto Sans"/>
              </a:rPr>
              <a:t> from the Micromegas, before anything else touches the pair.</a:t>
            </a:r>
          </a:p>
        </p:txBody>
      </p:sp>
      <p:sp>
        <p:nvSpPr>
          <p:cNvPr id="10" name="TextBox 9"/>
          <p:cNvSpPr txBox="1"/>
          <p:nvPr/>
        </p:nvSpPr>
        <p:spPr>
          <a:xfrm>
            <a:off x="8064500" y="35814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dirty="0">
                <a:solidFill>
                  <a:srgbClr val="23373B"/>
                </a:solidFill>
                <a:latin typeface="Noto Sans"/>
              </a:rPr>
              <a:t>Trigger and timing</a:t>
            </a:r>
            <a:r>
              <a:rPr sz="1600" b="0" i="0" dirty="0">
                <a:solidFill>
                  <a:srgbClr val="23373B"/>
                </a:solidFill>
                <a:latin typeface="Noto Sans"/>
              </a:rPr>
              <a:t> from the wall and the plastics.</a:t>
            </a:r>
          </a:p>
        </p:txBody>
      </p:sp>
      <p:sp>
        <p:nvSpPr>
          <p:cNvPr id="11" name="TextBox 10"/>
          <p:cNvSpPr txBox="1"/>
          <p:nvPr/>
        </p:nvSpPr>
        <p:spPr>
          <a:xfrm>
            <a:off x="8064500" y="4241800"/>
            <a:ext cx="3327400" cy="609600"/>
          </a:xfrm>
          <a:prstGeom prst="rect">
            <a:avLst/>
          </a:prstGeom>
          <a:noFill/>
        </p:spPr>
        <p:txBody>
          <a:bodyPr wrap="square" lIns="0" tIns="0" rIns="0" bIns="0" anchor="t">
            <a:noAutofit/>
          </a:bodyPr>
          <a:lstStyle/>
          <a:p>
            <a:pPr marL="228600" indent="-228600" algn="l">
              <a:lnSpc>
                <a:spcPts val="2200"/>
              </a:lnSpc>
              <a:spcBef>
                <a:spcPts val="0"/>
              </a:spcBef>
              <a:spcAft>
                <a:spcPts val="0"/>
              </a:spcAft>
              <a:buClr>
                <a:srgbClr val="EB811B"/>
              </a:buClr>
              <a:buChar char="▸"/>
            </a:pPr>
            <a:r>
              <a:rPr sz="1600" b="1" i="0">
                <a:solidFill>
                  <a:srgbClr val="23373B"/>
                </a:solidFill>
                <a:latin typeface="Noto Sans"/>
              </a:rPr>
              <a:t>Calorimetry</a:t>
            </a:r>
            <a:r>
              <a:rPr sz="1600" b="0" i="0">
                <a:solidFill>
                  <a:srgbClr val="23373B"/>
                </a:solidFill>
                <a:latin typeface="Noto Sans"/>
              </a:rPr>
              <a:t> from the full scintillator stack.</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371918" y="6629400"/>
            <a:ext cx="286682"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9 / 25</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D549944D-096E-44BC-929E-CCAB90517D7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CB2BAD22-DF30-49CC-96B8-EEF02B28DCA6}"/>
              </a:ext>
            </a:extLst>
          </p:cNvPr>
          <p:cNvSpPr/>
          <p:nvPr/>
        </p:nvSpPr>
        <p:spPr>
          <a:xfrm>
            <a:off x="7785100" y="2387600"/>
            <a:ext cx="50800" cy="2616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05018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A look at the actual</a:t>
            </a:r>
            <a:r>
              <a:rPr sz="2783" b="1" i="0" spc="-28" dirty="0">
                <a:solidFill>
                  <a:srgbClr val="23373B"/>
                </a:solidFill>
                <a:latin typeface="Noto Sans Display"/>
              </a:rPr>
              <a:t> experiment</a:t>
            </a:r>
            <a:r>
              <a:rPr lang="en-US" sz="2783" b="1" i="0" spc="-28" dirty="0">
                <a:solidFill>
                  <a:srgbClr val="23373B"/>
                </a:solidFill>
                <a:latin typeface="Noto Sans Display"/>
              </a:rPr>
              <a:t> – ran this </a:t>
            </a:r>
            <a:r>
              <a:rPr lang="en-US" sz="2783" b="1" i="0" spc="-28" dirty="0" err="1">
                <a:solidFill>
                  <a:srgbClr val="23373B"/>
                </a:solidFill>
                <a:latin typeface="Noto Sans Display"/>
              </a:rPr>
              <a:t>July+August</a:t>
            </a:r>
            <a:endParaRPr sz="2783" b="1" i="0" spc="-28" dirty="0">
              <a:solidFill>
                <a:srgbClr val="23373B"/>
              </a:solidFill>
              <a:latin typeface="Noto Sans Display"/>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10.1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04FD90BC-1A2D-441C-9415-F5B1DA95327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2" name="Picture 11"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a:extLst>
              <a:ext uri="{FF2B5EF4-FFF2-40B4-BE49-F238E27FC236}">
                <a16:creationId xmlns:a16="http://schemas.microsoft.com/office/drawing/2014/main" id="{9352B065-C112-2895-FAA8-E7F5C81A0EAB}"/>
              </a:ext>
            </a:extLst>
          </p:cNvPr>
          <p:cNvPicPr>
            <a:picLocks noChangeAspect="1"/>
          </p:cNvPicPr>
          <p:nvPr/>
        </p:nvPicPr>
        <p:blipFill>
          <a:blip r:embed="rId2"/>
          <a:stretch>
            <a:fillRect/>
          </a:stretch>
        </p:blipFill>
        <p:spPr>
          <a:xfrm>
            <a:off x="1066651" y="1137612"/>
            <a:ext cx="3932634" cy="5243512"/>
          </a:xfrm>
          <a:prstGeom prst="rect">
            <a:avLst/>
          </a:prstGeom>
        </p:spPr>
      </p:pic>
      <p:sp>
        <p:nvSpPr>
          <p:cNvPr id="15" name="TextBox 14">
            <a:extLst>
              <a:ext uri="{FF2B5EF4-FFF2-40B4-BE49-F238E27FC236}">
                <a16:creationId xmlns:a16="http://schemas.microsoft.com/office/drawing/2014/main" id="{4D77106C-F01F-4B52-62C1-90BCE12256D7}"/>
              </a:ext>
            </a:extLst>
          </p:cNvPr>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Tree>
    <p:extLst>
      <p:ext uri="{BB962C8B-B14F-4D97-AF65-F5344CB8AC3E}">
        <p14:creationId xmlns:p14="http://schemas.microsoft.com/office/powerpoint/2010/main" val="457847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783F517-CB6E-154D-3B1F-74E2720C8AA9}"/>
              </a:ext>
            </a:extLst>
          </p:cNvPr>
          <p:cNvPicPr>
            <a:picLocks noChangeAspect="1"/>
          </p:cNvPicPr>
          <p:nvPr/>
        </p:nvPicPr>
        <p:blipFill>
          <a:blip r:embed="rId2"/>
          <a:stretch>
            <a:fillRect/>
          </a:stretch>
        </p:blipFill>
        <p:spPr>
          <a:xfrm>
            <a:off x="6773923" y="1137612"/>
            <a:ext cx="3919080" cy="5225905"/>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X17 search at n_TOF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A look at the actual experiment – ran this </a:t>
            </a:r>
            <a:r>
              <a:rPr lang="en-US" sz="2783" b="1" spc="-28" dirty="0" err="1">
                <a:solidFill>
                  <a:srgbClr val="23373B"/>
                </a:solidFill>
                <a:latin typeface="Noto Sans Display"/>
              </a:rPr>
              <a:t>July+August</a:t>
            </a:r>
            <a:endParaRPr lang="en-US" sz="2783" b="1" spc="-28" dirty="0">
              <a:solidFill>
                <a:srgbClr val="23373B"/>
              </a:solidFill>
              <a:latin typeface="Noto Sans Display"/>
            </a:endParaRPr>
          </a:p>
        </p:txBody>
      </p:sp>
      <p:sp>
        <p:nvSpPr>
          <p:cNvPr id="7" name="Rectangle 6"/>
          <p:cNvSpPr/>
          <p:nvPr/>
        </p:nvSpPr>
        <p:spPr>
          <a:xfrm>
            <a:off x="548580" y="1208732"/>
            <a:ext cx="4968925" cy="52436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hotograph looking down into the assembled MX17 station in EAR2: an aluminium-profile support frame around four Micromegas chambers standing in a pinwheel, their aluminised windows facing inward on the target at the centre, with signal cabling, gas lines and high-voltage leads routed out to the four sides."/>
          <p:cNvPicPr>
            <a:picLocks noChangeAspect="1"/>
          </p:cNvPicPr>
          <p:nvPr/>
        </p:nvPicPr>
        <p:blipFill>
          <a:blip r:embed="rId3"/>
          <a:stretch>
            <a:fillRect/>
          </a:stretch>
        </p:blipFill>
        <p:spPr>
          <a:xfrm>
            <a:off x="1066651" y="1137612"/>
            <a:ext cx="3932634" cy="5243512"/>
          </a:xfrm>
          <a:prstGeom prst="rect">
            <a:avLst/>
          </a:prstGeom>
        </p:spPr>
      </p:pic>
      <p:sp>
        <p:nvSpPr>
          <p:cNvPr id="9" name="TextBox 8"/>
          <p:cNvSpPr txBox="1"/>
          <p:nvPr/>
        </p:nvSpPr>
        <p:spPr>
          <a:xfrm>
            <a:off x="548580" y="6406654"/>
            <a:ext cx="4987975" cy="190500"/>
          </a:xfrm>
          <a:prstGeom prst="rect">
            <a:avLst/>
          </a:prstGeom>
          <a:noFill/>
        </p:spPr>
        <p:txBody>
          <a:bodyPr wrap="square" lIns="0" tIns="0" rIns="0" bIns="0" anchor="t">
            <a:noAutofit/>
          </a:bodyPr>
          <a:lstStyle/>
          <a:p>
            <a:pPr algn="ctr">
              <a:spcBef>
                <a:spcPts val="0"/>
              </a:spcBef>
              <a:spcAft>
                <a:spcPts val="0"/>
              </a:spcAft>
            </a:pPr>
            <a:r>
              <a:rPr sz="883" b="0" i="0" spc="18" dirty="0">
                <a:solidFill>
                  <a:srgbClr val="5D7176"/>
                </a:solidFill>
                <a:latin typeface="Noto Sans"/>
              </a:rPr>
              <a:t>Looking down into the station · </a:t>
            </a:r>
            <a:r>
              <a:rPr sz="883" b="0" i="0" spc="18" dirty="0" err="1">
                <a:solidFill>
                  <a:srgbClr val="5D7176"/>
                </a:solidFill>
                <a:latin typeface="Noto Sans"/>
              </a:rPr>
              <a:t>n_TOF</a:t>
            </a:r>
            <a:r>
              <a:rPr sz="883" b="0" i="0" spc="18" dirty="0">
                <a:solidFill>
                  <a:srgbClr val="5D7176"/>
                </a:solidFill>
                <a:latin typeface="Noto Sans"/>
              </a:rPr>
              <a:t> EAR2, 10 August 2026</a:t>
            </a:r>
          </a:p>
        </p:txBody>
      </p:sp>
      <p:sp>
        <p:nvSpPr>
          <p:cNvPr id="12" name="TextBox 11"/>
          <p:cNvSpPr txBox="1"/>
          <p:nvPr/>
        </p:nvSpPr>
        <p:spPr>
          <a:xfrm>
            <a:off x="5810101" y="6406654"/>
            <a:ext cx="5852368"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One arm, from outside · n_TOF EAR2, 10 August 2026</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4" name="TextBox 13"/>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10.2 / 25</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6B3C26B3-41D5-4261-988D-A5F5CD8A70B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14140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spc="86">
                <a:solidFill>
                  <a:srgbClr val="23373B"/>
                </a:solidFill>
                <a:latin typeface="Noto Sans Display"/>
              </a:rPr>
              <a:t>Plan A: the MeV neutrons</a:t>
            </a:r>
            <a:endParaRPr sz="4320" b="1" i="0" spc="86" dirty="0">
              <a:solidFill>
                <a:srgbClr val="23373B"/>
              </a:solidFill>
              <a:latin typeface="Noto Sans Display"/>
            </a:endParaRP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a:solidFill>
                  <a:srgbClr val="5D7176"/>
                </a:solidFill>
                <a:latin typeface="Noto Sans"/>
              </a:rPr>
              <a:t>Where the X17 rate is, and why we could not reach it</a:t>
            </a:r>
            <a:endParaRPr sz="2000" b="0" i="0" dirty="0">
              <a:solidFill>
                <a:srgbClr val="5D7176"/>
              </a:solidFill>
              <a:latin typeface="Noto Sans"/>
            </a:endParaRP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B44FECAF-5803-4AA9-90CB-44554A7F59B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246383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came for</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Almost all of the X17 rate is in the MeV</a:t>
            </a:r>
          </a:p>
        </p:txBody>
      </p:sp>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11.1 / 25</a:t>
            </a:r>
            <a:endParaRPr sz="719" b="0" i="0" spc="58" dirty="0">
              <a:solidFill>
                <a:srgbClr val="5D7176"/>
              </a:solidFill>
              <a:latin typeface="Noto Sans"/>
            </a:endParaRPr>
          </a:p>
        </p:txBody>
      </p:sp>
      <p:pic>
        <p:nvPicPr>
          <p:cNvPr id="14" name="Picture 13" descr="X17 pairs per day against neutron flight time over 19.5 metres on a log axis, plotted linearly, with neutron energy as a second scale along the top. One point per decade of neutron energy with the bin width as an error bar, and a faint interpolation through them. The curve peaks sharply in the two MeV decades, which are shaded, arriving under 5 microseconds after the gamma flash; it falls two orders of magnitude through the eV range and rises again to the thermal point at around 10 milliseconds.">
            <a:extLst>
              <a:ext uri="{FF2B5EF4-FFF2-40B4-BE49-F238E27FC236}">
                <a16:creationId xmlns:a16="http://schemas.microsoft.com/office/drawing/2014/main" id="{A3DC423C-C1CF-9CBC-552C-E414EF234749}"/>
              </a:ext>
            </a:extLst>
          </p:cNvPr>
          <p:cNvPicPr>
            <a:picLocks noChangeAspect="1"/>
          </p:cNvPicPr>
          <p:nvPr/>
        </p:nvPicPr>
        <p:blipFill>
          <a:blip r:embed="rId2"/>
          <a:srcRect l="1239" r="1365"/>
          <a:stretch>
            <a:fillRect/>
          </a:stretch>
        </p:blipFill>
        <p:spPr>
          <a:xfrm>
            <a:off x="-1" y="1278413"/>
            <a:ext cx="12192001" cy="5257516"/>
          </a:xfrm>
          <a:prstGeom prst="rect">
            <a:avLst/>
          </a:prstGeom>
        </p:spPr>
      </p:pic>
      <p:sp>
        <p:nvSpPr>
          <p:cNvPr id="17" name="Rectangle 16">
            <a:extLst>
              <a:ext uri="{FF2B5EF4-FFF2-40B4-BE49-F238E27FC236}">
                <a16:creationId xmlns:a16="http://schemas.microsoft.com/office/drawing/2014/main" id="{53DB92FD-36BC-4DCD-AF43-EF553FBED85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40401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FCA3E-D2CF-ED7E-E654-73C13784C26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EF90E97-6B35-169B-D9B3-082454531066}"/>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CE5E98C0-53F4-FCBB-2C07-F83EE1B2C678}"/>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came for</a:t>
            </a:r>
          </a:p>
        </p:txBody>
      </p:sp>
      <p:sp>
        <p:nvSpPr>
          <p:cNvPr id="5" name="Rectangle 4">
            <a:extLst>
              <a:ext uri="{FF2B5EF4-FFF2-40B4-BE49-F238E27FC236}">
                <a16:creationId xmlns:a16="http://schemas.microsoft.com/office/drawing/2014/main" id="{4325DE12-9F7A-A49B-27B2-8FC0CF36A2B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1640A2B5-1A66-DC90-CF21-C8DB899FC238}"/>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Almost all of the X17 rate is in the MeV</a:t>
            </a:r>
          </a:p>
        </p:txBody>
      </p:sp>
      <p:sp>
        <p:nvSpPr>
          <p:cNvPr id="11" name="TextBox 10">
            <a:extLst>
              <a:ext uri="{FF2B5EF4-FFF2-40B4-BE49-F238E27FC236}">
                <a16:creationId xmlns:a16="http://schemas.microsoft.com/office/drawing/2014/main" id="{A073B4B2-675A-B9D9-204A-08A7F512707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DA3BC17A-4FF0-1381-6F22-729093CEA83C}"/>
              </a:ext>
            </a:extLst>
          </p:cNvPr>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11.2 / 25</a:t>
            </a:r>
            <a:endParaRPr sz="719" b="0" i="0" spc="58">
              <a:solidFill>
                <a:srgbClr val="5D7176"/>
              </a:solidFill>
              <a:latin typeface="Noto Sans"/>
            </a:endParaRPr>
          </a:p>
        </p:txBody>
      </p:sp>
      <p:pic>
        <p:nvPicPr>
          <p:cNvPr id="14" name="Picture 13" descr="X17 pairs per day against neutron flight time over 19.5 metres on a log axis, plotted linearly, with neutron energy as a second scale along the top. One point per decade of neutron energy with the bin width as an error bar, and a faint interpolation through them. The curve peaks sharply in the two MeV decades, which are shaded, arriving under 5 microseconds after the gamma flash; it falls two orders of magnitude through the eV range and rises again to the thermal point at around 10 milliseconds.">
            <a:extLst>
              <a:ext uri="{FF2B5EF4-FFF2-40B4-BE49-F238E27FC236}">
                <a16:creationId xmlns:a16="http://schemas.microsoft.com/office/drawing/2014/main" id="{D3D9C4B5-C98D-95CD-6FC1-2BE9FE42A400}"/>
              </a:ext>
            </a:extLst>
          </p:cNvPr>
          <p:cNvPicPr>
            <a:picLocks noChangeAspect="1"/>
          </p:cNvPicPr>
          <p:nvPr/>
        </p:nvPicPr>
        <p:blipFill>
          <a:blip r:embed="rId2"/>
          <a:srcRect l="1239" r="1365"/>
          <a:stretch>
            <a:fillRect/>
          </a:stretch>
        </p:blipFill>
        <p:spPr>
          <a:xfrm>
            <a:off x="-1" y="1278413"/>
            <a:ext cx="12192001" cy="5257516"/>
          </a:xfrm>
          <a:prstGeom prst="rect">
            <a:avLst/>
          </a:prstGeom>
        </p:spPr>
      </p:pic>
      <p:sp>
        <p:nvSpPr>
          <p:cNvPr id="17" name="Rectangle 16">
            <a:extLst>
              <a:ext uri="{FF2B5EF4-FFF2-40B4-BE49-F238E27FC236}">
                <a16:creationId xmlns:a16="http://schemas.microsoft.com/office/drawing/2014/main" id="{A9492ED3-EBEC-B4B3-0F68-0B46A1D1EA8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6">
            <a:extLst>
              <a:ext uri="{FF2B5EF4-FFF2-40B4-BE49-F238E27FC236}">
                <a16:creationId xmlns:a16="http://schemas.microsoft.com/office/drawing/2014/main" id="{46CB298B-E1EF-BAE1-1CE7-E593845D5222}"/>
              </a:ext>
            </a:extLst>
          </p:cNvPr>
          <p:cNvPicPr>
            <a:picLocks noChangeAspect="1"/>
          </p:cNvPicPr>
          <p:nvPr/>
        </p:nvPicPr>
        <p:blipFill>
          <a:blip r:embed="rId3"/>
          <a:srcRect r="999" b="73247"/>
          <a:stretch>
            <a:fillRect/>
          </a:stretch>
        </p:blipFill>
        <p:spPr>
          <a:xfrm>
            <a:off x="9524" y="2801091"/>
            <a:ext cx="12070181" cy="1106080"/>
          </a:xfrm>
          <a:prstGeom prst="rect">
            <a:avLst/>
          </a:prstGeom>
        </p:spPr>
      </p:pic>
      <p:sp>
        <p:nvSpPr>
          <p:cNvPr id="8" name="Rectangle 7">
            <a:extLst>
              <a:ext uri="{FF2B5EF4-FFF2-40B4-BE49-F238E27FC236}">
                <a16:creationId xmlns:a16="http://schemas.microsoft.com/office/drawing/2014/main" id="{C5148B11-EF0D-14FF-6DFE-DD5086BAC271}"/>
              </a:ext>
            </a:extLst>
          </p:cNvPr>
          <p:cNvSpPr/>
          <p:nvPr/>
        </p:nvSpPr>
        <p:spPr>
          <a:xfrm>
            <a:off x="475488" y="2801091"/>
            <a:ext cx="8549640" cy="110608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0F64BA-C1F4-21CC-6296-3346BAA4A112}"/>
              </a:ext>
            </a:extLst>
          </p:cNvPr>
          <p:cNvSpPr/>
          <p:nvPr/>
        </p:nvSpPr>
        <p:spPr>
          <a:xfrm>
            <a:off x="9025128" y="2809727"/>
            <a:ext cx="2551176" cy="1106080"/>
          </a:xfrm>
          <a:prstGeom prst="rect">
            <a:avLst/>
          </a:prstGeom>
          <a:solidFill>
            <a:srgbClr val="EAEAEA">
              <a:alpha val="6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6417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AD5E326C-E5A8-4AAE-86DC-EE3D9799E933}"/>
              </a:ext>
            </a:extLst>
          </p:cNvPr>
          <p:cNvSpPr/>
          <p:nvPr/>
        </p:nvSpPr>
        <p:spPr>
          <a:xfrm>
            <a:off x="546100" y="1219200"/>
            <a:ext cx="5422900" cy="29972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Proble</a:t>
            </a:r>
            <a:r>
              <a:rPr lang="en-US" sz="2783" b="1" spc="-28" dirty="0">
                <a:solidFill>
                  <a:srgbClr val="23373B"/>
                </a:solidFill>
                <a:latin typeface="Noto Sans Display"/>
              </a:rPr>
              <a:t>m: DREAM DAQ Can’t Handle Gamma Flash</a:t>
            </a:r>
            <a:endParaRPr sz="2783" b="1" i="0" spc="-28" dirty="0">
              <a:solidFill>
                <a:srgbClr val="23373B"/>
              </a:solidFill>
              <a:latin typeface="Noto Sans Display"/>
            </a:endParaRP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a:solidFill>
                  <a:srgbClr val="23373B"/>
                </a:solidFill>
                <a:latin typeface="Noto Sans"/>
              </a:rPr>
              <a:t>DREAM</a:t>
            </a:r>
            <a:r>
              <a:rPr sz="1400" b="0" i="0">
                <a:solidFill>
                  <a:srgbClr val="23373B"/>
                </a:solidFill>
                <a:latin typeface="Noto Sans"/>
              </a:rPr>
              <a:t> — </a:t>
            </a:r>
            <a:r>
              <a:rPr sz="1400" b="0" i="1">
                <a:solidFill>
                  <a:srgbClr val="23373B"/>
                </a:solidFill>
                <a:latin typeface="Noto Sans"/>
              </a:rPr>
              <a:t>Dead-timeless Read-out Electronics ASIC for Micromegas</a:t>
            </a:r>
            <a:r>
              <a:rPr sz="1400" b="0" i="0">
                <a:solidFill>
                  <a:srgbClr val="23373B"/>
                </a:solidFill>
                <a:latin typeface="Noto Sans"/>
              </a:rPr>
              <a:t>, developed at </a:t>
            </a:r>
            <a:r>
              <a:rPr sz="1400" b="1" i="0">
                <a:solidFill>
                  <a:srgbClr val="23373B"/>
                </a:solidFill>
                <a:latin typeface="Noto Sans"/>
              </a:rPr>
              <a:t>CEA Saclay</a:t>
            </a:r>
            <a:r>
              <a:rPr sz="1400" b="0" i="0">
                <a:solidFill>
                  <a:srgbClr val="23373B"/>
                </a:solidFill>
                <a:latin typeface="Noto Sans"/>
              </a:rPr>
              <a:t> and built for the </a:t>
            </a:r>
            <a:r>
              <a:rPr sz="1400" b="1" i="0">
                <a:solidFill>
                  <a:srgbClr val="23373B"/>
                </a:solidFill>
                <a:latin typeface="Noto Sans"/>
              </a:rPr>
              <a:t>CLAS12</a:t>
            </a:r>
            <a:r>
              <a:rPr sz="1400" b="0" i="0">
                <a:solidFill>
                  <a:srgbClr val="23373B"/>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dirty="0">
                <a:solidFill>
                  <a:srgbClr val="23373B"/>
                </a:solidFill>
                <a:latin typeface="Noto Sans"/>
              </a:rPr>
              <a:t>512 channels per front-end unit</a:t>
            </a:r>
            <a:r>
              <a:rPr sz="1400" b="0" i="0" dirty="0">
                <a:solidFill>
                  <a:srgbClr val="23373B"/>
                </a:solidFill>
                <a:latin typeface="Noto Sans"/>
              </a:rPr>
              <a:t> (8 ASICs × 64); </a:t>
            </a:r>
            <a:r>
              <a:rPr sz="1400" b="1" i="0" dirty="0">
                <a:solidFill>
                  <a:srgbClr val="23373B"/>
                </a:solidFill>
                <a:latin typeface="Noto Sans"/>
              </a:rPr>
              <a:t>two units per chamber</a:t>
            </a:r>
            <a:r>
              <a:rPr sz="1400" b="0" i="0" dirty="0">
                <a:solidFill>
                  <a:srgbClr val="23373B"/>
                </a:solidFill>
                <a:latin typeface="Noto Sans"/>
              </a:rPr>
              <a:t>, 1</a:t>
            </a:r>
            <a:r>
              <a:rPr lang="en-US" sz="1400" b="0" i="0" dirty="0">
                <a:solidFill>
                  <a:srgbClr val="23373B"/>
                </a:solidFill>
                <a:latin typeface="Noto Sans"/>
              </a:rPr>
              <a:t>,</a:t>
            </a:r>
            <a:r>
              <a:rPr sz="1400" b="0" i="0" dirty="0">
                <a:solidFill>
                  <a:srgbClr val="23373B"/>
                </a:solidFill>
                <a:latin typeface="Noto Sans"/>
              </a:rPr>
              <a:t>024 channels </a:t>
            </a:r>
            <a:r>
              <a:rPr lang="en-US" sz="1400" dirty="0">
                <a:solidFill>
                  <a:srgbClr val="23373B"/>
                </a:solidFill>
                <a:latin typeface="Noto Sans"/>
              </a:rPr>
              <a:t>for each</a:t>
            </a:r>
            <a:r>
              <a:rPr sz="1400" b="0" i="0" dirty="0">
                <a:solidFill>
                  <a:srgbClr val="23373B"/>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23373B"/>
                </a:solidFill>
                <a:latin typeface="Noto Sans"/>
              </a:rPr>
              <a:t>Every channel: a </a:t>
            </a:r>
            <a:r>
              <a:rPr sz="1400" b="1" i="0">
                <a:solidFill>
                  <a:srgbClr val="23373B"/>
                </a:solidFill>
                <a:latin typeface="Noto Sans"/>
              </a:rPr>
              <a:t>charge-sensitive preamplifier and shaper</a:t>
            </a:r>
            <a:r>
              <a:rPr sz="1400" b="0" i="0">
                <a:solidFill>
                  <a:srgbClr val="23373B"/>
                </a:solidFill>
                <a:latin typeface="Noto Sans"/>
              </a:rPr>
              <a:t>, full scale switchable </a:t>
            </a:r>
            <a:r>
              <a:rPr sz="1400" b="1" i="0">
                <a:solidFill>
                  <a:srgbClr val="23373B"/>
                </a:solidFill>
                <a:latin typeface="Noto Sans"/>
              </a:rPr>
              <a:t>50–600 fC</a:t>
            </a:r>
            <a:r>
              <a:rPr sz="1400" b="0" i="0">
                <a:solidFill>
                  <a:srgbClr val="23373B"/>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23373B"/>
                </a:solidFill>
                <a:latin typeface="Noto Sans"/>
              </a:rPr>
              <a:t>Sampled here at </a:t>
            </a:r>
            <a:r>
              <a:rPr sz="1400" b="1" i="0" dirty="0">
                <a:solidFill>
                  <a:srgbClr val="23373B"/>
                </a:solidFill>
                <a:latin typeface="Noto Sans"/>
              </a:rPr>
              <a:t>20 ns</a:t>
            </a:r>
            <a:r>
              <a:rPr sz="1400" b="0" i="0" dirty="0">
                <a:solidFill>
                  <a:srgbClr val="23373B"/>
                </a:solidFill>
                <a:latin typeface="Noto Sans"/>
              </a:rPr>
              <a:t>, digiti</a:t>
            </a:r>
            <a:r>
              <a:rPr lang="en-US" sz="1400" b="0" i="0" dirty="0">
                <a:solidFill>
                  <a:srgbClr val="23373B"/>
                </a:solidFill>
                <a:latin typeface="Noto Sans"/>
              </a:rPr>
              <a:t>z</a:t>
            </a:r>
            <a:r>
              <a:rPr sz="1400" b="0" i="0" dirty="0">
                <a:solidFill>
                  <a:srgbClr val="23373B"/>
                </a:solidFill>
                <a:latin typeface="Noto Sans"/>
              </a:rPr>
              <a:t>ed on an external trigger.</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12.1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762342C4-F0B8-4F5C-B3A9-B6B55E7F20E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1" name="BulletCardAccent">
            <a:extLst>
              <a:ext uri="{FF2B5EF4-FFF2-40B4-BE49-F238E27FC236}">
                <a16:creationId xmlns:a16="http://schemas.microsoft.com/office/drawing/2014/main" id="{6482678F-8C3B-4920-8EAE-F1A48F7AF3CF}"/>
              </a:ext>
            </a:extLst>
          </p:cNvPr>
          <p:cNvSpPr/>
          <p:nvPr/>
        </p:nvSpPr>
        <p:spPr>
          <a:xfrm>
            <a:off x="546100" y="1219200"/>
            <a:ext cx="50800" cy="29972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002114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lletCard">
            <a:extLst>
              <a:ext uri="{FF2B5EF4-FFF2-40B4-BE49-F238E27FC236}">
                <a16:creationId xmlns:a16="http://schemas.microsoft.com/office/drawing/2014/main" id="{1EC2E4A0-D375-48B9-BB02-C33E1CCB0D22}"/>
              </a:ext>
            </a:extLst>
          </p:cNvPr>
          <p:cNvSpPr/>
          <p:nvPr/>
        </p:nvSpPr>
        <p:spPr>
          <a:xfrm>
            <a:off x="546100" y="1219200"/>
            <a:ext cx="5422900" cy="4114800"/>
          </a:xfrm>
          <a:prstGeom prst="rect">
            <a:avLst/>
          </a:prstGeom>
          <a:solidFill>
            <a:srgbClr val="F2F6F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Problem: DREAM DAQ Can’t Handle Gamma Flash</a:t>
            </a:r>
          </a:p>
        </p:txBody>
      </p:sp>
      <p:sp>
        <p:nvSpPr>
          <p:cNvPr id="7" name="TextBox 6"/>
          <p:cNvSpPr txBox="1"/>
          <p:nvPr/>
        </p:nvSpPr>
        <p:spPr>
          <a:xfrm>
            <a:off x="825500" y="1422400"/>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DREAM</a:t>
            </a:r>
            <a:r>
              <a:rPr sz="1400" b="0" i="0" dirty="0">
                <a:solidFill>
                  <a:srgbClr val="5D7176"/>
                </a:solidFill>
                <a:latin typeface="Noto Sans"/>
              </a:rPr>
              <a:t> — </a:t>
            </a:r>
            <a:r>
              <a:rPr sz="1400" b="0" i="1" dirty="0">
                <a:solidFill>
                  <a:srgbClr val="5D7176"/>
                </a:solidFill>
                <a:latin typeface="Noto Sans"/>
              </a:rPr>
              <a:t>Dead-timeless Read-out Electronics ASIC for Micromegas</a:t>
            </a:r>
            <a:r>
              <a:rPr sz="1400" b="0" i="0" dirty="0">
                <a:solidFill>
                  <a:srgbClr val="5D7176"/>
                </a:solidFill>
                <a:latin typeface="Noto Sans"/>
              </a:rPr>
              <a:t>, developed at </a:t>
            </a:r>
            <a:r>
              <a:rPr sz="1400" b="0" i="0" dirty="0">
                <a:solidFill>
                  <a:srgbClr val="5D7176"/>
                </a:solidFill>
                <a:latin typeface="Noto Sans SemiBold"/>
              </a:rPr>
              <a:t>CEA Saclay</a:t>
            </a:r>
            <a:r>
              <a:rPr sz="1400" b="0" i="0" dirty="0">
                <a:solidFill>
                  <a:srgbClr val="5D7176"/>
                </a:solidFill>
                <a:latin typeface="Noto Sans"/>
              </a:rPr>
              <a:t> and built for the </a:t>
            </a:r>
            <a:r>
              <a:rPr sz="1400" b="0" i="0" dirty="0">
                <a:solidFill>
                  <a:srgbClr val="5D7176"/>
                </a:solidFill>
                <a:latin typeface="Noto Sans SemiBold"/>
              </a:rPr>
              <a:t>CLAS12</a:t>
            </a:r>
            <a:r>
              <a:rPr sz="1400" b="0" i="0" dirty="0">
                <a:solidFill>
                  <a:srgbClr val="5D7176"/>
                </a:solidFill>
                <a:latin typeface="Noto Sans"/>
              </a:rPr>
              <a:t> Micromegas vertex tracker.</a:t>
            </a:r>
          </a:p>
        </p:txBody>
      </p:sp>
      <p:sp>
        <p:nvSpPr>
          <p:cNvPr id="8" name="TextBox 7"/>
          <p:cNvSpPr txBox="1"/>
          <p:nvPr/>
        </p:nvSpPr>
        <p:spPr>
          <a:xfrm>
            <a:off x="825500" y="2291214"/>
            <a:ext cx="4914900" cy="472758"/>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SemiBold"/>
              </a:rPr>
              <a:t>512 channels per front-end unit</a:t>
            </a:r>
            <a:r>
              <a:rPr sz="1400" b="0" i="0" dirty="0">
                <a:solidFill>
                  <a:srgbClr val="5D7176"/>
                </a:solidFill>
                <a:latin typeface="Noto Sans"/>
              </a:rPr>
              <a:t> (8 ASICs × 64); </a:t>
            </a:r>
            <a:r>
              <a:rPr sz="1400" b="0" i="0" dirty="0">
                <a:solidFill>
                  <a:srgbClr val="5D7176"/>
                </a:solidFill>
                <a:latin typeface="Noto Sans SemiBold"/>
              </a:rPr>
              <a:t>two units per chamber</a:t>
            </a:r>
            <a:r>
              <a:rPr sz="1400" b="0" i="0" dirty="0">
                <a:solidFill>
                  <a:srgbClr val="5D7176"/>
                </a:solidFill>
                <a:latin typeface="Noto Sans"/>
              </a:rPr>
              <a:t>, 1</a:t>
            </a:r>
            <a:r>
              <a:rPr lang="en-US" sz="1400" b="0" i="0" dirty="0">
                <a:solidFill>
                  <a:srgbClr val="5D7176"/>
                </a:solidFill>
                <a:latin typeface="Noto Sans"/>
              </a:rPr>
              <a:t>,</a:t>
            </a:r>
            <a:r>
              <a:rPr sz="1400" b="0" i="0" dirty="0">
                <a:solidFill>
                  <a:srgbClr val="5D7176"/>
                </a:solidFill>
                <a:latin typeface="Noto Sans"/>
              </a:rPr>
              <a:t>024 channels </a:t>
            </a:r>
            <a:r>
              <a:rPr lang="en-US" sz="1400" b="0" i="0" dirty="0">
                <a:solidFill>
                  <a:srgbClr val="5D7176"/>
                </a:solidFill>
                <a:latin typeface="Noto Sans"/>
              </a:rPr>
              <a:t>for each</a:t>
            </a:r>
            <a:r>
              <a:rPr sz="1400" b="0" i="0" dirty="0">
                <a:solidFill>
                  <a:srgbClr val="5D7176"/>
                </a:solidFill>
                <a:latin typeface="Noto Sans"/>
              </a:rPr>
              <a:t> MX17.</a:t>
            </a:r>
          </a:p>
        </p:txBody>
      </p:sp>
      <p:sp>
        <p:nvSpPr>
          <p:cNvPr id="9" name="TextBox 8"/>
          <p:cNvSpPr txBox="1"/>
          <p:nvPr/>
        </p:nvSpPr>
        <p:spPr>
          <a:xfrm>
            <a:off x="825500" y="2916372"/>
            <a:ext cx="4914900" cy="716415"/>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a:solidFill>
                  <a:srgbClr val="5D7176"/>
                </a:solidFill>
                <a:latin typeface="Noto Sans"/>
              </a:rPr>
              <a:t>Every channel: a </a:t>
            </a:r>
            <a:r>
              <a:rPr sz="1400" b="0" i="0">
                <a:solidFill>
                  <a:srgbClr val="5D7176"/>
                </a:solidFill>
                <a:latin typeface="Noto Sans SemiBold"/>
              </a:rPr>
              <a:t>charge-sensitive preamplifier and shaper</a:t>
            </a:r>
            <a:r>
              <a:rPr sz="1400" b="0" i="0">
                <a:solidFill>
                  <a:srgbClr val="5D7176"/>
                </a:solidFill>
                <a:latin typeface="Noto Sans"/>
              </a:rPr>
              <a:t>, full scale switchable </a:t>
            </a:r>
            <a:r>
              <a:rPr sz="1400" b="0" i="0">
                <a:solidFill>
                  <a:srgbClr val="5D7176"/>
                </a:solidFill>
                <a:latin typeface="Noto Sans SemiBold"/>
              </a:rPr>
              <a:t>50–600 fC</a:t>
            </a:r>
            <a:r>
              <a:rPr sz="1400" b="0" i="0">
                <a:solidFill>
                  <a:srgbClr val="5D7176"/>
                </a:solidFill>
                <a:latin typeface="Noto Sans"/>
              </a:rPr>
              <a:t>, into a switched-capacitor analogue memory.</a:t>
            </a:r>
          </a:p>
        </p:txBody>
      </p:sp>
      <p:sp>
        <p:nvSpPr>
          <p:cNvPr id="10" name="TextBox 9"/>
          <p:cNvSpPr txBox="1"/>
          <p:nvPr/>
        </p:nvSpPr>
        <p:spPr>
          <a:xfrm>
            <a:off x="825500" y="3785187"/>
            <a:ext cx="4914900" cy="229102"/>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0" i="0" dirty="0">
                <a:solidFill>
                  <a:srgbClr val="5D7176"/>
                </a:solidFill>
                <a:latin typeface="Noto Sans"/>
              </a:rPr>
              <a:t>Sampled here at </a:t>
            </a:r>
            <a:r>
              <a:rPr sz="1400" b="0" i="0" dirty="0">
                <a:solidFill>
                  <a:srgbClr val="5D7176"/>
                </a:solidFill>
                <a:latin typeface="Noto Sans SemiBold"/>
              </a:rPr>
              <a:t>20 ns</a:t>
            </a:r>
            <a:r>
              <a:rPr sz="1400" b="0" i="0" dirty="0">
                <a:solidFill>
                  <a:srgbClr val="5D7176"/>
                </a:solidFill>
                <a:latin typeface="Noto Sans"/>
              </a:rPr>
              <a:t>, digiti</a:t>
            </a:r>
            <a:r>
              <a:rPr lang="en-US" sz="1400" b="0" i="0" dirty="0">
                <a:solidFill>
                  <a:srgbClr val="5D7176"/>
                </a:solidFill>
                <a:latin typeface="Noto Sans"/>
              </a:rPr>
              <a:t>z</a:t>
            </a:r>
            <a:r>
              <a:rPr sz="1400" b="0" i="0" dirty="0">
                <a:solidFill>
                  <a:srgbClr val="5D7176"/>
                </a:solidFill>
                <a:latin typeface="Noto Sans"/>
              </a:rPr>
              <a:t>ed on an external trigge</a:t>
            </a:r>
            <a:r>
              <a:rPr lang="en-US" sz="1400" b="0" i="0" dirty="0">
                <a:solidFill>
                  <a:srgbClr val="5D7176"/>
                </a:solidFill>
                <a:latin typeface="Noto Sans"/>
              </a:rPr>
              <a:t>r</a:t>
            </a:r>
            <a:r>
              <a:rPr sz="1400" b="0" i="0" dirty="0">
                <a:solidFill>
                  <a:srgbClr val="5D7176"/>
                </a:solidFill>
                <a:latin typeface="Noto Sans"/>
              </a:rPr>
              <a:t>.</a:t>
            </a:r>
          </a:p>
        </p:txBody>
      </p:sp>
      <p:sp>
        <p:nvSpPr>
          <p:cNvPr id="11" name="TextBox 10"/>
          <p:cNvSpPr txBox="1"/>
          <p:nvPr/>
        </p:nvSpPr>
        <p:spPr>
          <a:xfrm>
            <a:off x="825500" y="4166689"/>
            <a:ext cx="4914900" cy="960071"/>
          </a:xfrm>
          <a:prstGeom prst="rect">
            <a:avLst/>
          </a:prstGeom>
          <a:noFill/>
        </p:spPr>
        <p:txBody>
          <a:bodyPr wrap="square" lIns="0" tIns="0" rIns="0" bIns="0" anchor="t">
            <a:spAutoFit/>
          </a:bodyPr>
          <a:lstStyle/>
          <a:p>
            <a:pPr marL="228600" indent="-228600" algn="l">
              <a:lnSpc>
                <a:spcPts val="1900"/>
              </a:lnSpc>
              <a:spcBef>
                <a:spcPts val="0"/>
              </a:spcBef>
              <a:spcAft>
                <a:spcPts val="0"/>
              </a:spcAft>
              <a:buClr>
                <a:srgbClr val="EB811B"/>
              </a:buClr>
              <a:buChar char="▸"/>
            </a:pPr>
            <a:r>
              <a:rPr sz="1400" b="1" i="0" dirty="0">
                <a:solidFill>
                  <a:srgbClr val="23373B"/>
                </a:solidFill>
                <a:latin typeface="Noto Sans"/>
              </a:rPr>
              <a:t>February 2026, the first prototype on beam:</a:t>
            </a:r>
            <a:r>
              <a:rPr sz="1400" b="0" i="0" dirty="0">
                <a:solidFill>
                  <a:srgbClr val="23373B"/>
                </a:solidFill>
                <a:latin typeface="Noto Sans"/>
              </a:rPr>
              <a:t> saturated — and saturated in a way that hides itself. The ADC rails to </a:t>
            </a:r>
            <a:r>
              <a:rPr sz="1400" b="1" i="0" dirty="0">
                <a:solidFill>
                  <a:srgbClr val="23373B"/>
                </a:solidFill>
                <a:latin typeface="Noto Sans"/>
              </a:rPr>
              <a:t>+4095</a:t>
            </a:r>
            <a:r>
              <a:rPr sz="1400" b="0" i="0" dirty="0">
                <a:solidFill>
                  <a:srgbClr val="23373B"/>
                </a:solidFill>
                <a:latin typeface="Noto Sans"/>
              </a:rPr>
              <a:t>, </a:t>
            </a:r>
            <a:r>
              <a:rPr lang="en-US" sz="1400" b="0" i="0" dirty="0">
                <a:solidFill>
                  <a:srgbClr val="23373B"/>
                </a:solidFill>
                <a:latin typeface="Noto Sans"/>
              </a:rPr>
              <a:t>drops</a:t>
            </a:r>
            <a:r>
              <a:rPr sz="1400" b="0" i="0" dirty="0">
                <a:solidFill>
                  <a:srgbClr val="23373B"/>
                </a:solidFill>
                <a:latin typeface="Noto Sans"/>
              </a:rPr>
              <a:t> to </a:t>
            </a:r>
            <a:r>
              <a:rPr sz="1400" b="1" i="0" dirty="0">
                <a:solidFill>
                  <a:srgbClr val="23373B"/>
                </a:solidFill>
                <a:latin typeface="Noto Sans"/>
              </a:rPr>
              <a:t>0</a:t>
            </a:r>
            <a:r>
              <a:rPr sz="1400" b="0" i="0" dirty="0">
                <a:solidFill>
                  <a:srgbClr val="23373B"/>
                </a:solidFill>
                <a:latin typeface="Noto Sans"/>
              </a:rPr>
              <a:t>, and settles onto a flat baseline within </a:t>
            </a:r>
            <a:r>
              <a:rPr sz="1400" b="1" i="0" dirty="0">
                <a:solidFill>
                  <a:srgbClr val="23373B"/>
                </a:solidFill>
                <a:latin typeface="Noto Sans"/>
              </a:rPr>
              <a:t>~3 µs</a:t>
            </a:r>
            <a:r>
              <a:rPr sz="1400" b="0" i="0" dirty="0">
                <a:solidFill>
                  <a:srgbClr val="23373B"/>
                </a:solidFill>
                <a:latin typeface="Noto Sans"/>
              </a:rPr>
              <a:t>.</a:t>
            </a:r>
          </a:p>
        </p:txBody>
      </p:sp>
      <p:sp>
        <p:nvSpPr>
          <p:cNvPr id="12" name="TextBox 11"/>
          <p:cNvSpPr txBox="1"/>
          <p:nvPr/>
        </p:nvSpPr>
        <p:spPr>
          <a:xfrm>
            <a:off x="6987927" y="1178560"/>
            <a:ext cx="5204073"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One flash, the 24 hottest strips</a:t>
            </a:r>
            <a:endParaRPr sz="1600" b="0" i="0" spc="10" dirty="0">
              <a:solidFill>
                <a:srgbClr val="5D7176"/>
              </a:solidFill>
              <a:latin typeface="Noto Sans"/>
            </a:endParaRPr>
          </a:p>
        </p:txBody>
      </p:sp>
      <p:pic>
        <p:nvPicPr>
          <p:cNvPr id="13" name="Picture 12" descr="ADC code against time in the readout window for the 24 hottest strips of one flash event. The traces sit on a baseline near 400 counts with visible ripple, dive to the zero rail, jump to the 4095 rail for about half a microsecond, fall back through the baseline and settle onto a line that is flat and has no ripple on it at all."/>
          <p:cNvPicPr>
            <a:picLocks noChangeAspect="1"/>
          </p:cNvPicPr>
          <p:nvPr/>
        </p:nvPicPr>
        <p:blipFill>
          <a:blip r:embed="rId2"/>
          <a:stretch>
            <a:fillRect/>
          </a:stretch>
        </p:blipFill>
        <p:spPr>
          <a:xfrm>
            <a:off x="6125709" y="1473200"/>
            <a:ext cx="6015479" cy="4944542"/>
          </a:xfrm>
          <a:prstGeom prst="rect">
            <a:avLst/>
          </a:prstGeom>
        </p:spPr>
      </p:pic>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8" name="TextBox 17"/>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12.2 / 25</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9737AA6A-FC33-4FD4-97F9-0F839350692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BulletCardAccent">
            <a:extLst>
              <a:ext uri="{FF2B5EF4-FFF2-40B4-BE49-F238E27FC236}">
                <a16:creationId xmlns:a16="http://schemas.microsoft.com/office/drawing/2014/main" id="{B00C9926-0F25-4E2A-9544-B0EFB2D78130}"/>
              </a:ext>
            </a:extLst>
          </p:cNvPr>
          <p:cNvSpPr/>
          <p:nvPr/>
        </p:nvSpPr>
        <p:spPr>
          <a:xfrm>
            <a:off x="546100" y="1219200"/>
            <a:ext cx="50800" cy="4114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699772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Signal against time since the flash peak in microseconds. A green curve, the micromegas strip digitised directly, rises to about 45 millivolts and is back at zero within two microseconds. A blue curve on a second axis, the same style of chamber through DREAM, is pinned at the 4095 ADC rail, crosses to the zero rail, and returns to a flat line."/>
          <p:cNvPicPr>
            <a:picLocks noChangeAspect="1"/>
          </p:cNvPicPr>
          <p:nvPr/>
        </p:nvPicPr>
        <p:blipFill>
          <a:blip r:embed="rId2"/>
          <a:stretch>
            <a:fillRect/>
          </a:stretch>
        </p:blipFill>
        <p:spPr>
          <a:xfrm>
            <a:off x="6233653" y="2122712"/>
            <a:ext cx="5951576" cy="3819923"/>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a:t>
            </a:r>
            <a:r>
              <a:rPr lang="en-US" sz="2783" b="1" i="0" spc="-28" dirty="0">
                <a:solidFill>
                  <a:srgbClr val="23373B"/>
                </a:solidFill>
                <a:latin typeface="Noto Sans Display"/>
              </a:rPr>
              <a:t>detector</a:t>
            </a:r>
            <a:r>
              <a:rPr sz="2783" b="1" i="0" spc="-28" dirty="0">
                <a:solidFill>
                  <a:srgbClr val="23373B"/>
                </a:solidFill>
                <a:latin typeface="Noto Sans Display"/>
              </a:rPr>
              <a:t> is fine. The </a:t>
            </a:r>
            <a:r>
              <a:rPr lang="en-US" sz="2783" b="1" i="0" spc="-28" dirty="0">
                <a:solidFill>
                  <a:srgbClr val="23373B"/>
                </a:solidFill>
                <a:latin typeface="Noto Sans Display"/>
              </a:rPr>
              <a:t>DREAM DAQ</a:t>
            </a:r>
            <a:r>
              <a:rPr sz="2783" b="1" i="0" spc="-28" dirty="0">
                <a:solidFill>
                  <a:srgbClr val="23373B"/>
                </a:solidFill>
                <a:latin typeface="Noto Sans Display"/>
              </a:rPr>
              <a:t> is not.</a:t>
            </a:r>
          </a:p>
        </p:txBody>
      </p:sp>
      <p:sp>
        <p:nvSpPr>
          <p:cNvPr id="7" name="TextBox 6"/>
          <p:cNvSpPr txBox="1"/>
          <p:nvPr/>
        </p:nvSpPr>
        <p:spPr>
          <a:xfrm>
            <a:off x="548580" y="1420785"/>
            <a:ext cx="5528072"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When each </a:t>
            </a:r>
            <a:r>
              <a:rPr lang="en-US" sz="1600" b="0" i="0" spc="10" dirty="0">
                <a:solidFill>
                  <a:srgbClr val="3C5257"/>
                </a:solidFill>
                <a:latin typeface="Noto Sans SemiBold"/>
              </a:rPr>
              <a:t>DAQ</a:t>
            </a:r>
            <a:r>
              <a:rPr sz="1600" b="0" i="0" spc="10" dirty="0">
                <a:solidFill>
                  <a:srgbClr val="3C5257"/>
                </a:solidFill>
                <a:latin typeface="Noto Sans SemiBold"/>
              </a:rPr>
              <a:t> is usable again</a:t>
            </a:r>
            <a:endParaRPr sz="1600" b="0" i="0" spc="10" dirty="0">
              <a:solidFill>
                <a:srgbClr val="5D7176"/>
              </a:solidFill>
              <a:latin typeface="Noto Sans"/>
            </a:endParaRPr>
          </a:p>
        </p:txBody>
      </p:sp>
      <p:pic>
        <p:nvPicPr>
          <p:cNvPr id="19" name="Picture 7" descr="status_two_readouts_op.png"/>
          <p:cNvPicPr>
            <a:picLocks noChangeAspect="1"/>
          </p:cNvPicPr>
          <p:nvPr/>
        </p:nvPicPr>
        <p:blipFill>
          <a:blip r:embed="rId3"/>
          <a:stretch>
            <a:fillRect/>
          </a:stretch>
        </p:blipFill>
        <p:spPr>
          <a:xfrm>
            <a:off x="78658" y="1959373"/>
            <a:ext cx="6271540" cy="4162361"/>
          </a:xfrm>
          <a:prstGeom prst="rect">
            <a:avLst/>
          </a:prstGeom>
        </p:spPr>
      </p:pic>
      <p:sp>
        <p:nvSpPr>
          <p:cNvPr id="9" name="TextBox 8"/>
          <p:cNvSpPr txBox="1"/>
          <p:nvPr/>
        </p:nvSpPr>
        <p:spPr>
          <a:xfrm>
            <a:off x="6350198" y="1329345"/>
            <a:ext cx="5312271" cy="209550"/>
          </a:xfrm>
          <a:prstGeom prst="rect">
            <a:avLst/>
          </a:prstGeom>
          <a:noFill/>
        </p:spPr>
        <p:txBody>
          <a:bodyPr wrap="square" lIns="0" tIns="0" rIns="0" bIns="0" anchor="t">
            <a:noAutofit/>
          </a:bodyPr>
          <a:lstStyle/>
          <a:p>
            <a:pPr algn="ctr">
              <a:spcBef>
                <a:spcPts val="0"/>
              </a:spcBef>
              <a:spcAft>
                <a:spcPts val="0"/>
              </a:spcAft>
            </a:pPr>
            <a:r>
              <a:rPr sz="1600" b="0" i="0" spc="10" dirty="0">
                <a:solidFill>
                  <a:srgbClr val="3C5257"/>
                </a:solidFill>
                <a:latin typeface="Noto Sans SemiBold"/>
              </a:rPr>
              <a:t>The same flash, seen by both </a:t>
            </a:r>
            <a:r>
              <a:rPr lang="en-US" sz="1600" b="0" i="0" spc="10" dirty="0">
                <a:solidFill>
                  <a:srgbClr val="3C5257"/>
                </a:solidFill>
                <a:latin typeface="Noto Sans SemiBold"/>
              </a:rPr>
              <a:t>DAQ</a:t>
            </a:r>
            <a:br>
              <a:rPr lang="en-US" sz="1600" b="0" i="0" spc="10" dirty="0">
                <a:solidFill>
                  <a:srgbClr val="5D7176"/>
                </a:solidFill>
                <a:latin typeface="Noto Sans"/>
              </a:rPr>
            </a:br>
            <a:r>
              <a:rPr sz="1200" b="0" i="0" spc="10" dirty="0">
                <a:solidFill>
                  <a:srgbClr val="5D7176"/>
                </a:solidFill>
                <a:latin typeface="Noto Sans"/>
              </a:rPr>
              <a:t>aligned on their own peaks</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13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36F40E8-A3AA-4D66-A2B7-776676D9FD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86155EB6-CF6B-7D03-BCC6-8919CCB0547B}"/>
              </a:ext>
            </a:extLst>
          </p:cNvPr>
          <p:cNvSpPr txBox="1"/>
          <p:nvPr/>
        </p:nvSpPr>
        <p:spPr>
          <a:xfrm>
            <a:off x="5004619" y="6194323"/>
            <a:ext cx="2615381" cy="276999"/>
          </a:xfrm>
          <a:prstGeom prst="rect">
            <a:avLst/>
          </a:prstGeom>
          <a:noFill/>
        </p:spPr>
        <p:txBody>
          <a:bodyPr wrap="square" rtlCol="0">
            <a:spAutoFit/>
          </a:bodyPr>
          <a:lstStyle/>
          <a:p>
            <a:pPr algn="ctr"/>
            <a:r>
              <a:rPr lang="en-US" sz="1200" dirty="0">
                <a:solidFill>
                  <a:schemeClr val="bg1">
                    <a:lumMod val="50000"/>
                  </a:schemeClr>
                </a:solidFill>
              </a:rPr>
              <a:t>Detector A at 540V</a:t>
            </a:r>
          </a:p>
        </p:txBody>
      </p:sp>
    </p:spTree>
    <p:extLst>
      <p:ext uri="{BB962C8B-B14F-4D97-AF65-F5344CB8AC3E}">
        <p14:creationId xmlns:p14="http://schemas.microsoft.com/office/powerpoint/2010/main" val="680645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Plan A </a:t>
            </a:r>
            <a:r>
              <a:rPr lang="en-US" sz="2783" b="1" i="0" spc="-28" dirty="0">
                <a:solidFill>
                  <a:srgbClr val="23373B"/>
                </a:solidFill>
                <a:latin typeface="Noto Sans Display"/>
                <a:sym typeface="Wingdings" panose="05000000000000000000" pitchFamily="2" charset="2"/>
              </a:rPr>
              <a:t> Plan B</a:t>
            </a:r>
            <a:r>
              <a:rPr lang="en-US" sz="2783" b="1" i="0" spc="-28" dirty="0">
                <a:solidFill>
                  <a:srgbClr val="23373B"/>
                </a:solidFill>
                <a:latin typeface="Noto Sans Display"/>
              </a:rPr>
              <a:t> : Make the measurement at thermal</a:t>
            </a:r>
            <a:endParaRPr sz="2783" b="1" i="0" spc="-28" dirty="0">
              <a:solidFill>
                <a:srgbClr val="23373B"/>
              </a:solidFill>
              <a:latin typeface="Noto Sans Display"/>
            </a:endParaRPr>
          </a:p>
        </p:txBody>
      </p:sp>
      <p:pic>
        <p:nvPicPr>
          <p:cNvPr id="7" name="Picture 6" descr="The same X17 rate against neutron flight time, now with the front end's dead time shaded across it: a solid red band from the gamma flash to 1 millisecond covering the whole MeV peak, fading out to 9 milliseconds. The MeV points are dimmed inside it and the thermal point, arriving after the band, is highlighted instead."/>
          <p:cNvPicPr>
            <a:picLocks noChangeAspect="1"/>
          </p:cNvPicPr>
          <p:nvPr/>
        </p:nvPicPr>
        <p:blipFill>
          <a:blip r:embed="rId2"/>
          <a:srcRect l="1185" r="3325"/>
          <a:stretch>
            <a:fillRect/>
          </a:stretch>
        </p:blipFill>
        <p:spPr>
          <a:xfrm>
            <a:off x="0" y="1284829"/>
            <a:ext cx="12192000" cy="5362513"/>
          </a:xfrm>
          <a:prstGeom prst="rect">
            <a:avLst/>
          </a:prstGeom>
        </p:spPr>
      </p:pic>
      <p:sp>
        <p:nvSpPr>
          <p:cNvPr id="12" name="TextBox 11"/>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14.1 / 25</a:t>
            </a:r>
            <a:endParaRPr sz="719" b="0" i="0" spc="58">
              <a:solidFill>
                <a:srgbClr val="5D7176"/>
              </a:solidFill>
              <a:latin typeface="Noto Sans"/>
            </a:endParaRPr>
          </a:p>
        </p:txBody>
      </p:sp>
      <p:sp>
        <p:nvSpPr>
          <p:cNvPr id="11" name="TextBox 10"/>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65760CED-F360-D562-EE66-0FC654B5D83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448153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07653-4559-CA77-E0A1-22ED8C90C936}"/>
            </a:ext>
          </a:extLst>
        </p:cNvPr>
        <p:cNvGrpSpPr/>
        <p:nvPr/>
      </p:nvGrpSpPr>
      <p:grpSpPr>
        <a:xfrm>
          <a:off x="0" y="0"/>
          <a:ext cx="0" cy="0"/>
          <a:chOff x="0" y="0"/>
          <a:chExt cx="0" cy="0"/>
        </a:xfrm>
      </p:grpSpPr>
      <p:pic>
        <p:nvPicPr>
          <p:cNvPr id="7" name="Picture 6" descr="The same X17 rate against neutron flight time, now with the front end's dead time shaded across it: a solid red band from the gamma flash to 1 millisecond covering the whole MeV peak, fading out to 9 milliseconds. The MeV points are dimmed inside it and the thermal point, arriving after the band, is highlighted instead.">
            <a:extLst>
              <a:ext uri="{FF2B5EF4-FFF2-40B4-BE49-F238E27FC236}">
                <a16:creationId xmlns:a16="http://schemas.microsoft.com/office/drawing/2014/main" id="{5A95BF79-AE94-87C7-9794-72D9C90C7F54}"/>
              </a:ext>
            </a:extLst>
          </p:cNvPr>
          <p:cNvPicPr>
            <a:picLocks noChangeAspect="1"/>
          </p:cNvPicPr>
          <p:nvPr/>
        </p:nvPicPr>
        <p:blipFill>
          <a:blip r:embed="rId2"/>
          <a:srcRect l="1185" r="3325"/>
          <a:stretch>
            <a:fillRect/>
          </a:stretch>
        </p:blipFill>
        <p:spPr>
          <a:xfrm>
            <a:off x="0" y="1284829"/>
            <a:ext cx="12192000" cy="5362513"/>
          </a:xfrm>
          <a:prstGeom prst="rect">
            <a:avLst/>
          </a:prstGeom>
        </p:spPr>
      </p:pic>
      <p:sp>
        <p:nvSpPr>
          <p:cNvPr id="14" name="Rectangle 13">
            <a:extLst>
              <a:ext uri="{FF2B5EF4-FFF2-40B4-BE49-F238E27FC236}">
                <a16:creationId xmlns:a16="http://schemas.microsoft.com/office/drawing/2014/main" id="{5D8C4086-EE87-CCB6-ADE0-FA5CF0EE37C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104958BF-7E10-148A-4837-4C33334C81F4}"/>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727249E-B896-19E8-40E3-C1B140EF9125}"/>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99225A61-711F-CFA7-0D88-7E3BBCBAD6E1}"/>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1F866C89-2339-416F-FF85-81A7E1B5511F}"/>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Plan A </a:t>
            </a:r>
            <a:r>
              <a:rPr lang="en-US" sz="2783" b="1" spc="-28" dirty="0">
                <a:solidFill>
                  <a:srgbClr val="23373B"/>
                </a:solidFill>
                <a:latin typeface="Noto Sans Display"/>
                <a:sym typeface="Wingdings" panose="05000000000000000000" pitchFamily="2" charset="2"/>
              </a:rPr>
              <a:t> Plan B</a:t>
            </a:r>
            <a:r>
              <a:rPr lang="en-US" sz="2783" b="1" spc="-28" dirty="0">
                <a:solidFill>
                  <a:srgbClr val="23373B"/>
                </a:solidFill>
                <a:latin typeface="Noto Sans Display"/>
              </a:rPr>
              <a:t> : Make the measurement at thermal</a:t>
            </a:r>
          </a:p>
        </p:txBody>
      </p:sp>
      <p:sp>
        <p:nvSpPr>
          <p:cNvPr id="12" name="TextBox 11">
            <a:extLst>
              <a:ext uri="{FF2B5EF4-FFF2-40B4-BE49-F238E27FC236}">
                <a16:creationId xmlns:a16="http://schemas.microsoft.com/office/drawing/2014/main" id="{BF9DD991-1360-5E15-BCCB-5A647F34A34F}"/>
              </a:ext>
            </a:extLst>
          </p:cNvPr>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14.2 / 25</a:t>
            </a:r>
            <a:endParaRPr sz="719" b="0" i="0" spc="58">
              <a:solidFill>
                <a:srgbClr val="5D7176"/>
              </a:solidFill>
              <a:latin typeface="Noto Sans"/>
            </a:endParaRPr>
          </a:p>
        </p:txBody>
      </p:sp>
      <p:sp>
        <p:nvSpPr>
          <p:cNvPr id="8" name="Callout Card">
            <a:extLst>
              <a:ext uri="{FF2B5EF4-FFF2-40B4-BE49-F238E27FC236}">
                <a16:creationId xmlns:a16="http://schemas.microsoft.com/office/drawing/2014/main" id="{2B079342-D113-CC4E-D42F-03F737C65406}"/>
              </a:ext>
            </a:extLst>
          </p:cNvPr>
          <p:cNvSpPr/>
          <p:nvPr/>
        </p:nvSpPr>
        <p:spPr>
          <a:xfrm>
            <a:off x="5037623" y="2872875"/>
            <a:ext cx="4064000" cy="1371600"/>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2" name="TextBox 1">
            <a:extLst>
              <a:ext uri="{FF2B5EF4-FFF2-40B4-BE49-F238E27FC236}">
                <a16:creationId xmlns:a16="http://schemas.microsoft.com/office/drawing/2014/main" id="{6CECBF39-CB14-D5E6-4BD7-BBC3AFFF0475}"/>
              </a:ext>
            </a:extLst>
          </p:cNvPr>
          <p:cNvSpPr txBox="1"/>
          <p:nvPr/>
        </p:nvSpPr>
        <p:spPr>
          <a:xfrm>
            <a:off x="5164623" y="2951750"/>
            <a:ext cx="3810000" cy="1261884"/>
          </a:xfrm>
          <a:prstGeom prst="rect">
            <a:avLst/>
          </a:prstGeom>
          <a:noFill/>
        </p:spPr>
        <p:txBody>
          <a:bodyPr wrap="square" rtlCol="0">
            <a:spAutoFit/>
          </a:bodyPr>
          <a:lstStyle/>
          <a:p>
            <a:pPr algn="ctr"/>
            <a:r>
              <a:rPr lang="en-US" dirty="0">
                <a:solidFill>
                  <a:srgbClr val="404040"/>
                </a:solidFill>
              </a:rPr>
              <a:t>Nothing we tried could recover high energy measurement before July.</a:t>
            </a:r>
            <a:br>
              <a:rPr lang="en-US" dirty="0"/>
            </a:br>
            <a:r>
              <a:rPr lang="en-US" sz="2000" b="1" dirty="0">
                <a:solidFill>
                  <a:srgbClr val="EB811B"/>
                </a:solidFill>
              </a:rPr>
              <a:t>Let’s take the statistics hit and measure at thermal</a:t>
            </a:r>
          </a:p>
        </p:txBody>
      </p:sp>
      <p:pic>
        <p:nvPicPr>
          <p:cNvPr id="10" name="Picture 9">
            <a:extLst>
              <a:ext uri="{FF2B5EF4-FFF2-40B4-BE49-F238E27FC236}">
                <a16:creationId xmlns:a16="http://schemas.microsoft.com/office/drawing/2014/main" id="{C0429ED2-D6B3-23F8-9021-B6782C9A0303}"/>
              </a:ext>
            </a:extLst>
          </p:cNvPr>
          <p:cNvPicPr>
            <a:picLocks noChangeAspect="1"/>
          </p:cNvPicPr>
          <p:nvPr/>
        </p:nvPicPr>
        <p:blipFill>
          <a:blip r:embed="rId3"/>
          <a:srcRect l="4344" t="3159" r="7307" b="77016"/>
          <a:stretch>
            <a:fillRect/>
          </a:stretch>
        </p:blipFill>
        <p:spPr>
          <a:xfrm>
            <a:off x="529591" y="5913946"/>
            <a:ext cx="10771632" cy="819609"/>
          </a:xfrm>
          <a:prstGeom prst="rect">
            <a:avLst/>
          </a:prstGeom>
        </p:spPr>
      </p:pic>
      <p:sp>
        <p:nvSpPr>
          <p:cNvPr id="15" name="Rectangle 14">
            <a:extLst>
              <a:ext uri="{FF2B5EF4-FFF2-40B4-BE49-F238E27FC236}">
                <a16:creationId xmlns:a16="http://schemas.microsoft.com/office/drawing/2014/main" id="{F1DA159A-FFA5-49E3-F40D-7B6E32B21CC2}"/>
              </a:ext>
            </a:extLst>
          </p:cNvPr>
          <p:cNvSpPr/>
          <p:nvPr/>
        </p:nvSpPr>
        <p:spPr>
          <a:xfrm>
            <a:off x="6930188" y="5783302"/>
            <a:ext cx="2085415" cy="1056669"/>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91248F7-8319-2A41-81A5-66F1A400A2D4}"/>
              </a:ext>
            </a:extLst>
          </p:cNvPr>
          <p:cNvSpPr/>
          <p:nvPr/>
        </p:nvSpPr>
        <p:spPr>
          <a:xfrm>
            <a:off x="9015604" y="5926643"/>
            <a:ext cx="2285617" cy="913327"/>
          </a:xfrm>
          <a:prstGeom prst="rect">
            <a:avLst/>
          </a:prstGeom>
          <a:solidFill>
            <a:srgbClr val="EAEAEA">
              <a:alpha val="2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98ED2E02-9AE3-5006-3DB1-A51FA68D58C2}"/>
              </a:ext>
            </a:extLst>
          </p:cNvPr>
          <p:cNvSpPr/>
          <p:nvPr/>
        </p:nvSpPr>
        <p:spPr>
          <a:xfrm>
            <a:off x="7770764" y="5913946"/>
            <a:ext cx="202131" cy="522372"/>
          </a:xfrm>
          <a:prstGeom prst="downArrow">
            <a:avLst>
              <a:gd name="adj1" fmla="val 50000"/>
              <a:gd name="adj2" fmla="val 89269"/>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D4266CC-1538-4738-635E-70CCC0577E83}"/>
              </a:ext>
            </a:extLst>
          </p:cNvPr>
          <p:cNvSpPr/>
          <p:nvPr/>
        </p:nvSpPr>
        <p:spPr>
          <a:xfrm>
            <a:off x="745480" y="5913945"/>
            <a:ext cx="6062889" cy="926026"/>
          </a:xfrm>
          <a:prstGeom prst="rect">
            <a:avLst/>
          </a:prstGeom>
          <a:solidFill>
            <a:srgbClr val="EAEAEA">
              <a:alpha val="60000"/>
            </a:srgbClr>
          </a:solidFill>
          <a:ln w="381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E7EA79B9-543D-62B7-E957-F117414E65FB}"/>
              </a:ext>
            </a:extLst>
          </p:cNvPr>
          <p:cNvSpPr/>
          <p:nvPr/>
        </p:nvSpPr>
        <p:spPr>
          <a:xfrm rot="16200000">
            <a:off x="8639934" y="5870858"/>
            <a:ext cx="202131" cy="1333052"/>
          </a:xfrm>
          <a:prstGeom prst="downArrow">
            <a:avLst>
              <a:gd name="adj1" fmla="val 50000"/>
              <a:gd name="adj2" fmla="val 89269"/>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DBD2359-5011-BAD3-BF66-8C3D1C59B41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Rectangle 12">
            <a:extLst>
              <a:ext uri="{FF2B5EF4-FFF2-40B4-BE49-F238E27FC236}">
                <a16:creationId xmlns:a16="http://schemas.microsoft.com/office/drawing/2014/main" id="{AB7D0688-EE7A-C6B3-D08C-DF49262BCDF8}"/>
              </a:ext>
            </a:extLst>
          </p:cNvPr>
          <p:cNvSpPr/>
          <p:nvPr/>
        </p:nvSpPr>
        <p:spPr>
          <a:xfrm>
            <a:off x="9204970" y="1527647"/>
            <a:ext cx="2968558" cy="4398996"/>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5652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3C33-3D9D-3CC4-D29A-EA96CC33B6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46C472-CB6E-7AA7-AB12-DB4F74BE4E97}"/>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F2621870-F3E2-D68E-92F4-7334944D249A}"/>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C0CE05C-8250-58D8-85B5-3709F13C3A65}"/>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a:solidFill>
                  <a:srgbClr val="23373B"/>
                </a:solidFill>
                <a:latin typeface="Noto Sans Display"/>
              </a:rPr>
              <a:t>Plan B: the Problem with Thermals</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03A1D583-2B15-36F3-52F4-F88FBBD2ED5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a:solidFill>
                  <a:srgbClr val="5D7176"/>
                </a:solidFill>
                <a:latin typeface="Noto Sans"/>
              </a:rPr>
              <a:t>What Geant4 told us in July, with the run under way</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0E143E51-3359-8346-36AC-28442E8C829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12BB3036-4344-A80C-7B80-31366908714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738039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C8396-DC9E-E87A-7328-A3C0FA08FE4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7590DD8-1D65-8584-E8E9-D797D6B5D5B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D13A9A2-7296-DEC7-A35B-8FA48D207C89}"/>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255EB053-7CE7-6254-73B1-B0C9DD01ABA5}"/>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A2C933BE-DFEC-5C15-1AF0-BE2523067813}"/>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Problem: (n, p) dominates!</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DBEBEC7B-9A2A-0C42-A2C6-8C8AED65F29F}"/>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16 / 25</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2592E237-4B1A-34DE-51D8-0387B7E8FC2F}"/>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D0FA24D8-F457-C319-0553-49D8B0802B9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7">
            <a:extLst>
              <a:ext uri="{FF2B5EF4-FFF2-40B4-BE49-F238E27FC236}">
                <a16:creationId xmlns:a16="http://schemas.microsoft.com/office/drawing/2014/main" id="{69D80974-13C7-26B3-AE28-F394274BB7B7}"/>
              </a:ext>
            </a:extLst>
          </p:cNvPr>
          <p:cNvPicPr>
            <a:picLocks noChangeAspect="1"/>
          </p:cNvPicPr>
          <p:nvPr/>
        </p:nvPicPr>
        <p:blipFill>
          <a:blip r:embed="rId2"/>
          <a:stretch>
            <a:fillRect/>
          </a:stretch>
        </p:blipFill>
        <p:spPr>
          <a:xfrm>
            <a:off x="0" y="1257300"/>
            <a:ext cx="12192000" cy="5255060"/>
          </a:xfrm>
          <a:prstGeom prst="rect">
            <a:avLst/>
          </a:prstGeom>
        </p:spPr>
      </p:pic>
    </p:spTree>
    <p:extLst>
      <p:ext uri="{BB962C8B-B14F-4D97-AF65-F5344CB8AC3E}">
        <p14:creationId xmlns:p14="http://schemas.microsoft.com/office/powerpoint/2010/main" val="1895441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66BB7-2105-C1C4-3E89-4C19A175EBE7}"/>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189F42DE-D330-EFD3-157D-75D28CF7128E}"/>
              </a:ext>
            </a:extLst>
          </p:cNvPr>
          <p:cNvGrpSpPr/>
          <p:nvPr/>
        </p:nvGrpSpPr>
        <p:grpSpPr>
          <a:xfrm>
            <a:off x="0" y="1460140"/>
            <a:ext cx="12192000" cy="5196446"/>
            <a:chOff x="0" y="1460140"/>
            <a:chExt cx="12192000" cy="5196446"/>
          </a:xfrm>
        </p:grpSpPr>
        <p:pic>
          <p:nvPicPr>
            <p:cNvPr id="28" name="Picture 27">
              <a:extLst>
                <a:ext uri="{FF2B5EF4-FFF2-40B4-BE49-F238E27FC236}">
                  <a16:creationId xmlns:a16="http://schemas.microsoft.com/office/drawing/2014/main" id="{004F21D5-E976-FB20-B30F-84936C11C738}"/>
                </a:ext>
              </a:extLst>
            </p:cNvPr>
            <p:cNvPicPr>
              <a:picLocks noChangeAspect="1"/>
            </p:cNvPicPr>
            <p:nvPr/>
          </p:nvPicPr>
          <p:blipFill>
            <a:blip r:embed="rId2"/>
            <a:srcRect t="8502"/>
            <a:stretch>
              <a:fillRect/>
            </a:stretch>
          </p:blipFill>
          <p:spPr>
            <a:xfrm>
              <a:off x="0" y="1460140"/>
              <a:ext cx="12192000" cy="5196446"/>
            </a:xfrm>
            <a:prstGeom prst="rect">
              <a:avLst/>
            </a:prstGeom>
          </p:spPr>
        </p:pic>
        <p:sp>
          <p:nvSpPr>
            <p:cNvPr id="2" name="Rectangle 1">
              <a:extLst>
                <a:ext uri="{FF2B5EF4-FFF2-40B4-BE49-F238E27FC236}">
                  <a16:creationId xmlns:a16="http://schemas.microsoft.com/office/drawing/2014/main" id="{6D57BEC4-3E6F-099B-3E28-1D982B5B1FB4}"/>
                </a:ext>
              </a:extLst>
            </p:cNvPr>
            <p:cNvSpPr/>
            <p:nvPr/>
          </p:nvSpPr>
          <p:spPr>
            <a:xfrm>
              <a:off x="6660681" y="1501882"/>
              <a:ext cx="1224375" cy="227757"/>
            </a:xfrm>
            <a:prstGeom prst="rect">
              <a:avLst/>
            </a:prstGeom>
            <a:solidFill>
              <a:srgbClr val="FBFCF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 name="Rectangle 2">
            <a:extLst>
              <a:ext uri="{FF2B5EF4-FFF2-40B4-BE49-F238E27FC236}">
                <a16:creationId xmlns:a16="http://schemas.microsoft.com/office/drawing/2014/main" id="{82726658-C34A-0BCB-F341-D6E1D39C02E7}"/>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6D6E7F3-A9DE-8CD3-4FE2-C2C637964323}"/>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42D4218E-E35F-A4E2-5806-794A4ED0D14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4D74FE6-978E-6DD9-A760-D1014AD89A13}"/>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a:solidFill>
                  <a:srgbClr val="23373B"/>
                </a:solidFill>
                <a:latin typeface="Noto Sans Display"/>
              </a:rPr>
              <a:t>Self-shielded: (n, p) takes the neutrons</a:t>
            </a:r>
            <a:endParaRPr lang="en-US" sz="2783" b="1" spc="-28" dirty="0">
              <a:solidFill>
                <a:srgbClr val="23373B"/>
              </a:solidFill>
              <a:latin typeface="Noto Sans Display"/>
            </a:endParaRPr>
          </a:p>
        </p:txBody>
      </p:sp>
      <p:sp>
        <p:nvSpPr>
          <p:cNvPr id="12" name="TextBox 11">
            <a:extLst>
              <a:ext uri="{FF2B5EF4-FFF2-40B4-BE49-F238E27FC236}">
                <a16:creationId xmlns:a16="http://schemas.microsoft.com/office/drawing/2014/main" id="{0D3EB9A3-9F0E-CE8B-039F-1DDC2650324E}"/>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17 / 25</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CF44DA0D-5C72-D8A0-E536-03C373DFB7B3}"/>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5E1A6895-4DBE-529D-EB22-11A07A573F1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29" name="Group 28">
            <a:extLst>
              <a:ext uri="{FF2B5EF4-FFF2-40B4-BE49-F238E27FC236}">
                <a16:creationId xmlns:a16="http://schemas.microsoft.com/office/drawing/2014/main" id="{26FBB8E2-26F2-466F-4B54-4E19C524F231}"/>
              </a:ext>
            </a:extLst>
          </p:cNvPr>
          <p:cNvGrpSpPr/>
          <p:nvPr/>
        </p:nvGrpSpPr>
        <p:grpSpPr>
          <a:xfrm>
            <a:off x="7677727" y="145591"/>
            <a:ext cx="4416752" cy="878537"/>
            <a:chOff x="7086600" y="5620307"/>
            <a:chExt cx="4416752" cy="878537"/>
          </a:xfrm>
        </p:grpSpPr>
        <p:pic>
          <p:nvPicPr>
            <p:cNvPr id="13" name="Picture 12">
              <a:extLst>
                <a:ext uri="{FF2B5EF4-FFF2-40B4-BE49-F238E27FC236}">
                  <a16:creationId xmlns:a16="http://schemas.microsoft.com/office/drawing/2014/main" id="{B7EE2EBC-BA51-C3B4-A7C1-41DEE2ECA5B0}"/>
                </a:ext>
              </a:extLst>
            </p:cNvPr>
            <p:cNvPicPr>
              <a:picLocks noChangeAspect="1"/>
            </p:cNvPicPr>
            <p:nvPr/>
          </p:nvPicPr>
          <p:blipFill>
            <a:blip r:embed="rId3"/>
            <a:srcRect l="56466" t="3159" r="7307" b="77016"/>
            <a:stretch>
              <a:fillRect/>
            </a:stretch>
          </p:blipFill>
          <p:spPr>
            <a:xfrm>
              <a:off x="7086600" y="5679235"/>
              <a:ext cx="4416752" cy="819609"/>
            </a:xfrm>
            <a:prstGeom prst="rect">
              <a:avLst/>
            </a:prstGeom>
          </p:spPr>
        </p:pic>
        <p:sp>
          <p:nvSpPr>
            <p:cNvPr id="17" name="Arrow: Down 16">
              <a:extLst>
                <a:ext uri="{FF2B5EF4-FFF2-40B4-BE49-F238E27FC236}">
                  <a16:creationId xmlns:a16="http://schemas.microsoft.com/office/drawing/2014/main" id="{935884D1-27C0-EA47-9B27-238AD5A11896}"/>
                </a:ext>
              </a:extLst>
            </p:cNvPr>
            <p:cNvSpPr/>
            <p:nvPr/>
          </p:nvSpPr>
          <p:spPr>
            <a:xfrm>
              <a:off x="9016564" y="5620307"/>
              <a:ext cx="202131" cy="522372"/>
            </a:xfrm>
            <a:prstGeom prst="downArrow">
              <a:avLst>
                <a:gd name="adj1" fmla="val 50000"/>
                <a:gd name="adj2" fmla="val 89269"/>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0AE303BA-1331-E61A-9465-8991AAD6CB71}"/>
                </a:ext>
              </a:extLst>
            </p:cNvPr>
            <p:cNvSpPr/>
            <p:nvPr/>
          </p:nvSpPr>
          <p:spPr>
            <a:xfrm rot="16200000">
              <a:off x="8842064" y="5627003"/>
              <a:ext cx="202131" cy="1333052"/>
            </a:xfrm>
            <a:prstGeom prst="downArrow">
              <a:avLst>
                <a:gd name="adj1" fmla="val 50000"/>
                <a:gd name="adj2" fmla="val 89269"/>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grpSp>
      <p:sp>
        <p:nvSpPr>
          <p:cNvPr id="23" name="Callout Card">
            <a:extLst>
              <a:ext uri="{FF2B5EF4-FFF2-40B4-BE49-F238E27FC236}">
                <a16:creationId xmlns:a16="http://schemas.microsoft.com/office/drawing/2014/main" id="{5B85BA90-9E25-BD5F-ED20-B6F59EACC12E}"/>
              </a:ext>
            </a:extLst>
          </p:cNvPr>
          <p:cNvSpPr/>
          <p:nvPr/>
        </p:nvSpPr>
        <p:spPr>
          <a:xfrm>
            <a:off x="8239430" y="1168400"/>
            <a:ext cx="3598197" cy="786215"/>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26" name="TextBox 25">
            <a:extLst>
              <a:ext uri="{FF2B5EF4-FFF2-40B4-BE49-F238E27FC236}">
                <a16:creationId xmlns:a16="http://schemas.microsoft.com/office/drawing/2014/main" id="{A74DF18D-4A42-3F98-15C7-253619DFFF1A}"/>
              </a:ext>
            </a:extLst>
          </p:cNvPr>
          <p:cNvSpPr txBox="1"/>
          <p:nvPr/>
        </p:nvSpPr>
        <p:spPr>
          <a:xfrm>
            <a:off x="8239430" y="1224666"/>
            <a:ext cx="3598197" cy="677108"/>
          </a:xfrm>
          <a:prstGeom prst="rect">
            <a:avLst/>
          </a:prstGeom>
          <a:noFill/>
        </p:spPr>
        <p:txBody>
          <a:bodyPr wrap="square" rtlCol="0">
            <a:spAutoFit/>
          </a:bodyPr>
          <a:lstStyle/>
          <a:p>
            <a:pPr algn="ctr"/>
            <a:r>
              <a:rPr lang="en-US" dirty="0">
                <a:solidFill>
                  <a:srgbClr val="404040"/>
                </a:solidFill>
              </a:rPr>
              <a:t>Plan B also fails</a:t>
            </a:r>
          </a:p>
          <a:p>
            <a:pPr algn="ctr"/>
            <a:r>
              <a:rPr lang="en-US" sz="2000" b="1" dirty="0">
                <a:solidFill>
                  <a:srgbClr val="EB811B"/>
                </a:solidFill>
              </a:rPr>
              <a:t>Plan C: measure what we can</a:t>
            </a:r>
          </a:p>
        </p:txBody>
      </p:sp>
    </p:spTree>
    <p:extLst>
      <p:ext uri="{BB962C8B-B14F-4D97-AF65-F5344CB8AC3E}">
        <p14:creationId xmlns:p14="http://schemas.microsoft.com/office/powerpoint/2010/main" val="1129927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496F-A6FE-40B8-D67C-A12CBB303FA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CDB371A-F3CF-C0A6-AC50-CD09C246C8C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B2BA9658-56F5-A968-45A6-37DB30FA42F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AEF927EC-8142-3803-6D22-8951E9ED317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5C04C83A-A901-D509-D246-0192141914D4}"/>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What self-shielding leaves of the thermal X17 rate</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D8ACFC66-D92A-522C-821B-630355FD537E}"/>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18 / 25</a:t>
            </a:r>
            <a:endParaRPr sz="719" b="0" i="0" spc="58">
              <a:solidFill>
                <a:srgbClr val="5D7176"/>
              </a:solidFill>
              <a:latin typeface="Noto Sans"/>
            </a:endParaRPr>
          </a:p>
        </p:txBody>
      </p:sp>
      <p:sp>
        <p:nvSpPr>
          <p:cNvPr id="11" name="TextBox 10">
            <a:extLst>
              <a:ext uri="{FF2B5EF4-FFF2-40B4-BE49-F238E27FC236}">
                <a16:creationId xmlns:a16="http://schemas.microsoft.com/office/drawing/2014/main" id="{20A130FC-6699-38DD-F19B-CC93916A5634}"/>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Rectangle 23">
            <a:extLst>
              <a:ext uri="{FF2B5EF4-FFF2-40B4-BE49-F238E27FC236}">
                <a16:creationId xmlns:a16="http://schemas.microsoft.com/office/drawing/2014/main" id="{FB031C7E-CDD5-1575-A10A-3D9606AD847D}"/>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7" name="Picture 6">
            <a:extLst>
              <a:ext uri="{FF2B5EF4-FFF2-40B4-BE49-F238E27FC236}">
                <a16:creationId xmlns:a16="http://schemas.microsoft.com/office/drawing/2014/main" id="{EB3BC0BA-ADD8-7F94-335F-B06F64B6B939}"/>
              </a:ext>
            </a:extLst>
          </p:cNvPr>
          <p:cNvPicPr>
            <a:picLocks noChangeAspect="1"/>
          </p:cNvPicPr>
          <p:nvPr/>
        </p:nvPicPr>
        <p:blipFill>
          <a:blip r:embed="rId2"/>
          <a:stretch>
            <a:fillRect/>
          </a:stretch>
        </p:blipFill>
        <p:spPr>
          <a:xfrm>
            <a:off x="0" y="1334651"/>
            <a:ext cx="12192000" cy="5120640"/>
          </a:xfrm>
          <a:prstGeom prst="rect">
            <a:avLst/>
          </a:prstGeom>
        </p:spPr>
      </p:pic>
      <p:sp>
        <p:nvSpPr>
          <p:cNvPr id="2" name="Shielding Card">
            <a:extLst>
              <a:ext uri="{FF2B5EF4-FFF2-40B4-BE49-F238E27FC236}">
                <a16:creationId xmlns:a16="http://schemas.microsoft.com/office/drawing/2014/main" id="{69BD84F5-941D-373F-CDAA-C203B042BDA8}"/>
              </a:ext>
            </a:extLst>
          </p:cNvPr>
          <p:cNvSpPr/>
          <p:nvPr/>
        </p:nvSpPr>
        <p:spPr>
          <a:xfrm>
            <a:off x="5750230" y="2216355"/>
            <a:ext cx="4495800" cy="1603583"/>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8" name="Shielding Text">
            <a:extLst>
              <a:ext uri="{FF2B5EF4-FFF2-40B4-BE49-F238E27FC236}">
                <a16:creationId xmlns:a16="http://schemas.microsoft.com/office/drawing/2014/main" id="{FE0571DD-1DA2-1CC0-3417-6ACE18404F1E}"/>
              </a:ext>
            </a:extLst>
          </p:cNvPr>
          <p:cNvSpPr txBox="1"/>
          <p:nvPr/>
        </p:nvSpPr>
        <p:spPr>
          <a:xfrm>
            <a:off x="5902630" y="2317955"/>
            <a:ext cx="4191000" cy="1400383"/>
          </a:xfrm>
          <a:prstGeom prst="rect">
            <a:avLst/>
          </a:prstGeom>
          <a:noFill/>
        </p:spPr>
        <p:txBody>
          <a:bodyPr wrap="square" rtlCol="0">
            <a:spAutoFit/>
          </a:bodyPr>
          <a:lstStyle/>
          <a:p>
            <a:pPr algn="ctr"/>
            <a:r>
              <a:rPr lang="en-US" sz="1500" dirty="0">
                <a:solidFill>
                  <a:srgbClr val="404040"/>
                </a:solidFill>
              </a:rPr>
              <a:t>Thermal window (0.01–0.1 eV)</a:t>
            </a:r>
          </a:p>
          <a:p>
            <a:pPr algn="ctr"/>
            <a:r>
              <a:rPr lang="en-US" sz="2600" b="1" dirty="0">
                <a:solidFill>
                  <a:srgbClr val="EB811B"/>
                </a:solidFill>
              </a:rPr>
              <a:t>4.4 → 0.07 X17 / day</a:t>
            </a:r>
          </a:p>
          <a:p>
            <a:pPr algn="ctr"/>
            <a:r>
              <a:rPr lang="en-US" sz="1500" dirty="0">
                <a:solidFill>
                  <a:srgbClr val="EB811B"/>
                </a:solidFill>
              </a:rPr>
              <a:t>self-shielding: ×60 fewer</a:t>
            </a:r>
          </a:p>
          <a:p>
            <a:pPr algn="ctr">
              <a:spcBef>
                <a:spcPts val="600"/>
              </a:spcBef>
            </a:pPr>
            <a:r>
              <a:rPr lang="en-US" sz="1200" dirty="0">
                <a:solidFill>
                  <a:srgbClr val="404040"/>
                </a:solidFill>
              </a:rPr>
              <a:t>Whole campaign, 436k pulses: </a:t>
            </a:r>
            <a:br>
              <a:rPr lang="en-US" sz="1200" dirty="0">
                <a:solidFill>
                  <a:srgbClr val="404040"/>
                </a:solidFill>
              </a:rPr>
            </a:br>
            <a:r>
              <a:rPr lang="en-US" sz="1200" dirty="0">
                <a:solidFill>
                  <a:srgbClr val="404040"/>
                </a:solidFill>
              </a:rPr>
              <a:t>≈ 100 → ≈ 2 X17 made, before acceptance</a:t>
            </a:r>
          </a:p>
        </p:txBody>
      </p:sp>
    </p:spTree>
    <p:extLst>
      <p:ext uri="{BB962C8B-B14F-4D97-AF65-F5344CB8AC3E}">
        <p14:creationId xmlns:p14="http://schemas.microsoft.com/office/powerpoint/2010/main" val="2681546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E3C33-3D9D-3CC4-D29A-EA96CC33B6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D46C472-CB6E-7AA7-AB12-DB4F74BE4E97}"/>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F2621870-F3E2-D68E-92F4-7334944D249A}"/>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C0CE05C-8250-58D8-85B5-3709F13C3A65}"/>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a:solidFill>
                  <a:srgbClr val="23373B"/>
                </a:solidFill>
                <a:latin typeface="Noto Sans Display"/>
              </a:rPr>
              <a:t>Plan C: the Aluminum Spectrum</a:t>
            </a:r>
            <a:endParaRPr sz="4320" b="1" i="0" spc="86" dirty="0">
              <a:solidFill>
                <a:srgbClr val="23373B"/>
              </a:solidFill>
              <a:latin typeface="Noto Sans Display"/>
            </a:endParaRPr>
          </a:p>
        </p:txBody>
      </p:sp>
      <p:sp>
        <p:nvSpPr>
          <p:cNvPr id="6" name="TextBox 5">
            <a:extLst>
              <a:ext uri="{FF2B5EF4-FFF2-40B4-BE49-F238E27FC236}">
                <a16:creationId xmlns:a16="http://schemas.microsoft.com/office/drawing/2014/main" id="{03A1D583-2B15-36F3-52F4-F88FBBD2ED5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lang="en-US" sz="2000" b="0" i="0">
                <a:solidFill>
                  <a:srgbClr val="5D7176"/>
                </a:solidFill>
                <a:latin typeface="Noto Sans"/>
              </a:rPr>
              <a:t>Not X17, but the e⁺e⁻ pairs the capsule does make</a:t>
            </a:r>
            <a:endParaRPr sz="2000" b="0" i="0" dirty="0">
              <a:solidFill>
                <a:srgbClr val="5D7176"/>
              </a:solidFill>
              <a:latin typeface="Noto Sans"/>
            </a:endParaRPr>
          </a:p>
        </p:txBody>
      </p:sp>
      <p:sp>
        <p:nvSpPr>
          <p:cNvPr id="7" name="TextBox 6">
            <a:extLst>
              <a:ext uri="{FF2B5EF4-FFF2-40B4-BE49-F238E27FC236}">
                <a16:creationId xmlns:a16="http://schemas.microsoft.com/office/drawing/2014/main" id="{0E143E51-3359-8346-36AC-28442E8C829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12BB3036-4344-A80C-7B80-31366908714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660797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E8E7E-7740-E7B8-F695-663F1C65840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C488A4E-E3E1-DDF5-155E-5EB709DCCCCD}"/>
              </a:ext>
            </a:extLst>
          </p:cNvPr>
          <p:cNvPicPr>
            <a:picLocks noChangeAspect="1"/>
          </p:cNvPicPr>
          <p:nvPr/>
        </p:nvPicPr>
        <p:blipFill>
          <a:blip r:embed="rId2"/>
          <a:srcRect t="7621"/>
          <a:stretch>
            <a:fillRect/>
          </a:stretch>
        </p:blipFill>
        <p:spPr>
          <a:xfrm>
            <a:off x="-1" y="1415859"/>
            <a:ext cx="12192000" cy="5246504"/>
          </a:xfrm>
          <a:prstGeom prst="rect">
            <a:avLst/>
          </a:prstGeom>
        </p:spPr>
      </p:pic>
      <p:sp>
        <p:nvSpPr>
          <p:cNvPr id="3" name="Rectangle 2">
            <a:extLst>
              <a:ext uri="{FF2B5EF4-FFF2-40B4-BE49-F238E27FC236}">
                <a16:creationId xmlns:a16="http://schemas.microsoft.com/office/drawing/2014/main" id="{C836A204-8996-7ED0-1AA9-548CA6C4ACCC}"/>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609C1EB-8637-7A03-74B2-9EE9BD0A4038}"/>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Plan C · What we expect</a:t>
            </a:r>
          </a:p>
        </p:txBody>
      </p:sp>
      <p:sp>
        <p:nvSpPr>
          <p:cNvPr id="5" name="Rectangle 4">
            <a:extLst>
              <a:ext uri="{FF2B5EF4-FFF2-40B4-BE49-F238E27FC236}">
                <a16:creationId xmlns:a16="http://schemas.microsoft.com/office/drawing/2014/main" id="{01CAAF9C-DA55-87E1-B313-AAF6FD3261F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90141AA8-43CA-D2A5-35B9-B846C4A6321D}"/>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Plan C: the aluminum pair spectrum at thermals</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EA448152-6AA4-3BA7-CEC8-21A7ED0E441F}"/>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26EAFF3F-4A0A-DF32-3C84-A729CA78C42E}"/>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20 / 25</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EF12ECDE-4F77-FBF7-32FD-BF38C40360A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Aluminium Card">
            <a:extLst>
              <a:ext uri="{FF2B5EF4-FFF2-40B4-BE49-F238E27FC236}">
                <a16:creationId xmlns:a16="http://schemas.microsoft.com/office/drawing/2014/main" id="{D9CD8E68-B163-9A0C-7E46-DA25D12B40A9}"/>
              </a:ext>
            </a:extLst>
          </p:cNvPr>
          <p:cNvSpPr/>
          <p:nvPr/>
        </p:nvSpPr>
        <p:spPr>
          <a:xfrm>
            <a:off x="7039894" y="5181853"/>
            <a:ext cx="4200832" cy="1193959"/>
          </a:xfrm>
          <a:prstGeom prst="roundRect">
            <a:avLst/>
          </a:prstGeom>
          <a:solidFill>
            <a:srgbClr val="FDF0E4"/>
          </a:solidFill>
          <a:ln w="15875" cap="flat" cmpd="sng" algn="ctr">
            <a:solidFill>
              <a:srgbClr val="EB811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sz="2800"/>
          </a:p>
        </p:txBody>
      </p:sp>
      <p:sp>
        <p:nvSpPr>
          <p:cNvPr id="8" name="Aluminium Text">
            <a:extLst>
              <a:ext uri="{FF2B5EF4-FFF2-40B4-BE49-F238E27FC236}">
                <a16:creationId xmlns:a16="http://schemas.microsoft.com/office/drawing/2014/main" id="{8E87398A-F42D-1E0B-EA19-C8EADE7BEB49}"/>
              </a:ext>
            </a:extLst>
          </p:cNvPr>
          <p:cNvSpPr txBox="1"/>
          <p:nvPr/>
        </p:nvSpPr>
        <p:spPr>
          <a:xfrm>
            <a:off x="7125276" y="5258053"/>
            <a:ext cx="3963049" cy="1066959"/>
          </a:xfrm>
          <a:prstGeom prst="rect">
            <a:avLst/>
          </a:prstGeom>
          <a:noFill/>
        </p:spPr>
        <p:txBody>
          <a:bodyPr wrap="square" rtlCol="0">
            <a:spAutoFit/>
          </a:bodyPr>
          <a:lstStyle/>
          <a:p>
            <a:pPr algn="ctr"/>
            <a:r>
              <a:rPr lang="en-US" sz="1400" dirty="0">
                <a:solidFill>
                  <a:srgbClr val="404040"/>
                </a:solidFill>
              </a:rPr>
              <a:t>No X17 here — not even ³He IPC</a:t>
            </a:r>
          </a:p>
          <a:p>
            <a:pPr algn="ctr"/>
            <a:r>
              <a:rPr lang="en-US" sz="2000" b="1" dirty="0">
                <a:solidFill>
                  <a:srgbClr val="EB811B"/>
                </a:solidFill>
              </a:rPr>
              <a:t>But ≈ 10⁸ ²⁷Al </a:t>
            </a:r>
            <a:r>
              <a:rPr lang="en-US" sz="2000" b="1" dirty="0" err="1">
                <a:solidFill>
                  <a:srgbClr val="EB811B"/>
                </a:solidFill>
              </a:rPr>
              <a:t>e⁺e</a:t>
            </a:r>
            <a:r>
              <a:rPr lang="en-US" sz="2000" b="1" dirty="0">
                <a:solidFill>
                  <a:srgbClr val="EB811B"/>
                </a:solidFill>
              </a:rPr>
              <a:t>⁻ pairs / 30 days</a:t>
            </a:r>
          </a:p>
          <a:p>
            <a:pPr algn="ctr">
              <a:spcBef>
                <a:spcPts val="400"/>
              </a:spcBef>
            </a:pPr>
            <a:r>
              <a:rPr lang="en-US" sz="1300" dirty="0">
                <a:solidFill>
                  <a:srgbClr val="404040"/>
                </a:solidFill>
              </a:rPr>
              <a:t>A demonstrator: if we can find these pairs, the same setup should work for X17 in future</a:t>
            </a:r>
          </a:p>
        </p:txBody>
      </p:sp>
    </p:spTree>
    <p:extLst>
      <p:ext uri="{BB962C8B-B14F-4D97-AF65-F5344CB8AC3E}">
        <p14:creationId xmlns:p14="http://schemas.microsoft.com/office/powerpoint/2010/main" val="4139309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580"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580"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41.8 M</a:t>
            </a:r>
          </a:p>
        </p:txBody>
      </p:sp>
      <p:sp>
        <p:nvSpPr>
          <p:cNvPr id="10" name="TextBox 9"/>
          <p:cNvSpPr txBox="1"/>
          <p:nvPr/>
        </p:nvSpPr>
        <p:spPr>
          <a:xfrm>
            <a:off x="548580"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events recorded — 35.9 M on beam, 5.8 M cosmic reference</a:t>
            </a:r>
          </a:p>
        </p:txBody>
      </p:sp>
      <p:sp>
        <p:nvSpPr>
          <p:cNvPr id="11" name="Rectangle 10"/>
          <p:cNvSpPr/>
          <p:nvPr/>
        </p:nvSpPr>
        <p:spPr>
          <a:xfrm>
            <a:off x="2864941"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864941"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17.9 TB</a:t>
            </a:r>
          </a:p>
        </p:txBody>
      </p:sp>
      <p:sp>
        <p:nvSpPr>
          <p:cNvPr id="13" name="TextBox 12"/>
          <p:cNvSpPr txBox="1"/>
          <p:nvPr/>
        </p:nvSpPr>
        <p:spPr>
          <a:xfrm>
            <a:off x="2864941"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on EOS, across 162 runs / 2,705 sub-runs</a:t>
            </a:r>
          </a:p>
        </p:txBody>
      </p:sp>
      <p:sp>
        <p:nvSpPr>
          <p:cNvPr id="14" name="Rectangle 13"/>
          <p:cNvSpPr/>
          <p:nvPr/>
        </p:nvSpPr>
        <p:spPr>
          <a:xfrm>
            <a:off x="5181302" y="5358648"/>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181302" y="5519433"/>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436,373</a:t>
            </a:r>
          </a:p>
        </p:txBody>
      </p:sp>
      <p:sp>
        <p:nvSpPr>
          <p:cNvPr id="16" name="TextBox 15"/>
          <p:cNvSpPr txBox="1"/>
          <p:nvPr/>
        </p:nvSpPr>
        <p:spPr>
          <a:xfrm>
            <a:off x="5181302" y="5910057"/>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beam pulses on target over 44 days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21 / 25</a:t>
            </a:r>
            <a:endParaRPr sz="719" b="0" i="0" spc="58" dirty="0">
              <a:solidFill>
                <a:srgbClr val="5D7176"/>
              </a:solidFill>
              <a:latin typeface="Noto Sans"/>
            </a:endParaRPr>
          </a:p>
        </p:txBody>
      </p:sp>
      <p:sp>
        <p:nvSpPr>
          <p:cNvPr id="21" name="Rectangle 20">
            <a:extLst>
              <a:ext uri="{FF2B5EF4-FFF2-40B4-BE49-F238E27FC236}">
                <a16:creationId xmlns:a16="http://schemas.microsoft.com/office/drawing/2014/main" id="{0077FF43-C50D-4EE0-9D33-5EC922D23AF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7" name="Picture 16">
            <a:extLst>
              <a:ext uri="{FF2B5EF4-FFF2-40B4-BE49-F238E27FC236}">
                <a16:creationId xmlns:a16="http://schemas.microsoft.com/office/drawing/2014/main" id="{5F1C3858-FCED-65D9-A9E8-87A61C33C812}"/>
              </a:ext>
            </a:extLst>
          </p:cNvPr>
          <p:cNvPicPr>
            <a:picLocks noChangeAspect="1"/>
          </p:cNvPicPr>
          <p:nvPr/>
        </p:nvPicPr>
        <p:blipFill>
          <a:blip r:embed="rId2"/>
          <a:srcRect b="11678"/>
          <a:stretch>
            <a:fillRect/>
          </a:stretch>
        </p:blipFill>
        <p:spPr>
          <a:xfrm>
            <a:off x="0" y="1361817"/>
            <a:ext cx="12192000" cy="3651575"/>
          </a:xfrm>
          <a:prstGeom prst="rect">
            <a:avLst/>
          </a:prstGeom>
        </p:spPr>
      </p:pic>
      <p:sp>
        <p:nvSpPr>
          <p:cNvPr id="7" name="TextBox 6">
            <a:extLst>
              <a:ext uri="{FF2B5EF4-FFF2-40B4-BE49-F238E27FC236}">
                <a16:creationId xmlns:a16="http://schemas.microsoft.com/office/drawing/2014/main" id="{481331CD-110A-C1B3-814C-C7837635723B}"/>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Experiment timeline and statistics</a:t>
            </a:r>
          </a:p>
        </p:txBody>
      </p:sp>
    </p:spTree>
    <p:extLst>
      <p:ext uri="{BB962C8B-B14F-4D97-AF65-F5344CB8AC3E}">
        <p14:creationId xmlns:p14="http://schemas.microsoft.com/office/powerpoint/2010/main" val="3437692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1B16D70-1C74-A1E3-0F25-D745476E42C9}"/>
              </a:ext>
            </a:extLst>
          </p:cNvPr>
          <p:cNvPicPr>
            <a:picLocks noChangeAspect="1"/>
          </p:cNvPicPr>
          <p:nvPr/>
        </p:nvPicPr>
        <p:blipFill>
          <a:blip r:embed="rId2"/>
          <a:stretch>
            <a:fillRect/>
          </a:stretch>
        </p:blipFill>
        <p:spPr>
          <a:xfrm>
            <a:off x="18287" y="1002906"/>
            <a:ext cx="12192000" cy="5679326"/>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Two opposing arms, seen from above</a:t>
            </a:r>
            <a:r>
              <a:rPr lang="en-US" sz="2783" b="1" i="0" spc="-28" dirty="0">
                <a:solidFill>
                  <a:srgbClr val="23373B"/>
                </a:solidFill>
                <a:latin typeface="Noto Sans Display"/>
              </a:rPr>
              <a:t> – image of capsule</a:t>
            </a:r>
            <a:endParaRPr sz="2783" b="1" i="0" spc="-28" dirty="0">
              <a:solidFill>
                <a:srgbClr val="23373B"/>
              </a:solidFill>
              <a:latin typeface="Noto Sans Display"/>
            </a:endParaRP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22.1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25E5E8A-5988-4C41-BC95-9FA7C65EFDE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9" name="Group 8">
            <a:extLst>
              <a:ext uri="{FF2B5EF4-FFF2-40B4-BE49-F238E27FC236}">
                <a16:creationId xmlns:a16="http://schemas.microsoft.com/office/drawing/2014/main" id="{0ADA2B56-63F1-2546-887A-A7232DC22A1E}"/>
              </a:ext>
            </a:extLst>
          </p:cNvPr>
          <p:cNvGrpSpPr/>
          <p:nvPr/>
        </p:nvGrpSpPr>
        <p:grpSpPr>
          <a:xfrm>
            <a:off x="7822894" y="2117624"/>
            <a:ext cx="1550187" cy="450316"/>
            <a:chOff x="9942377" y="1422400"/>
            <a:chExt cx="1550187" cy="450316"/>
          </a:xfrm>
        </p:grpSpPr>
        <p:sp>
          <p:nvSpPr>
            <p:cNvPr id="30" name="CalloutCard"/>
            <p:cNvSpPr/>
            <p:nvPr/>
          </p:nvSpPr>
          <p:spPr>
            <a:xfrm>
              <a:off x="9942377" y="1422400"/>
              <a:ext cx="1550187" cy="450316"/>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6" name="TextBox 5">
              <a:extLst>
                <a:ext uri="{FF2B5EF4-FFF2-40B4-BE49-F238E27FC236}">
                  <a16:creationId xmlns:a16="http://schemas.microsoft.com/office/drawing/2014/main" id="{179C91C7-DA04-E455-9E21-2AA4EBF71479}"/>
                </a:ext>
              </a:extLst>
            </p:cNvPr>
            <p:cNvSpPr txBox="1"/>
            <p:nvPr/>
          </p:nvSpPr>
          <p:spPr>
            <a:xfrm>
              <a:off x="9998927" y="1422400"/>
              <a:ext cx="1435887" cy="450316"/>
            </a:xfrm>
            <a:prstGeom prst="rect">
              <a:avLst/>
            </a:prstGeom>
            <a:noFill/>
          </p:spPr>
          <p:txBody>
            <a:bodyPr wrap="square" lIns="0" tIns="0" rIns="0" bIns="0" rtlCol="0" anchor="t">
              <a:spAutoFit/>
            </a:bodyPr>
            <a:lstStyle/>
            <a:p>
              <a:pPr marL="171450" indent="-171450" algn="l">
                <a:lnSpc>
                  <a:spcPts val="1800"/>
                </a:lnSpc>
                <a:spcBef>
                  <a:spcPts val="0"/>
                </a:spcBef>
                <a:spcAft>
                  <a:spcPts val="0"/>
                </a:spcAft>
                <a:buClr>
                  <a:srgbClr val="EB811B"/>
                </a:buClr>
                <a:buChar char="▸"/>
              </a:pPr>
              <a:r>
                <a:rPr lang="en-US" sz="1400" b="1" i="0" dirty="0">
                  <a:solidFill>
                    <a:srgbClr val="23373B"/>
                  </a:solidFill>
                  <a:latin typeface="Noto Sans"/>
                </a:rPr>
                <a:t>Capsule ~1 cm </a:t>
              </a:r>
              <a:br>
                <a:rPr lang="en-US" sz="1400" b="1" i="0" dirty="0">
                  <a:solidFill>
                    <a:srgbClr val="23373B"/>
                  </a:solidFill>
                  <a:latin typeface="Noto Sans"/>
                </a:rPr>
              </a:br>
              <a:r>
                <a:rPr lang="en-US" sz="1400" b="1" i="0" dirty="0">
                  <a:solidFill>
                    <a:srgbClr val="23373B"/>
                  </a:solidFill>
                  <a:latin typeface="Noto Sans"/>
                </a:rPr>
                <a:t>off-center in x</a:t>
              </a:r>
              <a:endParaRPr lang="en-US" sz="1400" b="0" i="0" dirty="0">
                <a:solidFill>
                  <a:srgbClr val="23373B"/>
                </a:solidFill>
                <a:latin typeface="Noto Sans"/>
              </a:endParaRPr>
            </a:p>
          </p:txBody>
        </p:sp>
        <p:sp>
          <p:nvSpPr>
            <p:cNvPr id="31" name="CalloutCardAccent"/>
            <p:cNvSpPr/>
            <p:nvPr/>
          </p:nvSpPr>
          <p:spPr>
            <a:xfrm>
              <a:off x="9942377" y="1422400"/>
              <a:ext cx="50800" cy="418566"/>
            </a:xfrm>
            <a:prstGeom prst="rect">
              <a:avLst/>
            </a:prstGeom>
            <a:solidFill>
              <a:srgbClr val="EB811B"/>
            </a:solidFill>
            <a:ln w="9525" cap="flat" cmpd="sng" algn="ctr">
              <a:noFill/>
              <a:prstDash val="solid"/>
            </a:ln>
          </p:spPr>
          <p:txBody>
            <a:bodyPr vertOverflow="clip" horzOverflow="clip" rtlCol="0" anchor="t"/>
            <a:lstStyle/>
            <a:p>
              <a:pPr algn="l"/>
              <a:endParaRPr/>
            </a:p>
          </p:txBody>
        </p:sp>
      </p:grpSp>
    </p:spTree>
    <p:extLst>
      <p:ext uri="{BB962C8B-B14F-4D97-AF65-F5344CB8AC3E}">
        <p14:creationId xmlns:p14="http://schemas.microsoft.com/office/powerpoint/2010/main" val="631451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83D34-EAEA-C083-27D0-5414C139B15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1134D8C-871D-5BA7-9008-FCD93266DFF9}"/>
              </a:ext>
            </a:extLst>
          </p:cNvPr>
          <p:cNvPicPr>
            <a:picLocks noChangeAspect="1"/>
          </p:cNvPicPr>
          <p:nvPr/>
        </p:nvPicPr>
        <p:blipFill>
          <a:blip r:embed="rId2"/>
          <a:stretch>
            <a:fillRect/>
          </a:stretch>
        </p:blipFill>
        <p:spPr>
          <a:xfrm>
            <a:off x="9524" y="1092200"/>
            <a:ext cx="12192000" cy="5679326"/>
          </a:xfrm>
          <a:prstGeom prst="rect">
            <a:avLst/>
          </a:prstGeom>
        </p:spPr>
      </p:pic>
      <p:sp>
        <p:nvSpPr>
          <p:cNvPr id="3" name="Rectangle 2">
            <a:extLst>
              <a:ext uri="{FF2B5EF4-FFF2-40B4-BE49-F238E27FC236}">
                <a16:creationId xmlns:a16="http://schemas.microsoft.com/office/drawing/2014/main" id="{119FF0CC-E650-9A56-EE50-EDD5352E8C96}"/>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E956B4D-07A0-2BF1-6447-75F21AE7EDFB}"/>
              </a:ext>
            </a:extLst>
          </p:cNvPr>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a:extLst>
              <a:ext uri="{FF2B5EF4-FFF2-40B4-BE49-F238E27FC236}">
                <a16:creationId xmlns:a16="http://schemas.microsoft.com/office/drawing/2014/main" id="{969757EA-338D-5B76-8F98-AFC89AF74F38}"/>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F3E6511A-1C1D-48AB-04FE-8EA38E39FFA4}"/>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B3A9A5F-EC2E-4FF7-9384-AE9981A2E1C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2F9469E4-C476-F84B-83CE-1068E63EF94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Two opposing arms, seen from above</a:t>
            </a:r>
            <a:r>
              <a:rPr lang="en-US" sz="2783" b="1" i="0" spc="-28" dirty="0">
                <a:solidFill>
                  <a:srgbClr val="23373B"/>
                </a:solidFill>
                <a:latin typeface="Noto Sans Display"/>
              </a:rPr>
              <a:t> – image of capsule</a:t>
            </a:r>
            <a:endParaRPr sz="2783" b="1" i="0" spc="-28" dirty="0">
              <a:solidFill>
                <a:srgbClr val="23373B"/>
              </a:solidFill>
              <a:latin typeface="Noto Sans Display"/>
            </a:endParaRPr>
          </a:p>
        </p:txBody>
      </p:sp>
      <p:sp>
        <p:nvSpPr>
          <p:cNvPr id="16" name="TextBox 15">
            <a:extLst>
              <a:ext uri="{FF2B5EF4-FFF2-40B4-BE49-F238E27FC236}">
                <a16:creationId xmlns:a16="http://schemas.microsoft.com/office/drawing/2014/main" id="{1F3DB3B7-D4BD-24FA-E5AE-AF8FEE81A12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0E2B77D4-9186-A7FD-5694-551785FF6EFE}"/>
              </a:ext>
            </a:extLst>
          </p:cNvPr>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22.2 / 25</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578C0E76-AACC-C5F3-D413-49DEFDD1B44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grpSp>
        <p:nvGrpSpPr>
          <p:cNvPr id="9" name="Group 8">
            <a:extLst>
              <a:ext uri="{FF2B5EF4-FFF2-40B4-BE49-F238E27FC236}">
                <a16:creationId xmlns:a16="http://schemas.microsoft.com/office/drawing/2014/main" id="{23103C15-3EA2-DDE8-1566-59E394614E9A}"/>
              </a:ext>
            </a:extLst>
          </p:cNvPr>
          <p:cNvGrpSpPr/>
          <p:nvPr/>
        </p:nvGrpSpPr>
        <p:grpSpPr>
          <a:xfrm>
            <a:off x="7765144" y="2729885"/>
            <a:ext cx="1550187" cy="450316"/>
            <a:chOff x="9942377" y="1422400"/>
            <a:chExt cx="1550187" cy="450316"/>
          </a:xfrm>
        </p:grpSpPr>
        <p:sp>
          <p:nvSpPr>
            <p:cNvPr id="30" name="CalloutCard">
              <a:extLst>
                <a:ext uri="{FF2B5EF4-FFF2-40B4-BE49-F238E27FC236}">
                  <a16:creationId xmlns:a16="http://schemas.microsoft.com/office/drawing/2014/main" id="{CB08FF09-5E42-79EA-87C6-6D8E80B65737}"/>
                </a:ext>
              </a:extLst>
            </p:cNvPr>
            <p:cNvSpPr/>
            <p:nvPr/>
          </p:nvSpPr>
          <p:spPr>
            <a:xfrm>
              <a:off x="9942377" y="1422400"/>
              <a:ext cx="1550187" cy="450316"/>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6" name="TextBox 5">
              <a:extLst>
                <a:ext uri="{FF2B5EF4-FFF2-40B4-BE49-F238E27FC236}">
                  <a16:creationId xmlns:a16="http://schemas.microsoft.com/office/drawing/2014/main" id="{0439C84B-FAEB-FD70-E337-DC314F63B439}"/>
                </a:ext>
              </a:extLst>
            </p:cNvPr>
            <p:cNvSpPr txBox="1"/>
            <p:nvPr/>
          </p:nvSpPr>
          <p:spPr>
            <a:xfrm>
              <a:off x="9998927" y="1422400"/>
              <a:ext cx="1435887" cy="450316"/>
            </a:xfrm>
            <a:prstGeom prst="rect">
              <a:avLst/>
            </a:prstGeom>
            <a:noFill/>
          </p:spPr>
          <p:txBody>
            <a:bodyPr wrap="square" lIns="0" tIns="0" rIns="0" bIns="0" rtlCol="0" anchor="t">
              <a:spAutoFit/>
            </a:bodyPr>
            <a:lstStyle/>
            <a:p>
              <a:pPr marL="171450" indent="-171450" algn="l">
                <a:lnSpc>
                  <a:spcPts val="1800"/>
                </a:lnSpc>
                <a:spcBef>
                  <a:spcPts val="0"/>
                </a:spcBef>
                <a:spcAft>
                  <a:spcPts val="0"/>
                </a:spcAft>
                <a:buClr>
                  <a:srgbClr val="EB811B"/>
                </a:buClr>
                <a:buChar char="▸"/>
              </a:pPr>
              <a:r>
                <a:rPr lang="en-US" sz="1400" b="1" i="0" dirty="0">
                  <a:solidFill>
                    <a:srgbClr val="23373B"/>
                  </a:solidFill>
                  <a:latin typeface="Noto Sans"/>
                </a:rPr>
                <a:t>Capsule ~3 cm </a:t>
              </a:r>
              <a:br>
                <a:rPr lang="en-US" sz="1400" b="1" i="0" dirty="0">
                  <a:solidFill>
                    <a:srgbClr val="23373B"/>
                  </a:solidFill>
                  <a:latin typeface="Noto Sans"/>
                </a:rPr>
              </a:br>
              <a:r>
                <a:rPr lang="en-US" sz="1400" b="1" i="0" dirty="0">
                  <a:solidFill>
                    <a:srgbClr val="23373B"/>
                  </a:solidFill>
                  <a:latin typeface="Noto Sans"/>
                </a:rPr>
                <a:t>high in y</a:t>
              </a:r>
              <a:endParaRPr lang="en-US" sz="1400" b="0" i="0" dirty="0">
                <a:solidFill>
                  <a:srgbClr val="23373B"/>
                </a:solidFill>
                <a:latin typeface="Noto Sans"/>
              </a:endParaRPr>
            </a:p>
          </p:txBody>
        </p:sp>
        <p:sp>
          <p:nvSpPr>
            <p:cNvPr id="31" name="CalloutCardAccent">
              <a:extLst>
                <a:ext uri="{FF2B5EF4-FFF2-40B4-BE49-F238E27FC236}">
                  <a16:creationId xmlns:a16="http://schemas.microsoft.com/office/drawing/2014/main" id="{E70D7D50-6098-C4BE-9717-86E1C9B10C18}"/>
                </a:ext>
              </a:extLst>
            </p:cNvPr>
            <p:cNvSpPr/>
            <p:nvPr/>
          </p:nvSpPr>
          <p:spPr>
            <a:xfrm>
              <a:off x="9942377" y="1422400"/>
              <a:ext cx="50800" cy="418566"/>
            </a:xfrm>
            <a:prstGeom prst="rect">
              <a:avLst/>
            </a:prstGeom>
            <a:solidFill>
              <a:srgbClr val="EB811B"/>
            </a:solidFill>
            <a:ln w="9525" cap="flat" cmpd="sng" algn="ctr">
              <a:noFill/>
              <a:prstDash val="solid"/>
            </a:ln>
          </p:spPr>
          <p:txBody>
            <a:bodyPr vertOverflow="clip" horzOverflow="clip" rtlCol="0" anchor="t"/>
            <a:lstStyle/>
            <a:p>
              <a:pPr algn="l"/>
              <a:endParaRPr/>
            </a:p>
          </p:txBody>
        </p:sp>
      </p:grpSp>
    </p:spTree>
    <p:extLst>
      <p:ext uri="{BB962C8B-B14F-4D97-AF65-F5344CB8AC3E}">
        <p14:creationId xmlns:p14="http://schemas.microsoft.com/office/powerpoint/2010/main" val="27255658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088F-B297-1668-7BF7-57A283C37C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6B737B-227F-301A-0A96-18F1C19F74E4}"/>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2380F35C-558C-8C7D-5389-550496A06FC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a:solidFill>
                  <a:srgbClr val="C66A0F"/>
                </a:solidFill>
                <a:latin typeface="Noto Sans"/>
              </a:rPr>
              <a:t>Ongoing · Pair analysis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8CECAF36-2990-445D-A1AB-CDD3912BC149}"/>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F999BD2C-6F30-AAAA-7D06-16E184BCCFC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F0ED27B0-F21F-E59D-4B62-7D287841EEEB}"/>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Now: sorting the pairs by where their legs land</a:t>
            </a:r>
            <a:endParaRPr sz="2783" b="1" i="0" spc="-28">
              <a:solidFill>
                <a:srgbClr val="23373B"/>
              </a:solidFill>
              <a:latin typeface="Noto Sans Display"/>
            </a:endParaRPr>
          </a:p>
        </p:txBody>
      </p:sp>
      <p:sp>
        <p:nvSpPr>
          <p:cNvPr id="16" name="TextBox 15">
            <a:extLst>
              <a:ext uri="{FF2B5EF4-FFF2-40B4-BE49-F238E27FC236}">
                <a16:creationId xmlns:a16="http://schemas.microsoft.com/office/drawing/2014/main" id="{CCF5FF66-78B2-76B0-C8F1-EECA0DF7DCE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BFE11E4C-C1F4-F7F2-99D6-90EDFDFA0F01}"/>
              </a:ext>
            </a:extLst>
          </p:cNvPr>
          <p:cNvSpPr txBox="1"/>
          <p:nvPr/>
        </p:nvSpPr>
        <p:spPr>
          <a:xfrm>
            <a:off x="11313185" y="6629400"/>
            <a:ext cx="345415"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23 / 25</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B4120BA5-3EEC-DCF1-75CA-9486B120795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6" name="Picture 5">
            <a:extLst>
              <a:ext uri="{FF2B5EF4-FFF2-40B4-BE49-F238E27FC236}">
                <a16:creationId xmlns:a16="http://schemas.microsoft.com/office/drawing/2014/main" id="{B92CCA1D-1231-5264-827F-B053DF8327E4}"/>
              </a:ext>
            </a:extLst>
          </p:cNvPr>
          <p:cNvPicPr>
            <a:picLocks noChangeAspect="1"/>
          </p:cNvPicPr>
          <p:nvPr/>
        </p:nvPicPr>
        <p:blipFill>
          <a:blip r:embed="rId2"/>
          <a:stretch>
            <a:fillRect/>
          </a:stretch>
        </p:blipFill>
        <p:spPr>
          <a:xfrm>
            <a:off x="778435" y="1170936"/>
            <a:ext cx="10347158" cy="5647439"/>
          </a:xfrm>
          <a:prstGeom prst="rect">
            <a:avLst/>
          </a:prstGeom>
        </p:spPr>
      </p:pic>
    </p:spTree>
    <p:extLst>
      <p:ext uri="{BB962C8B-B14F-4D97-AF65-F5344CB8AC3E}">
        <p14:creationId xmlns:p14="http://schemas.microsoft.com/office/powerpoint/2010/main" val="3151816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a:solidFill>
                  <a:srgbClr val="C66A0F"/>
                </a:solidFill>
                <a:latin typeface="Noto Sans"/>
              </a:rPr>
              <a:t>OUTLOOK · PLAN A</a:t>
            </a:r>
            <a:endParaRPr sz="912" b="1" i="0" cap="all" spc="182">
              <a:solidFill>
                <a:srgbClr val="C66A0F"/>
              </a:solidFill>
              <a:latin typeface="Noto Sans"/>
            </a:endParaRP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Plan A after LS3: far less aluminum background at MeV energies</a:t>
            </a:r>
            <a:endParaRPr sz="2783" b="1" i="0" spc="-28" dirty="0">
              <a:solidFill>
                <a:srgbClr val="23373B"/>
              </a:solidFill>
              <a:latin typeface="Noto Sans Display"/>
            </a:endParaRPr>
          </a:p>
        </p:txBody>
      </p:sp>
      <p:sp>
        <p:nvSpPr>
          <p:cNvPr id="9" name="TextBox 8"/>
          <p:cNvSpPr txBox="1"/>
          <p:nvPr/>
        </p:nvSpPr>
        <p:spPr>
          <a:xfrm>
            <a:off x="548580" y="6019800"/>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lang="en-US" sz="1100" b="0" i="0">
                <a:solidFill>
                  <a:srgbClr val="3C5257"/>
                </a:solidFill>
                <a:latin typeface="Noto Sans"/>
              </a:rPr>
              <a:t>Al + C wall internal pairs only. X17/IPC = 2.5 % is the rate table's assumption; the ratio scales with it.</a:t>
            </a:r>
            <a:endParaRPr sz="1100" b="0" i="0">
              <a:solidFill>
                <a:srgbClr val="3C5257"/>
              </a:solidFill>
              <a:latin typeface="Noto Sans"/>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24 / 25</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8" name="Picture 6">
            <a:extLst>
              <a:ext uri="{FF2B5EF4-FFF2-40B4-BE49-F238E27FC236}">
                <a16:creationId xmlns:a16="http://schemas.microsoft.com/office/drawing/2014/main" id="{ECEF85B5-9784-DD0F-96E0-6B8358BD1C38}"/>
              </a:ext>
            </a:extLst>
          </p:cNvPr>
          <p:cNvPicPr>
            <a:picLocks noChangeAspect="1"/>
          </p:cNvPicPr>
          <p:nvPr/>
        </p:nvPicPr>
        <p:blipFill>
          <a:blip r:embed="rId2"/>
          <a:srcRect l="50500" b="10500"/>
          <a:stretch>
            <a:fillRect/>
          </a:stretch>
        </p:blipFill>
        <p:spPr>
          <a:xfrm>
            <a:off x="546100" y="1219200"/>
            <a:ext cx="5486400" cy="4610100"/>
          </a:xfrm>
          <a:prstGeom prst="rect">
            <a:avLst/>
          </a:prstGeom>
        </p:spPr>
      </p:pic>
      <p:sp>
        <p:nvSpPr>
          <p:cNvPr id="30" name="Plan A outlook bullets"/>
          <p:cNvSpPr txBox="1"/>
          <p:nvPr/>
        </p:nvSpPr>
        <p:spPr>
          <a:xfrm>
            <a:off x="6286500" y="1219200"/>
            <a:ext cx="5359400" cy="4610100"/>
          </a:xfrm>
          <a:prstGeom prst="rect">
            <a:avLst/>
          </a:prstGeom>
          <a:noFill/>
        </p:spPr>
        <p:txBody>
          <a:bodyPr wrap="square" lIns="91440" tIns="45720" rIns="91440" bIns="45720" rtlCol="0" anchor="ctr">
            <a:noAutofit/>
          </a:bodyPr>
          <a:lstStyle/>
          <a:p>
            <a:pPr marL="285750" indent="-285750" algn="l">
              <a:lnSpc>
                <a:spcPct val="100000"/>
              </a:lnSpc>
              <a:spcBef>
                <a:spcPts val="0"/>
              </a:spcBef>
              <a:spcAft>
                <a:spcPts val="1800"/>
              </a:spcAft>
              <a:buClr>
                <a:srgbClr val="EB811B"/>
              </a:buClr>
              <a:buChar char="▸"/>
            </a:pPr>
            <a:r>
              <a:rPr lang="en-US" sz="2000" b="1" dirty="0">
                <a:solidFill>
                  <a:srgbClr val="23373B"/>
                </a:solidFill>
                <a:latin typeface="Noto Sans"/>
              </a:rPr>
              <a:t>Find a DAQ fix</a:t>
            </a:r>
            <a:r>
              <a:rPr lang="en-US" sz="2000" dirty="0">
                <a:solidFill>
                  <a:srgbClr val="23373B"/>
                </a:solidFill>
                <a:latin typeface="Noto Sans"/>
              </a:rPr>
              <a:t> for the γ flash</a:t>
            </a:r>
          </a:p>
          <a:p>
            <a:pPr marL="285750" indent="-285750" algn="l">
              <a:lnSpc>
                <a:spcPct val="100000"/>
              </a:lnSpc>
              <a:spcBef>
                <a:spcPts val="0"/>
              </a:spcBef>
              <a:spcAft>
                <a:spcPts val="1800"/>
              </a:spcAft>
              <a:buClr>
                <a:srgbClr val="EB811B"/>
              </a:buClr>
              <a:buChar char="▸"/>
            </a:pPr>
            <a:r>
              <a:rPr lang="en-US" sz="2000" b="1" dirty="0">
                <a:solidFill>
                  <a:srgbClr val="23373B"/>
                </a:solidFill>
                <a:latin typeface="Noto Sans"/>
              </a:rPr>
              <a:t>Return after LS3</a:t>
            </a:r>
            <a:r>
              <a:rPr lang="en-US" sz="2000" dirty="0">
                <a:solidFill>
                  <a:srgbClr val="23373B"/>
                </a:solidFill>
                <a:latin typeface="Noto Sans"/>
              </a:rPr>
              <a:t>: measure at 0.1–2 MeV</a:t>
            </a:r>
          </a:p>
          <a:p>
            <a:pPr marL="285750" indent="-285750" algn="l">
              <a:lnSpc>
                <a:spcPct val="100000"/>
              </a:lnSpc>
              <a:spcBef>
                <a:spcPts val="0"/>
              </a:spcBef>
              <a:spcAft>
                <a:spcPts val="1800"/>
              </a:spcAft>
              <a:buClr>
                <a:srgbClr val="EB811B"/>
              </a:buClr>
              <a:buChar char="▸"/>
            </a:pPr>
            <a:r>
              <a:rPr lang="en-US" sz="2000" dirty="0">
                <a:solidFill>
                  <a:srgbClr val="23373B"/>
                </a:solidFill>
                <a:latin typeface="Noto Sans"/>
              </a:rPr>
              <a:t>Background per X17: </a:t>
            </a:r>
            <a:r>
              <a:rPr lang="en-US" sz="2000" b="1" dirty="0">
                <a:solidFill>
                  <a:srgbClr val="23373B"/>
                </a:solidFill>
                <a:latin typeface="Noto Sans"/>
              </a:rPr>
              <a:t>~50</a:t>
            </a:r>
            <a:r>
              <a:rPr lang="en-US" sz="2000" dirty="0">
                <a:solidFill>
                  <a:srgbClr val="23373B"/>
                </a:solidFill>
                <a:latin typeface="Noto Sans"/>
              </a:rPr>
              <a:t> at MeV vs </a:t>
            </a:r>
            <a:r>
              <a:rPr lang="en-US" sz="2000" b="1" dirty="0">
                <a:solidFill>
                  <a:srgbClr val="23373B"/>
                </a:solidFill>
                <a:latin typeface="Noto Sans"/>
              </a:rPr>
              <a:t>~10⁶</a:t>
            </a:r>
            <a:r>
              <a:rPr lang="en-US" sz="2000" dirty="0">
                <a:solidFill>
                  <a:srgbClr val="23373B"/>
                </a:solidFill>
                <a:latin typeface="Noto Sans"/>
              </a:rPr>
              <a:t> at thermal </a:t>
            </a:r>
            <a:r>
              <a:rPr lang="en-US" sz="2000" dirty="0">
                <a:solidFill>
                  <a:srgbClr val="23373B"/>
                </a:solidFill>
                <a:latin typeface="Noto Sans"/>
                <a:sym typeface="Wingdings" panose="05000000000000000000" pitchFamily="2" charset="2"/>
              </a:rPr>
              <a:t> Separate on opening angle</a:t>
            </a:r>
            <a:endParaRPr lang="en-US" sz="2000" dirty="0">
              <a:solidFill>
                <a:srgbClr val="23373B"/>
              </a:solidFill>
              <a:latin typeface="Noto Sans"/>
            </a:endParaRPr>
          </a:p>
          <a:p>
            <a:pPr marL="285750" indent="-285750" algn="l">
              <a:lnSpc>
                <a:spcPct val="100000"/>
              </a:lnSpc>
              <a:spcBef>
                <a:spcPts val="0"/>
              </a:spcBef>
              <a:spcAft>
                <a:spcPts val="1800"/>
              </a:spcAft>
              <a:buClr>
                <a:srgbClr val="EB811B"/>
              </a:buClr>
              <a:buChar char="▸"/>
            </a:pPr>
            <a:r>
              <a:rPr lang="en-US" sz="2000" dirty="0">
                <a:solidFill>
                  <a:srgbClr val="23373B"/>
                </a:solidFill>
                <a:latin typeface="Noto Sans"/>
              </a:rPr>
              <a:t>Time to </a:t>
            </a:r>
            <a:r>
              <a:rPr lang="en-US" sz="2000" b="1" dirty="0">
                <a:solidFill>
                  <a:srgbClr val="23373B"/>
                </a:solidFill>
                <a:latin typeface="Noto Sans"/>
              </a:rPr>
              <a:t>simulate the environment</a:t>
            </a:r>
          </a:p>
        </p:txBody>
      </p:sp>
    </p:spTree>
    <p:extLst>
      <p:ext uri="{BB962C8B-B14F-4D97-AF65-F5344CB8AC3E}">
        <p14:creationId xmlns:p14="http://schemas.microsoft.com/office/powerpoint/2010/main" val="1226574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B41CC-EC1B-20E0-17B6-609D02A330EA}"/>
            </a:ext>
          </a:extLst>
        </p:cNvPr>
        <p:cNvGrpSpPr/>
        <p:nvPr/>
      </p:nvGrpSpPr>
      <p:grpSpPr>
        <a:xfrm>
          <a:off x="0" y="0"/>
          <a:ext cx="0" cy="0"/>
          <a:chOff x="0" y="0"/>
          <a:chExt cx="0" cy="0"/>
        </a:xfrm>
      </p:grpSpPr>
      <p:pic>
        <p:nvPicPr>
          <p:cNvPr id="9" name="Al Pair Outlook">
            <a:extLst>
              <a:ext uri="{FF2B5EF4-FFF2-40B4-BE49-F238E27FC236}">
                <a16:creationId xmlns:a16="http://schemas.microsoft.com/office/drawing/2014/main" id="{3D5BC768-A6A4-9803-77E1-ADB4E8F22AAA}"/>
              </a:ext>
            </a:extLst>
          </p:cNvPr>
          <p:cNvPicPr>
            <a:picLocks/>
          </p:cNvPicPr>
          <p:nvPr/>
        </p:nvPicPr>
        <p:blipFill>
          <a:blip r:embed="rId2"/>
          <a:stretch>
            <a:fillRect/>
          </a:stretch>
        </p:blipFill>
        <p:spPr>
          <a:xfrm>
            <a:off x="1452879" y="2810216"/>
            <a:ext cx="9286240" cy="3848902"/>
          </a:xfrm>
          <a:prstGeom prst="rect">
            <a:avLst/>
          </a:prstGeom>
        </p:spPr>
      </p:pic>
      <p:sp>
        <p:nvSpPr>
          <p:cNvPr id="3" name="Rectangle 2">
            <a:extLst>
              <a:ext uri="{FF2B5EF4-FFF2-40B4-BE49-F238E27FC236}">
                <a16:creationId xmlns:a16="http://schemas.microsoft.com/office/drawing/2014/main" id="{7A9E98C8-0AE1-6ECE-57B5-4FEEB27A5D9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7B8FF5FC-CA44-0209-A7AC-D36E1A89129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2222C270-5337-BD99-1C1D-22F9C1AF512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9926B64-CF2C-8C47-2B20-8D715743B25F}"/>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Conclusions</a:t>
            </a:r>
            <a:endParaRPr sz="2783" b="1" i="0" spc="-28" dirty="0">
              <a:solidFill>
                <a:srgbClr val="23373B"/>
              </a:solidFill>
              <a:latin typeface="Noto Sans Display"/>
            </a:endParaRPr>
          </a:p>
        </p:txBody>
      </p:sp>
      <p:sp>
        <p:nvSpPr>
          <p:cNvPr id="7" name="TextBox 6">
            <a:extLst>
              <a:ext uri="{FF2B5EF4-FFF2-40B4-BE49-F238E27FC236}">
                <a16:creationId xmlns:a16="http://schemas.microsoft.com/office/drawing/2014/main" id="{1E320E21-526F-25B3-3214-26B1C2BA4D98}"/>
              </a:ext>
            </a:extLst>
          </p:cNvPr>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b="1" dirty="0">
                <a:solidFill>
                  <a:srgbClr val="23373B"/>
                </a:solidFill>
                <a:latin typeface="Noto Sans"/>
              </a:rPr>
              <a:t>Plan A, MeV</a:t>
            </a:r>
            <a:r>
              <a:rPr lang="en-US" sz="2000" dirty="0">
                <a:solidFill>
                  <a:srgbClr val="23373B"/>
                </a:solidFill>
                <a:latin typeface="Noto Sans"/>
              </a:rPr>
              <a:t> (79 % of the X17 rate): blocked by the DAQ, not the detector</a:t>
            </a:r>
          </a:p>
          <a:p>
            <a:pPr marL="180975" indent="-180975" algn="l">
              <a:lnSpc>
                <a:spcPct val="150000"/>
              </a:lnSpc>
              <a:spcBef>
                <a:spcPts val="0"/>
              </a:spcBef>
              <a:buClr>
                <a:srgbClr val="EB811B"/>
              </a:buClr>
              <a:buChar char="▸"/>
            </a:pPr>
            <a:r>
              <a:rPr lang="en-US" sz="2000" b="1" dirty="0">
                <a:solidFill>
                  <a:srgbClr val="23373B"/>
                </a:solidFill>
                <a:latin typeface="Noto Sans"/>
              </a:rPr>
              <a:t>Plan B, thermal:</a:t>
            </a:r>
            <a:r>
              <a:rPr lang="en-US" sz="2000" dirty="0">
                <a:solidFill>
                  <a:srgbClr val="23373B"/>
                </a:solidFill>
                <a:latin typeface="Noto Sans"/>
              </a:rPr>
              <a:t> ³He self-shields, so only ≈ 2 X17 made in the whole campaign</a:t>
            </a:r>
          </a:p>
          <a:p>
            <a:pPr marL="180975" indent="-180975" algn="l">
              <a:lnSpc>
                <a:spcPct val="150000"/>
              </a:lnSpc>
              <a:spcBef>
                <a:spcPts val="0"/>
              </a:spcBef>
              <a:buClr>
                <a:srgbClr val="EB811B"/>
              </a:buClr>
              <a:buChar char="▸"/>
            </a:pPr>
            <a:r>
              <a:rPr lang="en-US" sz="2000" b="1" dirty="0">
                <a:solidFill>
                  <a:srgbClr val="23373B"/>
                </a:solidFill>
                <a:latin typeface="Noto Sans"/>
              </a:rPr>
              <a:t>Plan C, ²⁷Al pairs:</a:t>
            </a:r>
            <a:r>
              <a:rPr lang="en-US" sz="2000" dirty="0">
                <a:solidFill>
                  <a:srgbClr val="23373B"/>
                </a:solidFill>
                <a:latin typeface="Noto Sans"/>
              </a:rPr>
              <a:t> 41.8 M events, good capsule image: a demonstrator for X17</a:t>
            </a:r>
          </a:p>
        </p:txBody>
      </p:sp>
      <p:sp>
        <p:nvSpPr>
          <p:cNvPr id="14" name="TextBox 13">
            <a:extLst>
              <a:ext uri="{FF2B5EF4-FFF2-40B4-BE49-F238E27FC236}">
                <a16:creationId xmlns:a16="http://schemas.microsoft.com/office/drawing/2014/main" id="{F6AE2E16-29C0-4365-1559-9273F7C3EA5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58F78D1B-094E-C8E5-E78E-BDB6ECB962A9}"/>
              </a:ext>
            </a:extLst>
          </p:cNvPr>
          <p:cNvSpPr txBox="1"/>
          <p:nvPr/>
        </p:nvSpPr>
        <p:spPr>
          <a:xfrm>
            <a:off x="11313184" y="6629400"/>
            <a:ext cx="34541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25 / 25</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19E66BD0-719E-6C0B-5B05-E62C355056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19D1AECF-3B03-9383-3120-5450D1F1DEA0}"/>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lang="en-US" sz="2400" b="1" i="0" spc="-8" dirty="0">
                <a:solidFill>
                  <a:srgbClr val="C66A0F"/>
                </a:solidFill>
                <a:latin typeface="Noto Sans Display"/>
              </a:rPr>
              <a:t>Now: </a:t>
            </a:r>
            <a:r>
              <a:rPr lang="en-US" sz="2400" b="1" i="0" spc="-8" dirty="0" err="1">
                <a:solidFill>
                  <a:srgbClr val="C66A0F"/>
                </a:solidFill>
                <a:latin typeface="Noto Sans Display"/>
              </a:rPr>
              <a:t>analysing</a:t>
            </a:r>
            <a:r>
              <a:rPr lang="en-US" sz="2400" b="1" i="0" spc="-8" dirty="0">
                <a:solidFill>
                  <a:srgbClr val="C66A0F"/>
                </a:solidFill>
                <a:latin typeface="Noto Sans Display"/>
              </a:rPr>
              <a:t> the pair data</a:t>
            </a:r>
            <a:endParaRPr sz="2400" b="1" i="0" spc="-8" dirty="0">
              <a:solidFill>
                <a:srgbClr val="C66A0F"/>
              </a:solidFill>
              <a:latin typeface="Noto Sans Display"/>
            </a:endParaRPr>
          </a:p>
        </p:txBody>
      </p:sp>
      <p:sp>
        <p:nvSpPr>
          <p:cNvPr id="2" name="Sketch Caveat">
            <a:extLst>
              <a:ext uri="{FF2B5EF4-FFF2-40B4-BE49-F238E27FC236}">
                <a16:creationId xmlns:a16="http://schemas.microsoft.com/office/drawing/2014/main" id="{2143D8DD-F258-80BC-F55C-888E5F685696}"/>
              </a:ext>
            </a:extLst>
          </p:cNvPr>
          <p:cNvSpPr txBox="1"/>
          <p:nvPr/>
        </p:nvSpPr>
        <p:spPr>
          <a:xfrm>
            <a:off x="7620000" y="2924516"/>
            <a:ext cx="3119119" cy="138499"/>
          </a:xfrm>
          <a:prstGeom prst="rect">
            <a:avLst/>
          </a:prstGeom>
          <a:noFill/>
        </p:spPr>
        <p:txBody>
          <a:bodyPr vert="horz" wrap="square" lIns="0" tIns="0" rIns="0" bIns="0" rtlCol="0">
            <a:spAutoFit/>
          </a:bodyPr>
          <a:lstStyle/>
          <a:p>
            <a:pPr algn="r"/>
            <a:r>
              <a:rPr lang="en-US" sz="900" i="1">
                <a:solidFill>
                  <a:srgbClr val="8A939A"/>
                </a:solidFill>
              </a:rPr>
              <a:t>Illustration only — not a realistic spectrum</a:t>
            </a:r>
          </a:p>
        </p:txBody>
      </p:sp>
    </p:spTree>
    <p:extLst>
      <p:ext uri="{BB962C8B-B14F-4D97-AF65-F5344CB8AC3E}">
        <p14:creationId xmlns:p14="http://schemas.microsoft.com/office/powerpoint/2010/main" val="2899639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A6A65-4942-FEB6-E861-EA254067E8DD}"/>
            </a:ext>
          </a:extLst>
        </p:cNvPr>
        <p:cNvGrpSpPr/>
        <p:nvPr/>
      </p:nvGrpSpPr>
      <p:grpSpPr>
        <a:xfrm>
          <a:off x="0" y="0"/>
          <a:ext cx="0" cy="0"/>
          <a:chOff x="0" y="0"/>
          <a:chExt cx="0" cy="0"/>
        </a:xfrm>
      </p:grpSpPr>
      <p:pic>
        <p:nvPicPr>
          <p:cNvPr id="10" name="Al Pair Outlook">
            <a:extLst>
              <a:ext uri="{FF2B5EF4-FFF2-40B4-BE49-F238E27FC236}">
                <a16:creationId xmlns:a16="http://schemas.microsoft.com/office/drawing/2014/main" id="{E5AC4B6A-1244-98CC-D16B-870A067E4E8D}"/>
              </a:ext>
            </a:extLst>
          </p:cNvPr>
          <p:cNvPicPr>
            <a:picLocks noChangeAspect="1"/>
          </p:cNvPicPr>
          <p:nvPr/>
        </p:nvPicPr>
        <p:blipFill>
          <a:blip r:embed="rId2"/>
          <a:stretch>
            <a:fillRect/>
          </a:stretch>
        </p:blipFill>
        <p:spPr>
          <a:xfrm>
            <a:off x="3411795" y="3377540"/>
            <a:ext cx="8163066" cy="3383376"/>
          </a:xfrm>
          <a:prstGeom prst="rect">
            <a:avLst/>
          </a:prstGeom>
        </p:spPr>
      </p:pic>
      <p:sp>
        <p:nvSpPr>
          <p:cNvPr id="3" name="Rectangle 2">
            <a:extLst>
              <a:ext uri="{FF2B5EF4-FFF2-40B4-BE49-F238E27FC236}">
                <a16:creationId xmlns:a16="http://schemas.microsoft.com/office/drawing/2014/main" id="{6D8F7697-760B-47F1-31E0-8F6D394A080A}"/>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BEAB290-207B-7032-9062-931BC2E6C3F2}"/>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a:solidFill>
                  <a:srgbClr val="C66A0F"/>
                </a:solidFill>
                <a:latin typeface="Noto Sans"/>
              </a:rPr>
              <a:t>Acknowledgements</a:t>
            </a:r>
            <a:endParaRPr sz="912" b="1" i="0" cap="all" spc="182">
              <a:solidFill>
                <a:srgbClr val="C66A0F"/>
              </a:solidFill>
              <a:latin typeface="Noto Sans"/>
            </a:endParaRPr>
          </a:p>
        </p:txBody>
      </p:sp>
      <p:sp>
        <p:nvSpPr>
          <p:cNvPr id="5" name="Rectangle 4">
            <a:extLst>
              <a:ext uri="{FF2B5EF4-FFF2-40B4-BE49-F238E27FC236}">
                <a16:creationId xmlns:a16="http://schemas.microsoft.com/office/drawing/2014/main" id="{F75D9DE2-F19E-689F-AF20-73F0D4B2C39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F1684C9F-DD11-6143-CB49-53DF055D0AFE}"/>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Thank you!</a:t>
            </a:r>
            <a:endParaRPr sz="2783" b="1" i="0" spc="-28" dirty="0">
              <a:solidFill>
                <a:srgbClr val="23373B"/>
              </a:solidFill>
              <a:latin typeface="Noto Sans Display"/>
            </a:endParaRPr>
          </a:p>
        </p:txBody>
      </p:sp>
      <p:sp>
        <p:nvSpPr>
          <p:cNvPr id="12" name="TextBox 11">
            <a:extLst>
              <a:ext uri="{FF2B5EF4-FFF2-40B4-BE49-F238E27FC236}">
                <a16:creationId xmlns:a16="http://schemas.microsoft.com/office/drawing/2014/main" id="{78B4E97A-C427-527C-2BB7-020D10213806}"/>
              </a:ext>
            </a:extLst>
          </p:cNvPr>
          <p:cNvSpPr txBox="1"/>
          <p:nvPr/>
        </p:nvSpPr>
        <p:spPr>
          <a:xfrm>
            <a:off x="546100" y="1460500"/>
            <a:ext cx="11099800" cy="3302000"/>
          </a:xfrm>
          <a:prstGeom prst="rect">
            <a:avLst/>
          </a:prstGeom>
          <a:noFill/>
        </p:spPr>
        <p:txBody>
          <a:bodyPr wrap="square" lIns="0" tIns="0" rIns="0" bIns="0" anchor="t">
            <a:noAutofit/>
          </a:bodyPr>
          <a:lstStyle/>
          <a:p>
            <a:pPr algn="l">
              <a:spcBef>
                <a:spcPts val="0"/>
              </a:spcBef>
              <a:spcAft>
                <a:spcPts val="1400"/>
              </a:spcAft>
              <a:buNone/>
            </a:pPr>
            <a:r>
              <a:rPr lang="en-US" sz="2000" b="1" i="0" dirty="0" err="1">
                <a:solidFill>
                  <a:srgbClr val="C66A0F"/>
                </a:solidFill>
                <a:latin typeface="Noto Sans"/>
              </a:rPr>
              <a:t>n_TOF</a:t>
            </a:r>
            <a:r>
              <a:rPr lang="en-US" sz="2000" b="1" i="0" dirty="0">
                <a:solidFill>
                  <a:srgbClr val="C66A0F"/>
                </a:solidFill>
                <a:latin typeface="Noto Sans"/>
              </a:rPr>
              <a:t> local team</a:t>
            </a:r>
            <a:r>
              <a:rPr lang="en-US" sz="2000" i="0" dirty="0">
                <a:solidFill>
                  <a:srgbClr val="404040"/>
                </a:solidFill>
                <a:latin typeface="Noto Sans"/>
              </a:rPr>
              <a:t> — for making the measurement happen in EAR2, and the whole </a:t>
            </a:r>
            <a:r>
              <a:rPr lang="en-US" sz="2000" i="0" dirty="0" err="1">
                <a:solidFill>
                  <a:srgbClr val="404040"/>
                </a:solidFill>
                <a:latin typeface="Noto Sans"/>
              </a:rPr>
              <a:t>n_TOF</a:t>
            </a:r>
            <a:r>
              <a:rPr lang="en-US" sz="2000" i="0" dirty="0">
                <a:solidFill>
                  <a:srgbClr val="404040"/>
                </a:solidFill>
                <a:latin typeface="Noto Sans"/>
              </a:rPr>
              <a:t> collaboration</a:t>
            </a:r>
          </a:p>
          <a:p>
            <a:pPr algn="l">
              <a:spcBef>
                <a:spcPts val="0"/>
              </a:spcBef>
              <a:spcAft>
                <a:spcPts val="1400"/>
              </a:spcAft>
              <a:buNone/>
            </a:pPr>
            <a:r>
              <a:rPr lang="en-US" sz="2000" b="1" i="0" dirty="0">
                <a:solidFill>
                  <a:srgbClr val="C66A0F"/>
                </a:solidFill>
                <a:latin typeface="Noto Sans"/>
              </a:rPr>
              <a:t>CERN GDD &amp; MPT</a:t>
            </a:r>
            <a:r>
              <a:rPr lang="en-US" sz="2000" i="0" dirty="0">
                <a:solidFill>
                  <a:srgbClr val="404040"/>
                </a:solidFill>
                <a:latin typeface="Noto Sans"/>
              </a:rPr>
              <a:t> — for their indispensable support that enabled the measurement</a:t>
            </a:r>
          </a:p>
          <a:p>
            <a:pPr algn="l">
              <a:spcBef>
                <a:spcPts val="0"/>
              </a:spcBef>
              <a:spcAft>
                <a:spcPts val="1400"/>
              </a:spcAft>
              <a:buNone/>
            </a:pPr>
            <a:r>
              <a:rPr lang="en-US" sz="2000" b="1" i="0" dirty="0">
                <a:solidFill>
                  <a:srgbClr val="C66A0F"/>
                </a:solidFill>
                <a:latin typeface="Noto Sans"/>
              </a:rPr>
              <a:t>EUROLABS</a:t>
            </a:r>
            <a:r>
              <a:rPr lang="en-US" sz="2000" i="0" dirty="0">
                <a:solidFill>
                  <a:srgbClr val="404040"/>
                </a:solidFill>
                <a:latin typeface="Noto Sans"/>
              </a:rPr>
              <a:t> — for the funding that made this experiment possible</a:t>
            </a:r>
          </a:p>
          <a:p>
            <a:pPr algn="l">
              <a:spcBef>
                <a:spcPts val="0"/>
              </a:spcBef>
              <a:spcAft>
                <a:spcPts val="1400"/>
              </a:spcAft>
              <a:buNone/>
            </a:pPr>
            <a:r>
              <a:rPr lang="en-US" sz="2000" b="1" i="0" dirty="0">
                <a:solidFill>
                  <a:srgbClr val="C66A0F"/>
                </a:solidFill>
                <a:latin typeface="Noto Sans"/>
              </a:rPr>
              <a:t>CEA Saclay &amp; Bulk Lab</a:t>
            </a:r>
            <a:r>
              <a:rPr lang="en-US" sz="2000" i="0" dirty="0">
                <a:solidFill>
                  <a:srgbClr val="404040"/>
                </a:solidFill>
                <a:latin typeface="Noto Sans"/>
              </a:rPr>
              <a:t> — for help building the detectors and supplying the DAQ</a:t>
            </a:r>
            <a:endParaRPr lang="en-US" sz="2000" dirty="0">
              <a:solidFill>
                <a:srgbClr val="404040"/>
              </a:solidFill>
              <a:latin typeface="Noto Sans"/>
            </a:endParaRPr>
          </a:p>
        </p:txBody>
      </p:sp>
      <p:sp>
        <p:nvSpPr>
          <p:cNvPr id="14" name="TextBox 13">
            <a:extLst>
              <a:ext uri="{FF2B5EF4-FFF2-40B4-BE49-F238E27FC236}">
                <a16:creationId xmlns:a16="http://schemas.microsoft.com/office/drawing/2014/main" id="{774347BE-56D9-6EE0-2497-305AC8D28F9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Rectangle 16">
            <a:extLst>
              <a:ext uri="{FF2B5EF4-FFF2-40B4-BE49-F238E27FC236}">
                <a16:creationId xmlns:a16="http://schemas.microsoft.com/office/drawing/2014/main" id="{C656C57E-6AA8-7119-B493-A822BF421B8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12A8EC70-F0BB-9E45-1A01-2861D32DB0E8}"/>
              </a:ext>
            </a:extLst>
          </p:cNvPr>
          <p:cNvSpPr txBox="1"/>
          <p:nvPr/>
        </p:nvSpPr>
        <p:spPr>
          <a:xfrm>
            <a:off x="546100" y="5334000"/>
            <a:ext cx="2245808" cy="492443"/>
          </a:xfrm>
          <a:prstGeom prst="rect">
            <a:avLst/>
          </a:prstGeom>
          <a:noFill/>
        </p:spPr>
        <p:txBody>
          <a:bodyPr wrap="none" lIns="0" tIns="0" rIns="0" bIns="0" anchor="t">
            <a:spAutoFit/>
          </a:bodyPr>
          <a:lstStyle/>
          <a:p>
            <a:pPr algn="l">
              <a:spcBef>
                <a:spcPts val="0"/>
              </a:spcBef>
              <a:spcAft>
                <a:spcPts val="0"/>
              </a:spcAft>
            </a:pPr>
            <a:r>
              <a:rPr lang="en-US" sz="3200" b="0" i="0" spc="25">
                <a:solidFill>
                  <a:srgbClr val="C66A0F"/>
                </a:solidFill>
                <a:latin typeface="Noto Sans SemiBold"/>
              </a:rPr>
              <a:t>Questions?</a:t>
            </a:r>
            <a:endParaRPr sz="3200" b="0" i="0" spc="25" dirty="0">
              <a:solidFill>
                <a:srgbClr val="C66A0F"/>
              </a:solidFill>
              <a:latin typeface="Noto Sans SemiBold"/>
            </a:endParaRPr>
          </a:p>
        </p:txBody>
      </p:sp>
      <p:sp>
        <p:nvSpPr>
          <p:cNvPr id="13" name="Sketch Caveat">
            <a:extLst>
              <a:ext uri="{FF2B5EF4-FFF2-40B4-BE49-F238E27FC236}">
                <a16:creationId xmlns:a16="http://schemas.microsoft.com/office/drawing/2014/main" id="{EE2DF5E3-F539-4A3E-F3C1-FAB3B2EEF240}"/>
              </a:ext>
            </a:extLst>
          </p:cNvPr>
          <p:cNvSpPr txBox="1"/>
          <p:nvPr/>
        </p:nvSpPr>
        <p:spPr>
          <a:xfrm>
            <a:off x="8515880" y="3734903"/>
            <a:ext cx="3119119" cy="138499"/>
          </a:xfrm>
          <a:prstGeom prst="rect">
            <a:avLst/>
          </a:prstGeom>
          <a:noFill/>
        </p:spPr>
        <p:txBody>
          <a:bodyPr vert="horz" wrap="square" lIns="0" tIns="0" rIns="0" bIns="0" rtlCol="0">
            <a:spAutoFit/>
          </a:bodyPr>
          <a:lstStyle/>
          <a:p>
            <a:pPr algn="r"/>
            <a:r>
              <a:rPr lang="en-US" sz="900" i="1">
                <a:solidFill>
                  <a:srgbClr val="8A939A"/>
                </a:solidFill>
              </a:rPr>
              <a:t>Illustration only — not a realistic spectrum</a:t>
            </a:r>
          </a:p>
        </p:txBody>
      </p:sp>
    </p:spTree>
    <p:extLst>
      <p:ext uri="{BB962C8B-B14F-4D97-AF65-F5344CB8AC3E}">
        <p14:creationId xmlns:p14="http://schemas.microsoft.com/office/powerpoint/2010/main" val="24645745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a:solidFill>
                  <a:srgbClr val="23373B"/>
                </a:solidFill>
                <a:latin typeface="Noto Sans Display"/>
              </a:rPr>
              <a:t>Backup</a:t>
            </a:r>
          </a:p>
        </p:txBody>
      </p:sp>
      <p:sp>
        <p:nvSpPr>
          <p:cNvPr id="6" name="TextBox 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0" name="Rectangle 9">
            <a:extLst>
              <a:ext uri="{FF2B5EF4-FFF2-40B4-BE49-F238E27FC236}">
                <a16:creationId xmlns:a16="http://schemas.microsoft.com/office/drawing/2014/main" id="{02FEB3A4-512A-46BB-93BE-410DB6C61FB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6944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671A5-9175-8AB6-E0CA-C99D6D10F3E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FF4520-1683-5806-8AA3-0E62FD2D4C65}"/>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2ECE1E0A-DCDD-E865-202C-932F8CEFAF7F}"/>
              </a:ext>
            </a:extLst>
          </p:cNvPr>
          <p:cNvSpPr txBox="1"/>
          <p:nvPr/>
        </p:nvSpPr>
        <p:spPr>
          <a:xfrm>
            <a:off x="838140" y="365671"/>
            <a:ext cx="10824330" cy="200025"/>
          </a:xfrm>
          <a:prstGeom prst="rect">
            <a:avLst/>
          </a:prstGeom>
          <a:noFill/>
        </p:spPr>
        <p:txBody>
          <a:bodyPr wrap="square" lIns="0" tIns="0" rIns="0" bIns="0" anchor="t">
            <a:noAutofit/>
          </a:bodyPr>
          <a:lstStyle/>
          <a:p>
            <a:r>
              <a:rPr sz="912" b="1" i="0" cap="all" spc="182" dirty="0">
                <a:solidFill>
                  <a:srgbClr val="C66A0F"/>
                </a:solidFill>
                <a:latin typeface="Noto Sans"/>
              </a:rPr>
              <a:t>Status · </a:t>
            </a:r>
            <a:r>
              <a:rPr lang="en-US" sz="912" b="1" cap="all" spc="182" dirty="0">
                <a:solidFill>
                  <a:srgbClr val="C66A0F"/>
                </a:solidFill>
                <a:latin typeface="Noto Sans"/>
              </a:rPr>
              <a:t>Early Reconstruction Results</a:t>
            </a:r>
            <a:endParaRPr sz="912" b="1" i="0" cap="all" spc="182" dirty="0">
              <a:solidFill>
                <a:srgbClr val="C66A0F"/>
              </a:solidFill>
              <a:latin typeface="Noto Sans"/>
            </a:endParaRPr>
          </a:p>
        </p:txBody>
      </p:sp>
      <p:sp>
        <p:nvSpPr>
          <p:cNvPr id="5" name="Rectangle 4">
            <a:extLst>
              <a:ext uri="{FF2B5EF4-FFF2-40B4-BE49-F238E27FC236}">
                <a16:creationId xmlns:a16="http://schemas.microsoft.com/office/drawing/2014/main" id="{28582260-D090-8AA9-CF0B-1BF182998984}"/>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4A3AA712-1B0B-2EAA-7F1C-7DEAC5DC825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F06B433C-1FB6-B750-DA41-321142C8F2CE}"/>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9B2D8F21-5645-C45D-DD0F-1BCA60E7D9A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pic>
        <p:nvPicPr>
          <p:cNvPr id="13" name="Picture 12"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F268BE49-CACF-DC60-49F5-10B1C6BC1951}"/>
              </a:ext>
            </a:extLst>
          </p:cNvPr>
          <p:cNvPicPr>
            <a:picLocks noChangeAspect="1"/>
          </p:cNvPicPr>
          <p:nvPr/>
        </p:nvPicPr>
        <p:blipFill>
          <a:blip r:embed="rId2"/>
          <a:stretch>
            <a:fillRect/>
          </a:stretch>
        </p:blipFill>
        <p:spPr>
          <a:xfrm>
            <a:off x="1" y="1134054"/>
            <a:ext cx="12192000" cy="5479550"/>
          </a:xfrm>
          <a:prstGeom prst="rect">
            <a:avLst/>
          </a:prstGeom>
        </p:spPr>
      </p:pic>
      <p:sp>
        <p:nvSpPr>
          <p:cNvPr id="16" name="TextBox 15">
            <a:extLst>
              <a:ext uri="{FF2B5EF4-FFF2-40B4-BE49-F238E27FC236}">
                <a16:creationId xmlns:a16="http://schemas.microsoft.com/office/drawing/2014/main" id="{9992E7E4-D710-52EB-3CFA-AE073905036C}"/>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C63572D2-6CA2-8B8B-3E50-314B36C7F882}"/>
              </a:ext>
            </a:extLst>
          </p:cNvPr>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29B407A8-D194-32AC-FEEB-2B34EF58D89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0" name="BulletCard"/>
          <p:cNvSpPr/>
          <p:nvPr/>
        </p:nvSpPr>
        <p:spPr>
          <a:xfrm>
            <a:off x="101600" y="6054267"/>
            <a:ext cx="4978400" cy="264160"/>
          </a:xfrm>
          <a:prstGeom prst="rect">
            <a:avLst/>
          </a:prstGeom>
          <a:solidFill>
            <a:srgbClr val="F2F6F7"/>
          </a:solidFill>
          <a:ln w="9525" cap="flat" cmpd="sng" algn="ctr">
            <a:noFill/>
            <a:prstDash val="solid"/>
          </a:ln>
        </p:spPr>
        <p:txBody>
          <a:bodyPr vertOverflow="clip" horzOverflow="clip" rtlCol="0" anchor="t"/>
          <a:lstStyle/>
          <a:p>
            <a:pPr algn="l"/>
            <a:endParaRPr/>
          </a:p>
        </p:txBody>
      </p:sp>
      <p:sp>
        <p:nvSpPr>
          <p:cNvPr id="31" name="BulletCardAccent"/>
          <p:cNvSpPr/>
          <p:nvPr/>
        </p:nvSpPr>
        <p:spPr>
          <a:xfrm>
            <a:off x="129540" y="6054267"/>
            <a:ext cx="50800" cy="264160"/>
          </a:xfrm>
          <a:prstGeom prst="rect">
            <a:avLst/>
          </a:prstGeom>
          <a:solidFill>
            <a:srgbClr val="EB811B"/>
          </a:solidFill>
          <a:ln w="9525" cap="flat" cmpd="sng" algn="ctr">
            <a:noFill/>
            <a:prstDash val="solid"/>
          </a:ln>
        </p:spPr>
        <p:txBody>
          <a:bodyPr vertOverflow="clip" horzOverflow="clip" rtlCol="0" anchor="t"/>
          <a:lstStyle/>
          <a:p>
            <a:pPr algn="l"/>
            <a:endParaRPr/>
          </a:p>
        </p:txBody>
      </p:sp>
      <p:sp>
        <p:nvSpPr>
          <p:cNvPr id="2" name="TextBox 1">
            <a:extLst>
              <a:ext uri="{FF2B5EF4-FFF2-40B4-BE49-F238E27FC236}">
                <a16:creationId xmlns:a16="http://schemas.microsoft.com/office/drawing/2014/main" id="{372BD564-87FB-2372-FF91-8893D907ABA8}"/>
              </a:ext>
            </a:extLst>
          </p:cNvPr>
          <p:cNvSpPr txBox="1"/>
          <p:nvPr/>
        </p:nvSpPr>
        <p:spPr>
          <a:xfrm>
            <a:off x="358140" y="6054267"/>
            <a:ext cx="4648200" cy="229102"/>
          </a:xfrm>
          <a:prstGeom prst="rect">
            <a:avLst/>
          </a:prstGeom>
          <a:noFill/>
        </p:spPr>
        <p:txBody>
          <a:bodyPr wrap="square" lIns="0" tIns="0" rIns="0" bIns="0" rtlCol="0" anchor="t">
            <a:spAutoFit/>
          </a:bodyPr>
          <a:lstStyle/>
          <a:p>
            <a:pPr marL="228600" indent="-228600" algn="l">
              <a:lnSpc>
                <a:spcPts val="1900"/>
              </a:lnSpc>
              <a:spcBef>
                <a:spcPts val="0"/>
              </a:spcBef>
              <a:spcAft>
                <a:spcPts val="0"/>
              </a:spcAft>
              <a:buClr>
                <a:srgbClr val="EB811B"/>
              </a:buClr>
              <a:buChar char="▸"/>
            </a:pPr>
            <a:r>
              <a:rPr lang="en-US" sz="1400" b="0" i="0" dirty="0">
                <a:solidFill>
                  <a:srgbClr val="23373B"/>
                </a:solidFill>
                <a:latin typeface="Noto Sans"/>
              </a:rPr>
              <a:t>Correlation implies that tracks point back to capsule</a:t>
            </a:r>
          </a:p>
        </p:txBody>
      </p:sp>
    </p:spTree>
    <p:extLst>
      <p:ext uri="{BB962C8B-B14F-4D97-AF65-F5344CB8AC3E}">
        <p14:creationId xmlns:p14="http://schemas.microsoft.com/office/powerpoint/2010/main" val="4156757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0BE77-106C-94CE-0237-E7668129D35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5612447-BEBB-93B6-BBCF-B302B9FCD173}"/>
              </a:ext>
            </a:extLst>
          </p:cNvPr>
          <p:cNvPicPr>
            <a:picLocks noChangeAspect="1"/>
          </p:cNvPicPr>
          <p:nvPr/>
        </p:nvPicPr>
        <p:blipFill>
          <a:blip r:embed="rId2"/>
          <a:srcRect t="7978"/>
          <a:stretch>
            <a:fillRect/>
          </a:stretch>
        </p:blipFill>
        <p:spPr>
          <a:xfrm>
            <a:off x="-1" y="1339660"/>
            <a:ext cx="12192000" cy="5226240"/>
          </a:xfrm>
          <a:prstGeom prst="rect">
            <a:avLst/>
          </a:prstGeom>
        </p:spPr>
      </p:pic>
      <p:sp>
        <p:nvSpPr>
          <p:cNvPr id="3" name="Rectangle 2">
            <a:extLst>
              <a:ext uri="{FF2B5EF4-FFF2-40B4-BE49-F238E27FC236}">
                <a16:creationId xmlns:a16="http://schemas.microsoft.com/office/drawing/2014/main" id="{A4D8C4AD-B5B3-9DC7-9DC6-6CB362C344E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EE84AABD-DE08-39D4-4E6C-793149021B8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D5357C42-2542-2B5F-53C1-162FDCB7B1F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2A56B0E8-9EAB-07D7-6BFA-723FD9D314C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What we expect at thermals -- aluminum</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0DAC9C9F-9059-0555-82E1-57393EB61ED3}"/>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BE48E42B-F018-F2BA-3A77-A7DF4FAD2210}"/>
              </a:ext>
            </a:extLst>
          </p:cNvPr>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F2706272-16E3-57E5-2A6E-730EBC7F4A3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786299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1D78-FF75-8146-6B41-2B8ABAA4475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E8409C-E6DD-0872-C9D5-7F8B73E749BB}"/>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46449C57-CC4A-14AE-2C56-E3441FDCABB7}"/>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9095C09A-69FE-EFF5-D3FC-501BAB9E84C0}"/>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3C252E9A-EA2C-E5B4-92FD-720A5E671CE7}"/>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2815B676-DFBD-0E28-5D07-CF1EA5D8C425}"/>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a:extLst>
              <a:ext uri="{FF2B5EF4-FFF2-40B4-BE49-F238E27FC236}">
                <a16:creationId xmlns:a16="http://schemas.microsoft.com/office/drawing/2014/main" id="{B71B1711-43F4-7261-9A52-1FFA9DEFD61A}"/>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B175DBB4-BD42-9338-6061-D072504BFFBC}"/>
              </a:ext>
            </a:extLst>
          </p:cNvPr>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B3</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C44D0BB3-FA9A-C885-9D8A-F91AD10CEAD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a:extLst>
              <a:ext uri="{FF2B5EF4-FFF2-40B4-BE49-F238E27FC236}">
                <a16:creationId xmlns:a16="http://schemas.microsoft.com/office/drawing/2014/main" id="{AD145250-A805-C929-EE13-37AB46DAE37D}"/>
              </a:ext>
            </a:extLst>
          </p:cNvPr>
          <p:cNvPicPr>
            <a:picLocks noChangeAspect="1"/>
          </p:cNvPicPr>
          <p:nvPr/>
        </p:nvPicPr>
        <p:blipFill>
          <a:blip r:embed="rId2"/>
          <a:stretch>
            <a:fillRect/>
          </a:stretch>
        </p:blipFill>
        <p:spPr>
          <a:xfrm>
            <a:off x="0" y="614195"/>
            <a:ext cx="12192000" cy="5629609"/>
          </a:xfrm>
          <a:prstGeom prst="rect">
            <a:avLst/>
          </a:prstGeom>
        </p:spPr>
      </p:pic>
    </p:spTree>
    <p:extLst>
      <p:ext uri="{BB962C8B-B14F-4D97-AF65-F5344CB8AC3E}">
        <p14:creationId xmlns:p14="http://schemas.microsoft.com/office/powerpoint/2010/main" val="42145200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Every volt of gain costs milliseconds </a:t>
            </a:r>
            <a:r>
              <a:rPr lang="en-US" sz="2783" b="1" i="0" spc="-28" dirty="0">
                <a:solidFill>
                  <a:srgbClr val="23373B"/>
                </a:solidFill>
                <a:latin typeface="Noto Sans Display"/>
              </a:rPr>
              <a:t>of beam</a:t>
            </a:r>
            <a:endParaRPr sz="2783" b="1" i="0" spc="-28" dirty="0">
              <a:solidFill>
                <a:srgbClr val="23373B"/>
              </a:solidFill>
              <a:latin typeface="Noto Sans Display"/>
            </a:endParaRPr>
          </a:p>
        </p:txBody>
      </p:sp>
      <p:pic>
        <p:nvPicPr>
          <p:cNvPr id="7" name="Picture 6" descr="Three panels. Top left, the cosmic bench's own detection efficiency against amplification voltage, translated to the 90/10 gas, with the 560 volt point starred at 81 per cent. Middle, three large numbers: 560 volts, 0.1 per cent of the X17 rate left, 81 per cent efficient. Top right, avalanche charge against the recovery time it buys, on the same time axis as the panel below. Bottom, the X17 pair rate against neutron flight time with a red blind band covering everything up to 13.9 milliseconds, which is nearly the whole axis."/>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15.1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E4F919D-63EE-480D-A830-DEFDEE37E4D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128336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540 volt frame again, now with every other voltage in the build left on the axis behind it as a dotted vertical line, so the setpoint is shown against all the alternatives at onc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21364" y="6629400"/>
            <a:ext cx="43723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15.2 / 25</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3D00437F-BC83-4A52-A25E-B22E73344F1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 name="RanWithBadge">
            <a:extLst>
              <a:ext uri="{FF2B5EF4-FFF2-40B4-BE49-F238E27FC236}">
                <a16:creationId xmlns:a16="http://schemas.microsoft.com/office/drawing/2014/main" id="{17E328B3-61B3-4F64-86B6-57B89348991A}"/>
              </a:ext>
            </a:extLst>
          </p:cNvPr>
          <p:cNvSpPr/>
          <p:nvPr/>
        </p:nvSpPr>
        <p:spPr>
          <a:xfrm>
            <a:off x="9326880" y="165100"/>
            <a:ext cx="2331720" cy="431800"/>
          </a:xfrm>
          <a:prstGeom prst="roundRect">
            <a:avLst/>
          </a:prstGeom>
          <a:solidFill>
            <a:srgbClr val="2E7D32"/>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none" rtlCol="0" anchor="ctr" anchorCtr="0">
            <a:noAutofit/>
          </a:bodyPr>
          <a:lstStyle/>
          <a:p>
            <a:pPr algn="ctr"/>
            <a:r>
              <a:rPr lang="en-US" sz="1700" b="1">
                <a:solidFill>
                  <a:srgbClr val="FFFFFF"/>
                </a:solidFill>
                <a:latin typeface="Noto Sans Display"/>
                <a:ea typeface="Noto Sans Display"/>
                <a:cs typeface="Noto Sans Display"/>
              </a:rPr>
              <a:t>WHAT WE RAN WITH</a:t>
            </a:r>
          </a:p>
        </p:txBody>
      </p:sp>
      <p:sp>
        <p:nvSpPr>
          <p:cNvPr id="2" name="RanWithFrame">
            <a:extLst>
              <a:ext uri="{FF2B5EF4-FFF2-40B4-BE49-F238E27FC236}">
                <a16:creationId xmlns:a16="http://schemas.microsoft.com/office/drawing/2014/main" id="{DF37826F-16F1-4FEE-9B63-3F9365CBF408}"/>
              </a:ext>
            </a:extLst>
          </p:cNvPr>
          <p:cNvSpPr/>
          <p:nvPr/>
        </p:nvSpPr>
        <p:spPr>
          <a:xfrm>
            <a:off x="101600" y="1155700"/>
            <a:ext cx="11988800" cy="5346700"/>
          </a:xfrm>
          <a:prstGeom prst="roundRect">
            <a:avLst/>
          </a:prstGeom>
          <a:noFill/>
          <a:ln w="50800" cap="flat" cmpd="sng" algn="ctr">
            <a:solidFill>
              <a:srgbClr val="2E7D32"/>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502295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Experimental setup</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setup to scale: top-down, and layer by layer</a:t>
            </a:r>
          </a:p>
        </p:txBody>
      </p:sp>
      <p:sp>
        <p:nvSpPr>
          <p:cNvPr id="7" name="Rectangle 6"/>
          <p:cNvSpPr/>
          <p:nvPr/>
        </p:nvSpPr>
        <p:spPr>
          <a:xfrm>
            <a:off x="548580"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op-down pinwheel layout of the four MX17 chambers around the He-3 target"/>
          <p:cNvPicPr>
            <a:picLocks noChangeAspect="1"/>
          </p:cNvPicPr>
          <p:nvPr/>
        </p:nvPicPr>
        <p:blipFill>
          <a:blip r:embed="rId2"/>
          <a:stretch>
            <a:fillRect/>
          </a:stretch>
        </p:blipFill>
        <p:spPr>
          <a:xfrm>
            <a:off x="891677" y="1208732"/>
            <a:ext cx="4714928" cy="4740622"/>
          </a:xfrm>
          <a:prstGeom prst="rect">
            <a:avLst/>
          </a:prstGeom>
        </p:spPr>
      </p:pic>
      <p:sp>
        <p:nvSpPr>
          <p:cNvPr id="9" name="TextBox 8"/>
          <p:cNvSpPr txBox="1"/>
          <p:nvPr/>
        </p:nvSpPr>
        <p:spPr>
          <a:xfrm>
            <a:off x="548580"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Pinwheel, to scale: opposing mylar faces 408.0 mm (B↔D) and 409.0 mm (C↔A)</a:t>
            </a:r>
          </a:p>
        </p:txBody>
      </p:sp>
      <p:sp>
        <p:nvSpPr>
          <p:cNvPr id="10" name="Rectangle 9"/>
          <p:cNvSpPr/>
          <p:nvPr/>
        </p:nvSpPr>
        <p:spPr>
          <a:xfrm>
            <a:off x="6242298" y="1208732"/>
            <a:ext cx="5401121" cy="47407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Top-down section of one full arm: chamber, SiPM wall, plastics, liquid scintillator"/>
          <p:cNvPicPr>
            <a:picLocks noChangeAspect="1"/>
          </p:cNvPicPr>
          <p:nvPr/>
        </p:nvPicPr>
        <p:blipFill>
          <a:blip r:embed="rId3"/>
          <a:stretch>
            <a:fillRect/>
          </a:stretch>
        </p:blipFill>
        <p:spPr>
          <a:xfrm>
            <a:off x="6622029" y="1208732"/>
            <a:ext cx="4641660" cy="4740622"/>
          </a:xfrm>
          <a:prstGeom prst="rect">
            <a:avLst/>
          </a:prstGeom>
        </p:spPr>
      </p:pic>
      <p:sp>
        <p:nvSpPr>
          <p:cNvPr id="12" name="TextBox 11"/>
          <p:cNvSpPr txBox="1"/>
          <p:nvPr/>
        </p:nvSpPr>
        <p:spPr>
          <a:xfrm>
            <a:off x="6242298" y="5852964"/>
            <a:ext cx="5420171" cy="1905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The full stack in section — every layer depth from the mylar front face</a:t>
            </a:r>
          </a:p>
        </p:txBody>
      </p:sp>
      <p:sp>
        <p:nvSpPr>
          <p:cNvPr id="14" name="TextBox 13"/>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Same geometry as the 3-D build-up, drawn as a measured section rather than a render: distances 2026-07-15, per-arm gaps and vessel placements 2026-07-17/18. The intermediate build states (+SiPM, +plastics) are </a:t>
            </a:r>
            <a:r>
              <a:rPr sz="883" b="0" i="0">
                <a:solidFill>
                  <a:srgbClr val="3C5257"/>
                </a:solidFill>
                <a:latin typeface="Noto Sans Mono"/>
              </a:rPr>
              <a:t>setup_2_sipm.png</a:t>
            </a:r>
            <a:r>
              <a:rPr sz="960" b="0" i="0">
                <a:solidFill>
                  <a:srgbClr val="3C5257"/>
                </a:solidFill>
                <a:latin typeface="Noto Sans"/>
              </a:rPr>
              <a:t> / </a:t>
            </a:r>
            <a:r>
              <a:rPr sz="883" b="0" i="0">
                <a:solidFill>
                  <a:srgbClr val="3C5257"/>
                </a:solidFill>
                <a:latin typeface="Noto Sans Mono"/>
              </a:rPr>
              <a:t>setup_3_plastic.png</a:t>
            </a:r>
            <a:r>
              <a:rPr sz="960" b="0" i="0">
                <a:solidFill>
                  <a:srgbClr val="3C5257"/>
                </a:solidFill>
                <a:latin typeface="Noto Sans"/>
              </a:rPr>
              <a:t> in </a:t>
            </a:r>
            <a:r>
              <a:rPr sz="883" b="0" i="0">
                <a:solidFill>
                  <a:srgbClr val="3C5257"/>
                </a:solidFill>
                <a:latin typeface="Noto Sans Mono"/>
              </a:rPr>
              <a:t>assets/img/</a:t>
            </a:r>
            <a:r>
              <a:rPr sz="960" b="0" i="0">
                <a:solidFill>
                  <a:srgbClr val="3C5257"/>
                </a:solidFill>
                <a:latin typeface="Noto Sans"/>
              </a:rPr>
              <a:t>.</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6" name="TextBox 15"/>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B4</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4EC153E9-7D5F-4EA9-9254-18F03DF3634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1152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~1° per-event scatter is physics, not fitting</a:t>
            </a:r>
          </a:p>
        </p:txBody>
      </p:sp>
      <p:sp>
        <p:nvSpPr>
          <p:cNvPr id="7" name="Rectangle 6"/>
          <p:cNvSpPr/>
          <p:nvPr/>
        </p:nvSpPr>
        <p:spPr>
          <a:xfrm>
            <a:off x="548580" y="1208732"/>
            <a:ext cx="6589365" cy="44331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Left: per-event angle residual histograms, sigma 1.16 degrees in X and 1.13 in Y with bias below a tenth of a degree. Middle: resolution flat across track angle and sitting on the measured physics floor. Right: implied drift velocity flat within about one and a half micrometres per nanosecond of the calibration value."/>
          <p:cNvPicPr>
            <a:picLocks noChangeAspect="1"/>
          </p:cNvPicPr>
          <p:nvPr/>
        </p:nvPicPr>
        <p:blipFill>
          <a:blip r:embed="rId2"/>
          <a:stretch>
            <a:fillRect/>
          </a:stretch>
        </p:blipFill>
        <p:spPr>
          <a:xfrm>
            <a:off x="548657" y="2179886"/>
            <a:ext cx="6589212" cy="2185690"/>
          </a:xfrm>
          <a:prstGeom prst="rect">
            <a:avLst/>
          </a:prstGeom>
        </p:spPr>
      </p:pic>
      <p:sp>
        <p:nvSpPr>
          <p:cNvPr id="9" name="TextBox 8"/>
          <p:cNvSpPr txBox="1"/>
          <p:nvPr/>
        </p:nvSpPr>
        <p:spPr>
          <a:xfrm>
            <a:off x="548580" y="5545336"/>
            <a:ext cx="6608415" cy="374749"/>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Full run, 6,852 / 6,850 reference-matched events, reference never in any fit: σ</a:t>
            </a:r>
            <a:r>
              <a:rPr sz="735" b="0" i="0" spc="18" baseline="-25000">
                <a:solidFill>
                  <a:srgbClr val="5D7176"/>
                </a:solidFill>
                <a:latin typeface="Noto Sans"/>
              </a:rPr>
              <a:t>θ</a:t>
            </a:r>
            <a:r>
              <a:rPr sz="883" b="0" i="0" spc="18">
                <a:solidFill>
                  <a:srgbClr val="5D7176"/>
                </a:solidFill>
                <a:latin typeface="Noto Sans"/>
              </a:rPr>
              <a:t> = 1.16° / 1.13°, bias &lt; 0.1°, </a:t>
            </a:r>
            <a:r>
              <a:rPr sz="883" b="1" i="0" spc="18">
                <a:solidFill>
                  <a:srgbClr val="5D7176"/>
                </a:solidFill>
                <a:latin typeface="Noto Sans"/>
              </a:rPr>
              <a:t>flat across the angle range and sitting on the measured floor</a:t>
            </a:r>
            <a:r>
              <a:rPr sz="883" b="0" i="0" spc="18">
                <a:solidFill>
                  <a:srgbClr val="5D7176"/>
                </a:solidFill>
                <a:latin typeface="Noto Sans"/>
              </a:rPr>
              <a:t> (middle, dashed); implied v flat to ~1.4 µm/ns (right)</a:t>
            </a:r>
          </a:p>
        </p:txBody>
      </p:sp>
      <p:graphicFrame>
        <p:nvGraphicFramePr>
          <p:cNvPr id="10" name="Table 9"/>
          <p:cNvGraphicFramePr>
            <a:graphicFrameLocks noGrp="1"/>
          </p:cNvGraphicFramePr>
          <p:nvPr/>
        </p:nvGraphicFramePr>
        <p:xfrm>
          <a:off x="7430542" y="2206675"/>
          <a:ext cx="4212729" cy="2505818"/>
        </p:xfrm>
        <a:graphic>
          <a:graphicData uri="http://schemas.openxmlformats.org/drawingml/2006/table">
            <a:tbl>
              <a:tblPr>
                <a:tableStyleId>{2D5ABB26-0587-4C30-8999-92F81FD0307C}</a:tableStyleId>
              </a:tblPr>
              <a:tblGrid>
                <a:gridCol w="945356">
                  <a:extLst>
                    <a:ext uri="{9D8B030D-6E8A-4147-A177-3AD203B41FA5}">
                      <a16:colId xmlns:a16="http://schemas.microsoft.com/office/drawing/2014/main" val="20000"/>
                    </a:ext>
                  </a:extLst>
                </a:gridCol>
                <a:gridCol w="3267373">
                  <a:extLst>
                    <a:ext uri="{9D8B030D-6E8A-4147-A177-3AD203B41FA5}">
                      <a16:colId xmlns:a16="http://schemas.microsoft.com/office/drawing/2014/main" val="20001"/>
                    </a:ext>
                  </a:extLst>
                </a:gridCol>
              </a:tblGrid>
              <a:tr h="697111">
                <a:tc>
                  <a:txBody>
                    <a:bodyPr/>
                    <a:lstStyle/>
                    <a:p>
                      <a:pPr algn="l">
                        <a:lnSpc>
                          <a:spcPts val="1205"/>
                        </a:lnSpc>
                        <a:spcBef>
                          <a:spcPts val="0"/>
                        </a:spcBef>
                        <a:spcAft>
                          <a:spcPts val="0"/>
                        </a:spcAft>
                      </a:pPr>
                      <a:r>
                        <a:rPr sz="873" b="0" i="0">
                          <a:solidFill>
                            <a:srgbClr val="23373B"/>
                          </a:solidFill>
                          <a:latin typeface="Noto Sans SemiBold"/>
                        </a:rPr>
                        <a:t>The closure test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waveforms generated from the calibrated model with </a:t>
                      </a:r>
                      <a:r>
                        <a:rPr sz="873" b="1" i="0">
                          <a:solidFill>
                            <a:srgbClr val="23373B"/>
                          </a:solidFill>
                          <a:latin typeface="Noto Sans"/>
                        </a:rPr>
                        <a:t>known</a:t>
                      </a:r>
                      <a:r>
                        <a:rPr sz="873" b="0" i="0">
                          <a:solidFill>
                            <a:srgbClr val="23373B"/>
                          </a:solidFill>
                          <a:latin typeface="Noto Sans"/>
                        </a:rPr>
                        <a:t> tracks — real geometries, real charge profiles, real noise, real clipping — then fitted back. One knob: per-depth-bin transverse jitter of the charge centroid</a:t>
                      </a:r>
                    </a:p>
                  </a:txBody>
                  <a:tcPr marL="0" marR="66568" marT="35503" marB="35503">
                    <a:noFill/>
                  </a:tcPr>
                </a:tc>
                <a:extLst>
                  <a:ext uri="{0D108BD9-81ED-4DB2-BD59-A6C34878D82A}">
                    <a16:rowId xmlns:a16="http://schemas.microsoft.com/office/drawing/2014/main" val="10000"/>
                  </a:ext>
                </a:extLst>
              </a:tr>
              <a:tr h="411510">
                <a:tc>
                  <a:txBody>
                    <a:bodyPr/>
                    <a:lstStyle/>
                    <a:p>
                      <a:pPr algn="l">
                        <a:lnSpc>
                          <a:spcPts val="1205"/>
                        </a:lnSpc>
                        <a:spcBef>
                          <a:spcPts val="0"/>
                        </a:spcBef>
                        <a:spcAft>
                          <a:spcPts val="0"/>
                        </a:spcAft>
                      </a:pPr>
                      <a:r>
                        <a:rPr sz="873" b="0" i="0">
                          <a:solidFill>
                            <a:srgbClr val="23373B"/>
                          </a:solidFill>
                          <a:latin typeface="Noto Sans SemiBold"/>
                        </a:rPr>
                        <a:t>jitter 0</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σ</a:t>
                      </a:r>
                      <a:r>
                        <a:rPr sz="728" b="0" i="0" baseline="-25000">
                          <a:solidFill>
                            <a:srgbClr val="23373B"/>
                          </a:solidFill>
                          <a:latin typeface="Noto Sans"/>
                        </a:rPr>
                        <a:t>θ</a:t>
                      </a:r>
                      <a:r>
                        <a:rPr sz="873" b="0" i="0">
                          <a:solidFill>
                            <a:srgbClr val="23373B"/>
                          </a:solidFill>
                          <a:latin typeface="Noto Sans"/>
                        </a:rPr>
                        <a:t> 0.02° — </a:t>
                      </a:r>
                      <a:r>
                        <a:rPr sz="873" b="1" i="0">
                          <a:solidFill>
                            <a:srgbClr val="23373B"/>
                          </a:solidFill>
                          <a:latin typeface="Noto Sans"/>
                        </a:rPr>
                        <a:t>electronics noise contributes essentially nothing</a:t>
                      </a:r>
                    </a:p>
                  </a:txBody>
                  <a:tcPr marL="0" marR="66568" marT="35503" marB="35503">
                    <a:noFill/>
                  </a:tcPr>
                </a:tc>
                <a:extLst>
                  <a:ext uri="{0D108BD9-81ED-4DB2-BD59-A6C34878D82A}">
                    <a16:rowId xmlns:a16="http://schemas.microsoft.com/office/drawing/2014/main" val="10001"/>
                  </a:ext>
                </a:extLst>
              </a:tr>
              <a:tr h="233362">
                <a:tc>
                  <a:txBody>
                    <a:bodyPr/>
                    <a:lstStyle/>
                    <a:p>
                      <a:pPr algn="l">
                        <a:lnSpc>
                          <a:spcPts val="1205"/>
                        </a:lnSpc>
                        <a:spcBef>
                          <a:spcPts val="0"/>
                        </a:spcBef>
                        <a:spcAft>
                          <a:spcPts val="0"/>
                        </a:spcAft>
                      </a:pPr>
                      <a:r>
                        <a:rPr sz="873" b="0" i="0">
                          <a:solidFill>
                            <a:srgbClr val="23373B"/>
                          </a:solidFill>
                          <a:latin typeface="Noto Sans SemiBold"/>
                        </a:rPr>
                        <a:t>0.15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0.55°</a:t>
                      </a:r>
                    </a:p>
                  </a:txBody>
                  <a:tcPr marL="0" marR="66568" marT="35503" marB="35503">
                    <a:noFill/>
                  </a:tcPr>
                </a:tc>
                <a:extLst>
                  <a:ext uri="{0D108BD9-81ED-4DB2-BD59-A6C34878D82A}">
                    <a16:rowId xmlns:a16="http://schemas.microsoft.com/office/drawing/2014/main" val="10002"/>
                  </a:ext>
                </a:extLst>
              </a:tr>
              <a:tr h="539353">
                <a:tc>
                  <a:txBody>
                    <a:bodyPr/>
                    <a:lstStyle/>
                    <a:p>
                      <a:pPr algn="l">
                        <a:lnSpc>
                          <a:spcPts val="1205"/>
                        </a:lnSpc>
                        <a:spcBef>
                          <a:spcPts val="0"/>
                        </a:spcBef>
                        <a:spcAft>
                          <a:spcPts val="0"/>
                        </a:spcAft>
                      </a:pPr>
                      <a:r>
                        <a:rPr sz="873" b="1" i="0">
                          <a:solidFill>
                            <a:srgbClr val="23373B"/>
                          </a:solidFill>
                          <a:latin typeface="Noto Sans"/>
                        </a:rPr>
                        <a:t>0.30 mm</a:t>
                      </a:r>
                    </a:p>
                  </a:txBody>
                  <a:tcPr marL="0" marR="66568" marT="35503" marB="35503">
                    <a:noFill/>
                  </a:tcPr>
                </a:tc>
                <a:tc>
                  <a:txBody>
                    <a:bodyPr/>
                    <a:lstStyle/>
                    <a:p>
                      <a:pPr algn="l">
                        <a:lnSpc>
                          <a:spcPts val="1205"/>
                        </a:lnSpc>
                        <a:spcBef>
                          <a:spcPts val="0"/>
                        </a:spcBef>
                        <a:spcAft>
                          <a:spcPts val="0"/>
                        </a:spcAft>
                      </a:pPr>
                      <a:r>
                        <a:rPr sz="873" b="1" i="0">
                          <a:solidFill>
                            <a:srgbClr val="23373B"/>
                          </a:solidFill>
                          <a:latin typeface="Noto Sans"/>
                        </a:rPr>
                        <a:t>1.05°</a:t>
                      </a:r>
                      <a:r>
                        <a:rPr sz="873" b="0" i="0">
                          <a:solidFill>
                            <a:srgbClr val="23373B"/>
                          </a:solidFill>
                          <a:latin typeface="Noto Sans"/>
                        </a:rPr>
                        <a:t> — the scale diffusion + a few effective electrons per 2 mm of track + δ-rays actually give; </a:t>
                      </a:r>
                      <a:r>
                        <a:rPr sz="873" b="1" i="0">
                          <a:solidFill>
                            <a:srgbClr val="23373B"/>
                          </a:solidFill>
                          <a:latin typeface="Noto Sans"/>
                        </a:rPr>
                        <a:t>reproduces the data exactly</a:t>
                      </a:r>
                    </a:p>
                  </a:txBody>
                  <a:tcPr marL="0" marR="66568" marT="35503" marB="35503">
                    <a:noFill/>
                  </a:tcPr>
                </a:tc>
                <a:extLst>
                  <a:ext uri="{0D108BD9-81ED-4DB2-BD59-A6C34878D82A}">
                    <a16:rowId xmlns:a16="http://schemas.microsoft.com/office/drawing/2014/main" val="10003"/>
                  </a:ext>
                </a:extLst>
              </a:tr>
              <a:tr h="233362">
                <a:tc>
                  <a:txBody>
                    <a:bodyPr/>
                    <a:lstStyle/>
                    <a:p>
                      <a:pPr algn="l">
                        <a:lnSpc>
                          <a:spcPts val="1205"/>
                        </a:lnSpc>
                        <a:spcBef>
                          <a:spcPts val="0"/>
                        </a:spcBef>
                        <a:spcAft>
                          <a:spcPts val="0"/>
                        </a:spcAft>
                      </a:pPr>
                      <a:r>
                        <a:rPr sz="873" b="0" i="0">
                          <a:solidFill>
                            <a:srgbClr val="23373B"/>
                          </a:solidFill>
                          <a:latin typeface="Noto Sans SemiBold"/>
                        </a:rPr>
                        <a:t>0.50 mm</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1.77°</a:t>
                      </a:r>
                    </a:p>
                  </a:txBody>
                  <a:tcPr marL="0" marR="66568" marT="35503" marB="35503">
                    <a:noFill/>
                  </a:tcPr>
                </a:tc>
                <a:extLst>
                  <a:ext uri="{0D108BD9-81ED-4DB2-BD59-A6C34878D82A}">
                    <a16:rowId xmlns:a16="http://schemas.microsoft.com/office/drawing/2014/main" val="10004"/>
                  </a:ext>
                </a:extLst>
              </a:tr>
              <a:tr h="391120">
                <a:tc>
                  <a:txBody>
                    <a:bodyPr/>
                    <a:lstStyle/>
                    <a:p>
                      <a:pPr algn="l">
                        <a:lnSpc>
                          <a:spcPts val="1205"/>
                        </a:lnSpc>
                        <a:spcBef>
                          <a:spcPts val="0"/>
                        </a:spcBef>
                        <a:spcAft>
                          <a:spcPts val="0"/>
                        </a:spcAft>
                      </a:pPr>
                      <a:r>
                        <a:rPr sz="873" b="0" i="0">
                          <a:solidFill>
                            <a:srgbClr val="23373B"/>
                          </a:solidFill>
                          <a:latin typeface="Noto Sans SemiBold"/>
                        </a:rPr>
                        <a:t>errors honest?</a:t>
                      </a:r>
                    </a:p>
                  </a:txBody>
                  <a:tcPr marL="0" marR="66568" marT="35503" marB="35503">
                    <a:noFill/>
                  </a:tcPr>
                </a:tc>
                <a:tc>
                  <a:txBody>
                    <a:bodyPr/>
                    <a:lstStyle/>
                    <a:p>
                      <a:pPr algn="l">
                        <a:lnSpc>
                          <a:spcPts val="1205"/>
                        </a:lnSpc>
                        <a:spcBef>
                          <a:spcPts val="0"/>
                        </a:spcBef>
                        <a:spcAft>
                          <a:spcPts val="0"/>
                        </a:spcAft>
                      </a:pPr>
                      <a:r>
                        <a:rPr sz="873" b="0" i="0">
                          <a:solidFill>
                            <a:srgbClr val="23373B"/>
                          </a:solidFill>
                          <a:latin typeface="Noto Sans"/>
                        </a:rPr>
                        <a:t>pull width 1.16 (X) / 1.13 (Y) — ~15 % optimistic, and χ²/dof genuinely ranks which fits to distrust</a:t>
                      </a:r>
                    </a:p>
                  </a:txBody>
                  <a:tcPr marL="0" marR="66568" marT="35503" marB="35503">
                    <a:noFill/>
                  </a:tcPr>
                </a:tc>
                <a:extLst>
                  <a:ext uri="{0D108BD9-81ED-4DB2-BD59-A6C34878D82A}">
                    <a16:rowId xmlns:a16="http://schemas.microsoft.com/office/drawing/2014/main" val="10005"/>
                  </a:ext>
                </a:extLst>
              </a:tr>
            </a:tbl>
          </a:graphicData>
        </a:graphic>
      </p:graphicFrame>
      <p:sp>
        <p:nvSpPr>
          <p:cNvPr id="11" name="Rectangle 10"/>
          <p:cNvSpPr/>
          <p:nvPr/>
        </p:nvSpPr>
        <p:spPr>
          <a:xfrm>
            <a:off x="7430542" y="2903786"/>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375898" y="2903786"/>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7430542" y="3315295"/>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375898" y="3315295"/>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430542" y="3548658"/>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375898" y="3548658"/>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430542" y="4088011"/>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375898" y="4088011"/>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430542" y="4321373"/>
            <a:ext cx="945356"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375898" y="4321373"/>
            <a:ext cx="326737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580" y="6010845"/>
            <a:ext cx="11113889" cy="535509"/>
          </a:xfrm>
          <a:prstGeom prst="rect">
            <a:avLst/>
          </a:prstGeom>
          <a:noFill/>
        </p:spPr>
        <p:txBody>
          <a:bodyPr wrap="square" lIns="0" tIns="0" rIns="0" bIns="0" anchor="t">
            <a:noAutofit/>
          </a:bodyPr>
          <a:lstStyle/>
          <a:p>
            <a:pPr algn="l">
              <a:lnSpc>
                <a:spcPts val="1280"/>
              </a:lnSpc>
              <a:spcBef>
                <a:spcPts val="0"/>
              </a:spcBef>
              <a:spcAft>
                <a:spcPts val="0"/>
              </a:spcAft>
            </a:pPr>
            <a:r>
              <a:rPr sz="883" b="0" i="0">
                <a:solidFill>
                  <a:srgbClr val="3C5257"/>
                </a:solidFill>
                <a:latin typeface="Noto Sans"/>
              </a:rPr>
              <a:t>So the per-event fit is extracting </a:t>
            </a:r>
            <a:r>
              <a:rPr sz="883" b="1" i="0">
                <a:solidFill>
                  <a:srgbClr val="23373B"/>
                </a:solidFill>
                <a:latin typeface="Noto Sans"/>
              </a:rPr>
              <a:t>essentially all the information the detector geometry physically has</a:t>
            </a:r>
            <a:r>
              <a:rPr sz="883" b="0" i="0">
                <a:solidFill>
                  <a:srgbClr val="3C5257"/>
                </a:solidFill>
                <a:latin typeface="Noto Sans"/>
              </a:rPr>
              <a:t> — gains beyond ~1° come from ensemble averaging, not better fitters, which is why the reported errors carry a physics floor added in quadrature and the optimiser tolerances are deliberately loose. Ablations agree: dropping any single model refinement moves per-event σ by &lt; 0.05°; what the refinements buy is </a:t>
            </a:r>
            <a:r>
              <a:rPr sz="883" b="0" i="1">
                <a:solidFill>
                  <a:srgbClr val="3C5257"/>
                </a:solidFill>
                <a:latin typeface="Noto Sans"/>
              </a:rPr>
              <a:t>ensemble physicality</a:t>
            </a:r>
            <a:r>
              <a:rPr sz="883" b="0" i="0">
                <a:solidFill>
                  <a:srgbClr val="3C5257"/>
                </a:solidFill>
                <a:latin typeface="Noto Sans"/>
              </a:rPr>
              <a:t> (implied-v flatness), the thing that cannot be tuned. Doc Part VII §41–43.</a:t>
            </a:r>
          </a:p>
        </p:txBody>
      </p:sp>
      <p:sp>
        <p:nvSpPr>
          <p:cNvPr id="23" name="TextBox 2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4" name="TextBox 23"/>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B5</a:t>
            </a:r>
            <a:endParaRPr sz="719" b="0" i="0" spc="58">
              <a:solidFill>
                <a:srgbClr val="5D7176"/>
              </a:solidFill>
              <a:latin typeface="Noto Sans"/>
            </a:endParaRPr>
          </a:p>
        </p:txBody>
      </p:sp>
      <p:sp>
        <p:nvSpPr>
          <p:cNvPr id="27" name="Rectangle 26">
            <a:extLst>
              <a:ext uri="{FF2B5EF4-FFF2-40B4-BE49-F238E27FC236}">
                <a16:creationId xmlns:a16="http://schemas.microsoft.com/office/drawing/2014/main" id="{D06E2B73-B3A0-4030-871C-963FAF41AD4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54829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Characterization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fleet, and what limits each chamber</a:t>
            </a:r>
          </a:p>
        </p:txBody>
      </p:sp>
      <p:sp>
        <p:nvSpPr>
          <p:cNvPr id="7" name="TextBox 6"/>
          <p:cNvSpPr txBox="1"/>
          <p:nvPr/>
        </p:nvSpPr>
        <p:spPr>
          <a:xfrm>
            <a:off x="548580" y="2509689"/>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det3</a:t>
            </a:r>
          </a:p>
        </p:txBody>
      </p:sp>
      <p:sp>
        <p:nvSpPr>
          <p:cNvPr id="8" name="Rectangle 7"/>
          <p:cNvSpPr/>
          <p:nvPr/>
        </p:nvSpPr>
        <p:spPr>
          <a:xfrm>
            <a:off x="1158032" y="2524125"/>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158032" y="2524125"/>
            <a:ext cx="390197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31631" y="2509689"/>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93.3%</a:t>
            </a:r>
          </a:p>
        </p:txBody>
      </p:sp>
      <p:sp>
        <p:nvSpPr>
          <p:cNvPr id="11" name="TextBox 10"/>
          <p:cNvSpPr txBox="1"/>
          <p:nvPr/>
        </p:nvSpPr>
        <p:spPr>
          <a:xfrm>
            <a:off x="548580" y="2827734"/>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det2</a:t>
            </a:r>
          </a:p>
        </p:txBody>
      </p:sp>
      <p:sp>
        <p:nvSpPr>
          <p:cNvPr id="12" name="Rectangle 11"/>
          <p:cNvSpPr/>
          <p:nvPr/>
        </p:nvSpPr>
        <p:spPr>
          <a:xfrm>
            <a:off x="1158032" y="2842171"/>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1158032" y="2842171"/>
            <a:ext cx="3847505"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31631" y="2827734"/>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92.0%</a:t>
            </a:r>
          </a:p>
        </p:txBody>
      </p:sp>
      <p:sp>
        <p:nvSpPr>
          <p:cNvPr id="15" name="TextBox 14"/>
          <p:cNvSpPr txBox="1"/>
          <p:nvPr/>
        </p:nvSpPr>
        <p:spPr>
          <a:xfrm>
            <a:off x="548580" y="3145780"/>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det6</a:t>
            </a:r>
          </a:p>
        </p:txBody>
      </p:sp>
      <p:sp>
        <p:nvSpPr>
          <p:cNvPr id="16" name="Rectangle 15"/>
          <p:cNvSpPr/>
          <p:nvPr/>
        </p:nvSpPr>
        <p:spPr>
          <a:xfrm>
            <a:off x="1158032" y="3160216"/>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1158032" y="3160216"/>
            <a:ext cx="3132386"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31631" y="3145780"/>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74.9%</a:t>
            </a:r>
          </a:p>
        </p:txBody>
      </p:sp>
      <p:sp>
        <p:nvSpPr>
          <p:cNvPr id="19" name="TextBox 18"/>
          <p:cNvSpPr txBox="1"/>
          <p:nvPr/>
        </p:nvSpPr>
        <p:spPr>
          <a:xfrm>
            <a:off x="548580" y="3463826"/>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det7</a:t>
            </a:r>
          </a:p>
        </p:txBody>
      </p:sp>
      <p:sp>
        <p:nvSpPr>
          <p:cNvPr id="20" name="Rectangle 19"/>
          <p:cNvSpPr/>
          <p:nvPr/>
        </p:nvSpPr>
        <p:spPr>
          <a:xfrm>
            <a:off x="1158032" y="3478262"/>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158032" y="3478262"/>
            <a:ext cx="2383780"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31631" y="3463826"/>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57.0%</a:t>
            </a:r>
          </a:p>
        </p:txBody>
      </p:sp>
      <p:sp>
        <p:nvSpPr>
          <p:cNvPr id="23" name="TextBox 22"/>
          <p:cNvSpPr txBox="1"/>
          <p:nvPr/>
        </p:nvSpPr>
        <p:spPr>
          <a:xfrm>
            <a:off x="548580" y="3781871"/>
            <a:ext cx="537121" cy="257175"/>
          </a:xfrm>
          <a:prstGeom prst="rect">
            <a:avLst/>
          </a:prstGeom>
          <a:noFill/>
        </p:spPr>
        <p:txBody>
          <a:bodyPr wrap="square" lIns="0" tIns="0" rIns="0" bIns="0" anchor="t">
            <a:noAutofit/>
          </a:bodyPr>
          <a:lstStyle/>
          <a:p>
            <a:pPr algn="r">
              <a:spcBef>
                <a:spcPts val="0"/>
              </a:spcBef>
              <a:spcAft>
                <a:spcPts val="0"/>
              </a:spcAft>
            </a:pPr>
            <a:r>
              <a:rPr sz="1248" b="0" i="0">
                <a:solidFill>
                  <a:srgbClr val="23373B"/>
                </a:solidFill>
                <a:latin typeface="Noto Sans SemiBold"/>
              </a:rPr>
              <a:t>det4</a:t>
            </a:r>
          </a:p>
        </p:txBody>
      </p:sp>
      <p:sp>
        <p:nvSpPr>
          <p:cNvPr id="24" name="Rectangle 23"/>
          <p:cNvSpPr/>
          <p:nvPr/>
        </p:nvSpPr>
        <p:spPr>
          <a:xfrm>
            <a:off x="1158032" y="3796308"/>
            <a:ext cx="4182219" cy="190054"/>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1158032" y="3796308"/>
            <a:ext cx="1739801" cy="190054"/>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431631" y="3781871"/>
            <a:ext cx="537121" cy="257175"/>
          </a:xfrm>
          <a:prstGeom prst="rect">
            <a:avLst/>
          </a:prstGeom>
          <a:noFill/>
        </p:spPr>
        <p:txBody>
          <a:bodyPr wrap="square" lIns="0" tIns="0" rIns="0" bIns="0" anchor="t">
            <a:noAutofit/>
          </a:bodyPr>
          <a:lstStyle/>
          <a:p>
            <a:pPr algn="l">
              <a:spcBef>
                <a:spcPts val="0"/>
              </a:spcBef>
              <a:spcAft>
                <a:spcPts val="0"/>
              </a:spcAft>
            </a:pPr>
            <a:r>
              <a:rPr sz="1248" b="1" i="0">
                <a:solidFill>
                  <a:srgbClr val="23373B"/>
                </a:solidFill>
                <a:latin typeface="Noto Sans"/>
              </a:rPr>
              <a:t>41.6%</a:t>
            </a:r>
          </a:p>
        </p:txBody>
      </p:sp>
      <p:sp>
        <p:nvSpPr>
          <p:cNvPr id="27" name="TextBox 26"/>
          <p:cNvSpPr txBox="1"/>
          <p:nvPr/>
        </p:nvSpPr>
        <p:spPr>
          <a:xfrm>
            <a:off x="548580" y="5491014"/>
            <a:ext cx="5420171" cy="552450"/>
          </a:xfrm>
          <a:prstGeom prst="rect">
            <a:avLst/>
          </a:prstGeom>
          <a:noFill/>
        </p:spPr>
        <p:txBody>
          <a:bodyPr wrap="square" lIns="0" tIns="0" rIns="0" bIns="0" anchor="t">
            <a:noAutofit/>
          </a:bodyPr>
          <a:lstStyle/>
          <a:p>
            <a:pPr algn="l">
              <a:spcBef>
                <a:spcPts val="0"/>
              </a:spcBef>
              <a:spcAft>
                <a:spcPts val="0"/>
              </a:spcAft>
            </a:pPr>
            <a:r>
              <a:rPr sz="960" b="0" i="0">
                <a:solidFill>
                  <a:srgbClr val="5D7176"/>
                </a:solidFill>
                <a:latin typeface="Noto Sans"/>
              </a:rPr>
              <a:t>Reconstructed within 5 mm of the M3 reference track (χ²&lt;1.0 &amp; NClus=4). One high-statistics sub-run per chamber, 3.7k–12.3k reference muons, waveform-first reconstruction, 2026-08-13 reprocessing.</a:t>
            </a:r>
          </a:p>
        </p:txBody>
      </p:sp>
      <p:graphicFrame>
        <p:nvGraphicFramePr>
          <p:cNvPr id="28" name="Table 27"/>
          <p:cNvGraphicFramePr>
            <a:graphicFrameLocks noGrp="1"/>
          </p:cNvGraphicFramePr>
          <p:nvPr/>
        </p:nvGraphicFramePr>
        <p:xfrm>
          <a:off x="6242298" y="1921073"/>
          <a:ext cx="5401121" cy="3200252"/>
        </p:xfrm>
        <a:graphic>
          <a:graphicData uri="http://schemas.openxmlformats.org/drawingml/2006/table">
            <a:tbl>
              <a:tblPr>
                <a:tableStyleId>{2D5ABB26-0587-4C30-8999-92F81FD0307C}</a:tableStyleId>
              </a:tblPr>
              <a:tblGrid>
                <a:gridCol w="1178123">
                  <a:extLst>
                    <a:ext uri="{9D8B030D-6E8A-4147-A177-3AD203B41FA5}">
                      <a16:colId xmlns:a16="http://schemas.microsoft.com/office/drawing/2014/main" val="20000"/>
                    </a:ext>
                  </a:extLst>
                </a:gridCol>
                <a:gridCol w="4222998">
                  <a:extLst>
                    <a:ext uri="{9D8B030D-6E8A-4147-A177-3AD203B41FA5}">
                      <a16:colId xmlns:a16="http://schemas.microsoft.com/office/drawing/2014/main" val="20001"/>
                    </a:ext>
                  </a:extLst>
                </a:gridCol>
              </a:tblGrid>
              <a:tr h="535484">
                <a:tc>
                  <a:txBody>
                    <a:bodyPr/>
                    <a:lstStyle/>
                    <a:p>
                      <a:pPr algn="l">
                        <a:lnSpc>
                          <a:spcPts val="1682"/>
                        </a:lnSpc>
                        <a:spcBef>
                          <a:spcPts val="0"/>
                        </a:spcBef>
                        <a:spcAft>
                          <a:spcPts val="0"/>
                        </a:spcAft>
                      </a:pPr>
                      <a:r>
                        <a:rPr sz="1160" b="0" i="0">
                          <a:solidFill>
                            <a:srgbClr val="23373B"/>
                          </a:solidFill>
                          <a:latin typeface="Noto Sans SemiBold"/>
                        </a:rPr>
                        <a:t>det3 / det2</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Healthy. </a:t>
                      </a:r>
                      <a:r>
                        <a:rPr sz="1160" b="1" i="0">
                          <a:solidFill>
                            <a:srgbClr val="23373B"/>
                          </a:solidFill>
                          <a:latin typeface="Noto Sans"/>
                        </a:rPr>
                        <a:t>100%</a:t>
                      </a:r>
                      <a:r>
                        <a:rPr sz="1160" b="0" i="0">
                          <a:solidFill>
                            <a:srgbClr val="23373B"/>
                          </a:solidFill>
                          <a:latin typeface="Noto Sans"/>
                        </a:rPr>
                        <a:t> of crossings fire; the whole residue is a 2.4–3.2% discharge coincidence and a 4.0–4.3% near-miss tail.</a:t>
                      </a:r>
                    </a:p>
                  </a:txBody>
                  <a:tcPr marL="0" marR="88441" marT="47168" marB="47168">
                    <a:noFill/>
                  </a:tcPr>
                </a:tc>
                <a:extLst>
                  <a:ext uri="{0D108BD9-81ED-4DB2-BD59-A6C34878D82A}">
                    <a16:rowId xmlns:a16="http://schemas.microsoft.com/office/drawing/2014/main" val="10000"/>
                  </a:ext>
                </a:extLst>
              </a:tr>
              <a:tr h="957858">
                <a:tc>
                  <a:txBody>
                    <a:bodyPr/>
                    <a:lstStyle/>
                    <a:p>
                      <a:pPr algn="l">
                        <a:lnSpc>
                          <a:spcPts val="1682"/>
                        </a:lnSpc>
                        <a:spcBef>
                          <a:spcPts val="0"/>
                        </a:spcBef>
                        <a:spcAft>
                          <a:spcPts val="0"/>
                        </a:spcAft>
                      </a:pPr>
                      <a:r>
                        <a:rPr sz="1160" b="0" i="0">
                          <a:solidFill>
                            <a:srgbClr val="23373B"/>
                          </a:solidFill>
                          <a:latin typeface="Noto Sans SemiBold"/>
                        </a:rPr>
                        <a:t>det6 / det7</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Discharge-limited</a:t>
                      </a:r>
                      <a:r>
                        <a:rPr sz="1160" b="0" i="0">
                          <a:solidFill>
                            <a:srgbClr val="23373B"/>
                          </a:solidFill>
                          <a:latin typeface="Noto Sans"/>
                        </a:rPr>
                        <a:t> — 22.3% / 37.4% of firing events are &gt;50-strip discharges. Both ran at resist 495 V, </a:t>
                      </a:r>
                      <a:r>
                        <a:rPr sz="1160" b="0" i="1">
                          <a:solidFill>
                            <a:srgbClr val="23373B"/>
                          </a:solidFill>
                          <a:latin typeface="Noto Sans"/>
                        </a:rPr>
                        <a:t>above</a:t>
                      </a:r>
                      <a:r>
                        <a:rPr sz="1160" b="0" i="0">
                          <a:solidFill>
                            <a:srgbClr val="23373B"/>
                          </a:solidFill>
                          <a:latin typeface="Noto Sans"/>
                        </a:rPr>
                        <a:t> their measured optima (~480 / ~440 V): this is a chosen operating point, not a ceiling.</a:t>
                      </a:r>
                    </a:p>
                  </a:txBody>
                  <a:tcPr marL="0" marR="88441" marT="47168" marB="47168">
                    <a:noFill/>
                  </a:tcPr>
                </a:tc>
                <a:extLst>
                  <a:ext uri="{0D108BD9-81ED-4DB2-BD59-A6C34878D82A}">
                    <a16:rowId xmlns:a16="http://schemas.microsoft.com/office/drawing/2014/main" val="10001"/>
                  </a:ext>
                </a:extLst>
              </a:tr>
              <a:tr h="957858">
                <a:tc>
                  <a:txBody>
                    <a:bodyPr/>
                    <a:lstStyle/>
                    <a:p>
                      <a:pPr algn="l">
                        <a:lnSpc>
                          <a:spcPts val="1682"/>
                        </a:lnSpc>
                        <a:spcBef>
                          <a:spcPts val="0"/>
                        </a:spcBef>
                        <a:spcAft>
                          <a:spcPts val="0"/>
                        </a:spcAft>
                      </a:pPr>
                      <a:r>
                        <a:rPr sz="1160" b="0" i="0">
                          <a:solidFill>
                            <a:srgbClr val="23373B"/>
                          </a:solidFill>
                          <a:latin typeface="Noto Sans SemiBold"/>
                        </a:rPr>
                        <a:t>det4</a:t>
                      </a:r>
                    </a:p>
                  </a:txBody>
                  <a:tcPr marL="0" marR="88441" marT="47168" marB="47168">
                    <a:noFill/>
                  </a:tcPr>
                </a:tc>
                <a:tc>
                  <a:txBody>
                    <a:bodyPr/>
                    <a:lstStyle/>
                    <a:p>
                      <a:pPr algn="l">
                        <a:lnSpc>
                          <a:spcPts val="1682"/>
                        </a:lnSpc>
                        <a:spcBef>
                          <a:spcPts val="0"/>
                        </a:spcBef>
                        <a:spcAft>
                          <a:spcPts val="0"/>
                        </a:spcAft>
                      </a:pPr>
                      <a:r>
                        <a:rPr sz="1160" b="1" i="0">
                          <a:solidFill>
                            <a:srgbClr val="23373B"/>
                          </a:solidFill>
                          <a:latin typeface="Noto Sans"/>
                        </a:rPr>
                        <a:t>Gain-limited</a:t>
                      </a:r>
                      <a:r>
                        <a:rPr sz="1160" b="0" i="0">
                          <a:solidFill>
                            <a:srgbClr val="23373B"/>
                          </a:solidFill>
                          <a:latin typeface="Noto Sans"/>
                        </a:rPr>
                        <a:t>, and it is not blind: it produces a signal on </a:t>
                      </a:r>
                      <a:r>
                        <a:rPr sz="1160" b="1" i="0">
                          <a:solidFill>
                            <a:srgbClr val="23373B"/>
                          </a:solidFill>
                          <a:latin typeface="Noto Sans"/>
                        </a:rPr>
                        <a:t>95.8%</a:t>
                      </a:r>
                      <a:r>
                        <a:rPr sz="1160" b="0" i="0">
                          <a:solidFill>
                            <a:srgbClr val="23373B"/>
                          </a:solidFill>
                          <a:latin typeface="Noto Sans"/>
                        </a:rPr>
                        <a:t> of crossings, but on 38.3% too few strips fire to form a valid X+Y point. Independently confirmed at the SPS: 62% of its area does not amplify.</a:t>
                      </a:r>
                    </a:p>
                  </a:txBody>
                  <a:tcPr marL="0" marR="88441" marT="47168" marB="47168">
                    <a:noFill/>
                  </a:tcPr>
                </a:tc>
                <a:extLst>
                  <a:ext uri="{0D108BD9-81ED-4DB2-BD59-A6C34878D82A}">
                    <a16:rowId xmlns:a16="http://schemas.microsoft.com/office/drawing/2014/main" val="10002"/>
                  </a:ext>
                </a:extLst>
              </a:tr>
              <a:tr h="749052">
                <a:tc>
                  <a:txBody>
                    <a:bodyPr/>
                    <a:lstStyle/>
                    <a:p>
                      <a:pPr algn="l">
                        <a:lnSpc>
                          <a:spcPts val="1682"/>
                        </a:lnSpc>
                        <a:spcBef>
                          <a:spcPts val="0"/>
                        </a:spcBef>
                        <a:spcAft>
                          <a:spcPts val="0"/>
                        </a:spcAft>
                      </a:pPr>
                      <a:r>
                        <a:rPr sz="1160" b="0" i="0">
                          <a:solidFill>
                            <a:srgbClr val="23373B"/>
                          </a:solidFill>
                          <a:latin typeface="Noto Sans SemiBold"/>
                        </a:rPr>
                        <a:t>Position core σ</a:t>
                      </a:r>
                    </a:p>
                  </a:txBody>
                  <a:tcPr marL="0" marR="88441" marT="47168" marB="47168">
                    <a:noFill/>
                  </a:tcPr>
                </a:tc>
                <a:tc>
                  <a:txBody>
                    <a:bodyPr/>
                    <a:lstStyle/>
                    <a:p>
                      <a:pPr algn="l">
                        <a:lnSpc>
                          <a:spcPts val="1682"/>
                        </a:lnSpc>
                        <a:spcBef>
                          <a:spcPts val="0"/>
                        </a:spcBef>
                        <a:spcAft>
                          <a:spcPts val="0"/>
                        </a:spcAft>
                      </a:pPr>
                      <a:r>
                        <a:rPr sz="1160" b="0" i="0">
                          <a:solidFill>
                            <a:srgbClr val="23373B"/>
                          </a:solidFill>
                          <a:latin typeface="Noto Sans"/>
                        </a:rPr>
                        <a:t>0.43–0.46 mm on det2/det3/det6, 0.56/0.62 mm on det4/det7 (radial) — on the good chambers the M3 reference contributes only ~10–20% of the variance.</a:t>
                      </a:r>
                    </a:p>
                  </a:txBody>
                  <a:tcPr marL="0" marR="88441" marT="47168" marB="47168">
                    <a:noFill/>
                  </a:tcPr>
                </a:tc>
                <a:extLst>
                  <a:ext uri="{0D108BD9-81ED-4DB2-BD59-A6C34878D82A}">
                    <a16:rowId xmlns:a16="http://schemas.microsoft.com/office/drawing/2014/main" val="10003"/>
                  </a:ext>
                </a:extLst>
              </a:tr>
            </a:tbl>
          </a:graphicData>
        </a:graphic>
      </p:graphicFrame>
      <p:sp>
        <p:nvSpPr>
          <p:cNvPr id="29" name="Rectangle 28"/>
          <p:cNvSpPr/>
          <p:nvPr/>
        </p:nvSpPr>
        <p:spPr>
          <a:xfrm>
            <a:off x="6242298" y="2456557"/>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420421" y="2456557"/>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6242298" y="3414415"/>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420421" y="3414415"/>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6242298" y="4372273"/>
            <a:ext cx="1178123"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420421" y="4372273"/>
            <a:ext cx="4222998" cy="9525"/>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Superseded 2026-07-14 values were 92.9 / 91.3 / 57.8 / 43.1 / 20.7%. The last three chambers gain 14–21 points from the matched-filter reprocessing of the raw waveforms — low-amplitude hits the previous analyzer never admitted — plus a further 0.4–4 points from reconstructing position from the waveforms instead of the strip hit times.</a:t>
            </a:r>
          </a:p>
        </p:txBody>
      </p:sp>
      <p:sp>
        <p:nvSpPr>
          <p:cNvPr id="37" name="TextBox 3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38" name="TextBox 37"/>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B6</a:t>
            </a:r>
            <a:endParaRPr sz="719" b="0" i="0" spc="58">
              <a:solidFill>
                <a:srgbClr val="5D7176"/>
              </a:solidFill>
              <a:latin typeface="Noto Sans"/>
            </a:endParaRPr>
          </a:p>
        </p:txBody>
      </p:sp>
      <p:sp>
        <p:nvSpPr>
          <p:cNvPr id="41" name="Rectangle 40">
            <a:extLst>
              <a:ext uri="{FF2B5EF4-FFF2-40B4-BE49-F238E27FC236}">
                <a16:creationId xmlns:a16="http://schemas.microsoft.com/office/drawing/2014/main" id="{B3302467-A5E8-48C1-BFD2-381B292685B9}"/>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212910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What we record, and when</a:t>
            </a:r>
          </a:p>
        </p:txBody>
      </p:sp>
      <p:pic>
        <p:nvPicPr>
          <p:cNvPr id="7" name="Picture 6" descr="Reconstructed track rate against time since the gamma flash"/>
          <p:cNvPicPr>
            <a:picLocks noChangeAspect="1"/>
          </p:cNvPicPr>
          <p:nvPr/>
        </p:nvPicPr>
        <p:blipFill>
          <a:blip r:embed="rId2"/>
          <a:stretch>
            <a:fillRect/>
          </a:stretch>
        </p:blipFill>
        <p:spPr>
          <a:xfrm>
            <a:off x="2209608" y="1208732"/>
            <a:ext cx="7772784" cy="4948982"/>
          </a:xfrm>
          <a:prstGeom prst="rect">
            <a:avLst/>
          </a:prstGeom>
        </p:spPr>
      </p:pic>
      <p:sp>
        <p:nvSpPr>
          <p:cNvPr id="9" name="TextBox 8"/>
          <p:cNvSpPr txBox="1"/>
          <p:nvPr/>
        </p:nvSpPr>
        <p:spPr>
          <a:xfrm>
            <a:off x="548580" y="6145500"/>
            <a:ext cx="11113889" cy="400854"/>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Reconstructed tracks on beam data, joined event-by-event to the n_TOF scintillator stream. The turn-on at 1 ms is the DREAM gate, not the reconstruction; the bulk of everything we record sits in the first ~10 ms — the same interval the recovery map says the chambers are only partly alive in. That overlap </a:t>
            </a:r>
            <a:r>
              <a:rPr sz="960" b="0" i="1">
                <a:solidFill>
                  <a:srgbClr val="3C5257"/>
                </a:solidFill>
                <a:latin typeface="Noto Sans"/>
              </a:rPr>
              <a:t>is</a:t>
            </a:r>
            <a:r>
              <a:rPr sz="960" b="0" i="0">
                <a:solidFill>
                  <a:srgbClr val="3C5257"/>
                </a:solidFill>
                <a:latin typeface="Noto Sans"/>
              </a:rPr>
              <a:t> the experiment's central operational problem, stated in data.</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B7</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40705701-7F45-4578-9EE3-EE2C9196544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63510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Operating in it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trigger lives in the thermal window — by design</a:t>
            </a:r>
          </a:p>
        </p:txBody>
      </p:sp>
      <p:sp>
        <p:nvSpPr>
          <p:cNvPr id="7" name="Rectangle 6"/>
          <p:cNvSpPr/>
          <p:nvPr/>
        </p:nvSpPr>
        <p:spPr>
          <a:xfrm>
            <a:off x="548580" y="1208732"/>
            <a:ext cx="5509022"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Trigger rate per beam pulse per millisecond against neutron arrival time, recorded data against the Geant4 prediction, both peaking near 5.3 milliseconds"/>
          <p:cNvPicPr>
            <a:picLocks noChangeAspect="1"/>
          </p:cNvPicPr>
          <p:nvPr/>
        </p:nvPicPr>
        <p:blipFill>
          <a:blip r:embed="rId2"/>
          <a:stretch>
            <a:fillRect/>
          </a:stretch>
        </p:blipFill>
        <p:spPr>
          <a:xfrm>
            <a:off x="548592" y="1974205"/>
            <a:ext cx="5508999" cy="3255318"/>
          </a:xfrm>
          <a:prstGeom prst="rect">
            <a:avLst/>
          </a:prstGeom>
        </p:spPr>
      </p:pic>
      <p:sp>
        <p:nvSpPr>
          <p:cNvPr id="9" name="TextBox 8"/>
          <p:cNvSpPr txBox="1"/>
          <p:nvPr/>
        </p:nvSpPr>
        <p:spPr>
          <a:xfrm>
            <a:off x="548580" y="6203454"/>
            <a:ext cx="5528072"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Recorded trigger rate vs neutron arrival time, against Geant4 — the 5.3 ms thermal peak reproduces; the normalisation runs </a:t>
            </a:r>
            <a:r>
              <a:rPr sz="883" b="1" i="0" spc="18">
                <a:solidFill>
                  <a:srgbClr val="5D7176"/>
                </a:solidFill>
                <a:latin typeface="Noto Sans"/>
              </a:rPr>
              <a:t>2.1×</a:t>
            </a:r>
            <a:r>
              <a:rPr sz="883" b="0" i="0" spc="18">
                <a:solidFill>
                  <a:srgbClr val="5D7176"/>
                </a:solidFill>
                <a:latin typeface="Noto Sans"/>
              </a:rPr>
              <a:t> high (per wall 1.1–2.6×), under investigation</a:t>
            </a:r>
          </a:p>
        </p:txBody>
      </p:sp>
      <p:sp>
        <p:nvSpPr>
          <p:cNvPr id="10" name="TextBox 9"/>
          <p:cNvSpPr txBox="1"/>
          <p:nvPr/>
        </p:nvSpPr>
        <p:spPr>
          <a:xfrm>
            <a:off x="6351389" y="2558355"/>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Capture loves slow neutrons, and slow neutrons are late.</a:t>
            </a:r>
            <a:r>
              <a:rPr sz="1248" b="0" i="0">
                <a:solidFill>
                  <a:srgbClr val="23373B"/>
                </a:solidFill>
                <a:latin typeface="Noto Sans"/>
              </a:rPr>
              <a:t> Over ~20 m of flight path the thermal flux peaks at </a:t>
            </a:r>
            <a:r>
              <a:rPr sz="1248" b="1" i="0">
                <a:solidFill>
                  <a:srgbClr val="23373B"/>
                </a:solidFill>
                <a:latin typeface="Noto Sans"/>
              </a:rPr>
              <a:t>5.3 ms</a:t>
            </a:r>
            <a:r>
              <a:rPr sz="1248" b="0" i="0">
                <a:solidFill>
                  <a:srgbClr val="23373B"/>
                </a:solidFill>
                <a:latin typeface="Noto Sans"/>
              </a:rPr>
              <a:t> — recorded, and reproduced by Geant4 in shape.</a:t>
            </a:r>
          </a:p>
        </p:txBody>
      </p:sp>
      <p:sp>
        <p:nvSpPr>
          <p:cNvPr id="11" name="TextBox 10"/>
          <p:cNvSpPr txBox="1"/>
          <p:nvPr/>
        </p:nvSpPr>
        <p:spPr>
          <a:xfrm>
            <a:off x="6351389" y="3374231"/>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trigger:</a:t>
            </a:r>
            <a:r>
              <a:rPr sz="1248" b="0" i="0">
                <a:solidFill>
                  <a:srgbClr val="23373B"/>
                </a:solidFill>
                <a:latin typeface="Noto Sans"/>
              </a:rPr>
              <a:t> per arm, the SiPM wall (any of 4 segments over ½ MIP) </a:t>
            </a:r>
            <a:r>
              <a:rPr sz="1248" b="1" i="0">
                <a:solidFill>
                  <a:srgbClr val="23373B"/>
                </a:solidFill>
                <a:latin typeface="Noto Sans"/>
              </a:rPr>
              <a:t>AND</a:t>
            </a:r>
            <a:r>
              <a:rPr sz="1248" b="0" i="0">
                <a:solidFill>
                  <a:srgbClr val="23373B"/>
                </a:solidFill>
                <a:latin typeface="Noto Sans"/>
              </a:rPr>
              <a:t> a plastic bar over </a:t>
            </a:r>
            <a:r>
              <a:rPr sz="1248" b="1" i="0">
                <a:solidFill>
                  <a:srgbClr val="23373B"/>
                </a:solidFill>
                <a:latin typeface="Noto Sans"/>
              </a:rPr>
              <a:t>0.90 MIP</a:t>
            </a:r>
            <a:r>
              <a:rPr sz="1248" b="0" i="0">
                <a:solidFill>
                  <a:srgbClr val="23373B"/>
                </a:solidFill>
                <a:latin typeface="Noto Sans"/>
              </a:rPr>
              <a:t>, within 20 ns — a charged leg crossing the stack, not a γ.</a:t>
            </a:r>
          </a:p>
        </p:txBody>
      </p:sp>
      <p:sp>
        <p:nvSpPr>
          <p:cNvPr id="12" name="TextBox 11"/>
          <p:cNvSpPr txBox="1"/>
          <p:nvPr/>
        </p:nvSpPr>
        <p:spPr>
          <a:xfrm>
            <a:off x="6351389" y="4190107"/>
            <a:ext cx="5311080"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0" i="0">
                <a:solidFill>
                  <a:srgbClr val="23373B"/>
                </a:solidFill>
                <a:latin typeface="Noto Sans"/>
              </a:rPr>
              <a:t>Simulation says </a:t>
            </a:r>
            <a:r>
              <a:rPr sz="1248" b="1" i="0">
                <a:solidFill>
                  <a:srgbClr val="23373B"/>
                </a:solidFill>
                <a:latin typeface="Noto Sans"/>
              </a:rPr>
              <a:t>96 %</a:t>
            </a:r>
            <a:r>
              <a:rPr sz="1248" b="0" i="0">
                <a:solidFill>
                  <a:srgbClr val="23373B"/>
                </a:solidFill>
                <a:latin typeface="Noto Sans"/>
              </a:rPr>
              <a:t> of those trigger legs are ²⁷Al-capture γs converting in the capsule wall — the trigger is dominated by the background the analysis has to beat.</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4" name="TextBox 13"/>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B8</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880F154-34CD-493C-A867-42761CB3A9D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232106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Reconstruction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tracks point back at the capsule</a:t>
            </a:r>
          </a:p>
        </p:txBody>
      </p:sp>
      <p:pic>
        <p:nvPicPr>
          <p:cNvPr id="7" name="Picture 6" descr="Four track bundles coloured by the SiPM wall segment that fired, converging at the He-3 target"/>
          <p:cNvPicPr>
            <a:picLocks noChangeAspect="1"/>
          </p:cNvPicPr>
          <p:nvPr/>
        </p:nvPicPr>
        <p:blipFill>
          <a:blip r:embed="rId2"/>
          <a:stretch>
            <a:fillRect/>
          </a:stretch>
        </p:blipFill>
        <p:spPr>
          <a:xfrm>
            <a:off x="2673911" y="1270348"/>
            <a:ext cx="6844029" cy="4564112"/>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Waveform-first reconstruction on beam data, coloured by </a:t>
            </a:r>
            <a:r>
              <a:rPr sz="960" b="1" i="0">
                <a:solidFill>
                  <a:srgbClr val="23373B"/>
                </a:solidFill>
                <a:latin typeface="Noto Sans"/>
              </a:rPr>
              <a:t>which SiPM wall segment fired</a:t>
            </a:r>
            <a:r>
              <a:rPr sz="960" b="0" i="0">
                <a:solidFill>
                  <a:srgbClr val="3C5257"/>
                </a:solidFill>
                <a:latin typeface="Noto Sans"/>
              </a:rPr>
              <a:t> — external position truth on a 100 mm granularity, on a lever arm the chamber knows nothing about. The four bundles are </a:t>
            </a:r>
            <a:r>
              <a:rPr sz="960" b="1" i="0">
                <a:solidFill>
                  <a:srgbClr val="23373B"/>
                </a:solidFill>
                <a:latin typeface="Noto Sans"/>
              </a:rPr>
              <a:t>251 mm apart at the wall and 9 mm apart at the target plane</a:t>
            </a:r>
            <a:r>
              <a:rPr sz="960" b="0" i="0">
                <a:solidFill>
                  <a:srgbClr val="3C5257"/>
                </a:solidFill>
                <a:latin typeface="Noto Sans"/>
              </a:rPr>
              <a:t>; shuffling the segment labels collapses that to 28 mm and 3.2 mm. </a:t>
            </a:r>
            <a:r>
              <a:rPr sz="960" b="1" i="0">
                <a:solidFill>
                  <a:srgbClr val="23373B"/>
                </a:solidFill>
                <a:latin typeface="Noto Sans"/>
              </a:rPr>
              <a:t>Ensemble statement</a:t>
            </a:r>
            <a:r>
              <a:rPr sz="960" b="0" i="0">
                <a:solidFill>
                  <a:srgbClr val="3C5257"/>
                </a:solidFill>
                <a:latin typeface="Noto Sans"/>
              </a:rPr>
              <a:t> — the waist is a convergence of medians, not a per-track pointing resolution.</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531514" y="6629400"/>
            <a:ext cx="127086"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B9</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83672E25-3C83-47B2-B910-0545C76E5B2E}"/>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48007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The campaign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Beam availability, day by day</a:t>
            </a:r>
          </a:p>
        </p:txBody>
      </p:sp>
      <p:pic>
        <p:nvPicPr>
          <p:cNvPr id="7" name="Picture 6" descr="One bar per day showing the fraction of the day with protons on the n_TOF target, coloured by campaign phase, with the 78.6 percent campaign mean dashed and the 14 and 26 July phase boundaries labelled"/>
          <p:cNvPicPr>
            <a:picLocks noChangeAspect="1"/>
          </p:cNvPicPr>
          <p:nvPr/>
        </p:nvPicPr>
        <p:blipFill>
          <a:blip r:embed="rId2"/>
          <a:stretch>
            <a:fillRect/>
          </a:stretch>
        </p:blipFill>
        <p:spPr>
          <a:xfrm>
            <a:off x="548739" y="1512987"/>
            <a:ext cx="11094523" cy="3858964"/>
          </a:xfrm>
          <a:prstGeom prst="rect">
            <a:avLst/>
          </a:prstGeom>
        </p:spPr>
      </p:pic>
      <p:sp>
        <p:nvSpPr>
          <p:cNvPr id="9" name="TextBox 8"/>
          <p:cNvSpPr txBox="1"/>
          <p:nvPr/>
        </p:nvSpPr>
        <p:spPr>
          <a:xfrm>
            <a:off x="548580" y="5968841"/>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sz="960" b="0" i="0">
                <a:solidFill>
                  <a:srgbClr val="3C5257"/>
                </a:solidFill>
                <a:latin typeface="Noto Sans"/>
              </a:rPr>
              <a:t>Fraction of each day with protons on the n_TOF target, from the one-minute classification of the last beam-current transformer before the target (</a:t>
            </a:r>
            <a:r>
              <a:rPr sz="883" b="0" i="0">
                <a:solidFill>
                  <a:srgbClr val="3C5257"/>
                </a:solidFill>
                <a:latin typeface="Noto Sans Mono"/>
              </a:rPr>
              <a:t>FTN.BCT477</a:t>
            </a:r>
            <a:r>
              <a:rPr sz="960" b="0" i="0">
                <a:solidFill>
                  <a:srgbClr val="3C5257"/>
                </a:solidFill>
                <a:latin typeface="Noto Sans"/>
              </a:rPr>
              <a:t>). Campaign mean </a:t>
            </a:r>
            <a:r>
              <a:rPr sz="960" b="1" i="0">
                <a:solidFill>
                  <a:srgbClr val="23373B"/>
                </a:solidFill>
                <a:latin typeface="Noto Sans"/>
              </a:rPr>
              <a:t>78.6 %</a:t>
            </a:r>
            <a:r>
              <a:rPr sz="960" b="0" i="0">
                <a:solidFill>
                  <a:srgbClr val="3C5257"/>
                </a:solidFill>
                <a:latin typeface="Noto Sans"/>
              </a:rPr>
              <a:t>; the 21.4 % without beam is the usual mix of PS supercycle sharing and machine stops — the logger’s attribution between the two is not reliable, so only the total is quoted. Colours are the three campaign phases; 10 August is a partial day (HV off 09:15).</a:t>
            </a: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B10</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764627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Backup · Outlook</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Next: from single tracks to pairs</a:t>
            </a:r>
          </a:p>
        </p:txBody>
      </p:sp>
      <p:sp>
        <p:nvSpPr>
          <p:cNvPr id="7" name="Rectangle 6"/>
          <p:cNvSpPr/>
          <p:nvPr/>
        </p:nvSpPr>
        <p:spPr>
          <a:xfrm>
            <a:off x="548580" y="1208732"/>
            <a:ext cx="5617071" cy="50912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3D event display of one chamber with two reconstructed track segments crossing the drift volume, their closest approach marked"/>
          <p:cNvPicPr>
            <a:picLocks noChangeAspect="1"/>
          </p:cNvPicPr>
          <p:nvPr/>
        </p:nvPicPr>
        <p:blipFill>
          <a:blip r:embed="rId2"/>
          <a:stretch>
            <a:fillRect/>
          </a:stretch>
        </p:blipFill>
        <p:spPr>
          <a:xfrm>
            <a:off x="548705" y="2067371"/>
            <a:ext cx="5616821" cy="3068985"/>
          </a:xfrm>
          <a:prstGeom prst="rect">
            <a:avLst/>
          </a:prstGeom>
        </p:spPr>
      </p:pic>
      <p:sp>
        <p:nvSpPr>
          <p:cNvPr id="9" name="TextBox 8"/>
          <p:cNvSpPr txBox="1"/>
          <p:nvPr/>
        </p:nvSpPr>
        <p:spPr>
          <a:xfrm>
            <a:off x="548580" y="6203454"/>
            <a:ext cx="5636121" cy="342900"/>
          </a:xfrm>
          <a:prstGeom prst="rect">
            <a:avLst/>
          </a:prstGeom>
          <a:noFill/>
        </p:spPr>
        <p:txBody>
          <a:bodyPr wrap="square" lIns="0" tIns="0" rIns="0" bIns="0" anchor="t">
            <a:noAutofit/>
          </a:bodyPr>
          <a:lstStyle/>
          <a:p>
            <a:pPr algn="ctr">
              <a:spcBef>
                <a:spcPts val="0"/>
              </a:spcBef>
              <a:spcAft>
                <a:spcPts val="0"/>
              </a:spcAft>
            </a:pPr>
            <a:r>
              <a:rPr sz="883" b="0" i="0" spc="18">
                <a:solidFill>
                  <a:srgbClr val="5D7176"/>
                </a:solidFill>
                <a:latin typeface="Noto Sans"/>
              </a:rPr>
              <a:t>A real two-track event in one chamber (July scan run) — two track-grade lines in </a:t>
            </a:r>
            <a:r>
              <a:rPr sz="883" b="1" i="0" spc="18">
                <a:solidFill>
                  <a:srgbClr val="5D7176"/>
                </a:solidFill>
                <a:latin typeface="Noto Sans"/>
              </a:rPr>
              <a:t>both</a:t>
            </a:r>
            <a:r>
              <a:rPr sz="883" b="0" i="0" spc="18">
                <a:solidFill>
                  <a:srgbClr val="5D7176"/>
                </a:solidFill>
                <a:latin typeface="Noto Sans"/>
              </a:rPr>
              <a:t> planes, paired into 3-D. A demonstration, not a measurement: hits-basis, and the X↔Y pairing is two-fold ambiguous</a:t>
            </a:r>
          </a:p>
        </p:txBody>
      </p:sp>
      <p:sp>
        <p:nvSpPr>
          <p:cNvPr id="10" name="TextBox 9"/>
          <p:cNvSpPr txBox="1"/>
          <p:nvPr/>
        </p:nvSpPr>
        <p:spPr>
          <a:xfrm>
            <a:off x="6459438" y="1782068"/>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What a signal is:</a:t>
            </a:r>
            <a:r>
              <a:rPr sz="1248" b="0" i="0">
                <a:solidFill>
                  <a:srgbClr val="23373B"/>
                </a:solidFill>
                <a:latin typeface="Noto Sans"/>
              </a:rPr>
              <a:t> two tracks in </a:t>
            </a:r>
            <a:r>
              <a:rPr sz="1248" b="0" i="1">
                <a:solidFill>
                  <a:srgbClr val="23373B"/>
                </a:solidFill>
                <a:latin typeface="Noto Sans"/>
              </a:rPr>
              <a:t>different</a:t>
            </a:r>
            <a:r>
              <a:rPr sz="1248" b="0" i="0">
                <a:solidFill>
                  <a:srgbClr val="23373B"/>
                </a:solidFill>
                <a:latin typeface="Noto Sans"/>
              </a:rPr>
              <a:t> arms, opening angle kinematically confined above </a:t>
            </a:r>
            <a:r>
              <a:rPr sz="1248" b="1" i="0">
                <a:solidFill>
                  <a:srgbClr val="23373B"/>
                </a:solidFill>
                <a:latin typeface="Noto Sans"/>
              </a:rPr>
              <a:t>109°</a:t>
            </a:r>
            <a:r>
              <a:rPr sz="1248" b="0" i="0">
                <a:solidFill>
                  <a:srgbClr val="23373B"/>
                </a:solidFill>
                <a:latin typeface="Noto Sans"/>
              </a:rPr>
              <a:t>, total pair energy 19.6 MeV (slide 4). Everything in this talk exists to make that measurable.</a:t>
            </a:r>
          </a:p>
        </p:txBody>
      </p:sp>
      <p:sp>
        <p:nvSpPr>
          <p:cNvPr id="11" name="TextBox 10"/>
          <p:cNvSpPr txBox="1"/>
          <p:nvPr/>
        </p:nvSpPr>
        <p:spPr>
          <a:xfrm>
            <a:off x="6459438" y="2597944"/>
            <a:ext cx="5202882" cy="1265932"/>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reconstruction is ready for the easy half:</a:t>
            </a:r>
            <a:r>
              <a:rPr sz="1248" b="0" i="0">
                <a:solidFill>
                  <a:srgbClr val="23373B"/>
                </a:solidFill>
                <a:latin typeface="Noto Sans"/>
              </a:rPr>
              <a:t> the forward fit now returns </a:t>
            </a:r>
            <a:r>
              <a:rPr sz="1248" b="0" i="1">
                <a:solidFill>
                  <a:srgbClr val="23373B"/>
                </a:solidFill>
                <a:latin typeface="Noto Sans"/>
              </a:rPr>
              <a:t>every</a:t>
            </a:r>
            <a:r>
              <a:rPr sz="1248" b="0" i="0">
                <a:solidFill>
                  <a:srgbClr val="23373B"/>
                </a:solidFill>
                <a:latin typeface="Noto Sans"/>
              </a:rPr>
              <a:t> candidate track, not just the winner — single-track output bit-identical, candidates shipped alongside. Two tracks merged closer than ~12 mm still fit as one bad-χ² compromise: the two-track forward model is the one designed-but-unbuilt piece.</a:t>
            </a:r>
          </a:p>
        </p:txBody>
      </p:sp>
      <p:sp>
        <p:nvSpPr>
          <p:cNvPr id="12" name="TextBox 11"/>
          <p:cNvSpPr txBox="1"/>
          <p:nvPr/>
        </p:nvSpPr>
        <p:spPr>
          <a:xfrm>
            <a:off x="6459438" y="3904952"/>
            <a:ext cx="5202882" cy="774799"/>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dataset is final and the search is offline:</a:t>
            </a:r>
            <a:r>
              <a:rPr sz="1248" b="0" i="0">
                <a:solidFill>
                  <a:srgbClr val="23373B"/>
                </a:solidFill>
                <a:latin typeface="Noto Sans"/>
              </a:rPr>
              <a:t> 41.8 M events on EOS, with the trigger dominated by Al-capture pairs — an enormous calibration sample for exactly this topology.</a:t>
            </a:r>
          </a:p>
        </p:txBody>
      </p:sp>
      <p:sp>
        <p:nvSpPr>
          <p:cNvPr id="13" name="TextBox 12"/>
          <p:cNvSpPr txBox="1"/>
          <p:nvPr/>
        </p:nvSpPr>
        <p:spPr>
          <a:xfrm>
            <a:off x="6459438" y="4720828"/>
            <a:ext cx="5202882" cy="1020366"/>
          </a:xfrm>
          <a:prstGeom prst="rect">
            <a:avLst/>
          </a:prstGeom>
          <a:noFill/>
        </p:spPr>
        <p:txBody>
          <a:bodyPr wrap="square" lIns="0" tIns="0" rIns="0" bIns="0" anchor="t">
            <a:noAutofit/>
          </a:bodyPr>
          <a:lstStyle/>
          <a:p>
            <a:pPr marL="180975" indent="-180975" algn="l">
              <a:lnSpc>
                <a:spcPts val="1934"/>
              </a:lnSpc>
              <a:spcBef>
                <a:spcPts val="0"/>
              </a:spcBef>
              <a:spcAft>
                <a:spcPts val="0"/>
              </a:spcAft>
              <a:buClr>
                <a:srgbClr val="EB811B"/>
              </a:buClr>
              <a:buChar char="▸"/>
            </a:pPr>
            <a:r>
              <a:rPr sz="1248" b="1" i="0">
                <a:solidFill>
                  <a:srgbClr val="23373B"/>
                </a:solidFill>
                <a:latin typeface="Noto Sans"/>
              </a:rPr>
              <a:t>The bar the tracker has to clear:</a:t>
            </a:r>
            <a:r>
              <a:rPr sz="1248" b="0" i="0">
                <a:solidFill>
                  <a:srgbClr val="23373B"/>
                </a:solidFill>
                <a:latin typeface="Noto Sans"/>
              </a:rPr>
              <a:t> the Al background separates on </a:t>
            </a:r>
            <a:r>
              <a:rPr sz="1248" b="0" i="1">
                <a:solidFill>
                  <a:srgbClr val="23373B"/>
                </a:solidFill>
                <a:latin typeface="Noto Sans"/>
              </a:rPr>
              <a:t>total pair energy</a:t>
            </a:r>
            <a:r>
              <a:rPr sz="1248" b="0" i="0">
                <a:solidFill>
                  <a:srgbClr val="23373B"/>
                </a:solidFill>
                <a:latin typeface="Noto Sans"/>
              </a:rPr>
              <a:t>, which asks for </a:t>
            </a:r>
            <a:r>
              <a:rPr sz="1248" b="1" i="0">
                <a:solidFill>
                  <a:srgbClr val="23373B"/>
                </a:solidFill>
                <a:latin typeface="Noto Sans"/>
              </a:rPr>
              <a:t>σ(p)/p ≲ 30 %</a:t>
            </a:r>
            <a:r>
              <a:rPr sz="1248" b="0" i="0">
                <a:solidFill>
                  <a:srgbClr val="23373B"/>
                </a:solidFill>
                <a:latin typeface="Noto Sans"/>
              </a:rPr>
              <a:t> per lepton from scattering or range — the open MPGD question to leave the room with.</a:t>
            </a: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B11</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64AAECD8-A78F-4BD2-B33D-49B838FC91D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57602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i="0"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1 of four: the lead spallation target alone, low in a tall empty frame, with 20 GeV/c protons arriving horizontally from the left and stopping in it. The target is drawn as Target #3 actually is - a stack of six square lead slices with aluminium cooling plates between them, inside a stainless vessel, with a lead plate and the four-centimetre water layer of the EAR2 moderator on top of it and the hemispherical vacuum window above that. Everything else is the empty space above, and appears in the following four frames."/>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SemiBold"/>
              </a:rPr>
              <a:t>20 GeV/c</a:t>
            </a:r>
            <a:r>
              <a:rPr sz="1600" b="0" i="0">
                <a:solidFill>
                  <a:srgbClr val="23373B"/>
                </a:solidFill>
                <a:latin typeface="Noto Sans"/>
              </a:rPr>
              <a:t> PS protons hit a lead spallation target</a:t>
            </a:r>
          </a:p>
        </p:txBody>
      </p:sp>
      <p:sp>
        <p:nvSpPr>
          <p:cNvPr id="12" name="TextBox 11"/>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B12</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423445AE-7C27-43FB-9AC0-F0CDFA32762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A4072792-C919-A6D9-DE66-E316C9A5DECD}"/>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4370248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2 of four: the same target, now with the vertical beam pipe in the shaft above it, the neutrons leaving at 90 degrees to the proton beam and filling the full 317 mm bore, and the annotated break that removes about 20 m of empty flight path along with the first collimator, the sweeping magnet and the filter statio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Neutrons ejected at </a:t>
            </a:r>
            <a:r>
              <a:rPr sz="1600" b="1" i="0">
                <a:solidFill>
                  <a:srgbClr val="23373B"/>
                </a:solidFill>
                <a:latin typeface="Noto Sans"/>
              </a:rPr>
              <a:t>90°</a:t>
            </a:r>
            <a:r>
              <a:rPr sz="1600" b="0" i="0">
                <a:solidFill>
                  <a:srgbClr val="23373B"/>
                </a:solidFill>
                <a:latin typeface="Noto Sans"/>
              </a:rPr>
              <a:t> climb </a:t>
            </a:r>
            <a:r>
              <a:rPr sz="1600" b="1" i="0">
                <a:solidFill>
                  <a:srgbClr val="23373B"/>
                </a:solidFill>
                <a:latin typeface="Noto Sans"/>
              </a:rPr>
              <a:t>~20 m</a:t>
            </a:r>
            <a:r>
              <a:rPr sz="1600" b="0" i="0">
                <a:solidFill>
                  <a:srgbClr val="23373B"/>
                </a:solidFill>
                <a:latin typeface="Noto Sans"/>
              </a:rPr>
              <a:t> to EAR2</a:t>
            </a:r>
          </a:p>
        </p:txBody>
      </p:sp>
      <p:sp>
        <p:nvSpPr>
          <p:cNvPr id="13" name="TextBox 12"/>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4" name="TextBox 13"/>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B13</a:t>
            </a:r>
            <a:endParaRPr sz="719" b="0" i="0" spc="58">
              <a:solidFill>
                <a:srgbClr val="5D7176"/>
              </a:solidFill>
              <a:latin typeface="Noto Sans"/>
            </a:endParaRPr>
          </a:p>
        </p:txBody>
      </p:sp>
      <p:sp>
        <p:nvSpPr>
          <p:cNvPr id="17" name="Rectangle 16">
            <a:extLst>
              <a:ext uri="{FF2B5EF4-FFF2-40B4-BE49-F238E27FC236}">
                <a16:creationId xmlns:a16="http://schemas.microsoft.com/office/drawing/2014/main" id="{C58C8A8A-6AE0-4D54-B79B-5A784E461C4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0CD1F1C9-1EB1-7FFC-2867-0FF818D41A2D}"/>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32832573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pic>
        <p:nvPicPr>
          <p:cNvPr id="9" name="Picture 8" descr="Frame 3 of four: the middle of the line appears. The second collimator crossing the break, the EAR2 floor 18.16 m above the target with white polyethylene shielding on it around the pipe penetration, the lead-disk chamber, a reducer down to a narrow tube, and the flanged exit window about a metre above the floor with the collimated beam continuing up in air."/>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Collimated to a </a:t>
            </a:r>
            <a:r>
              <a:rPr sz="1600" b="1" i="0">
                <a:solidFill>
                  <a:srgbClr val="23373B"/>
                </a:solidFill>
                <a:latin typeface="Noto Sans"/>
              </a:rPr>
              <a:t>≈3 cm</a:t>
            </a:r>
            <a:r>
              <a:rPr sz="1600" b="0" i="0">
                <a:solidFill>
                  <a:srgbClr val="23373B"/>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pipe ends: the beam crosses the hall in air</a:t>
            </a:r>
          </a:p>
        </p:txBody>
      </p:sp>
      <p:sp>
        <p:nvSpPr>
          <p:cNvPr id="15" name="TextBox 14"/>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6" name="TextBox 15"/>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B14</a:t>
            </a:r>
            <a:endParaRPr sz="719" b="0" i="0" spc="58">
              <a:solidFill>
                <a:srgbClr val="5D7176"/>
              </a:solidFill>
              <a:latin typeface="Noto Sans"/>
            </a:endParaRPr>
          </a:p>
        </p:txBody>
      </p:sp>
      <p:sp>
        <p:nvSpPr>
          <p:cNvPr id="19" name="Rectangle 18">
            <a:extLst>
              <a:ext uri="{FF2B5EF4-FFF2-40B4-BE49-F238E27FC236}">
                <a16:creationId xmlns:a16="http://schemas.microsoft.com/office/drawing/2014/main" id="{69C74CDC-2FE0-4BEA-9FC5-F0ADCA8C156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C2E1A9E0-431B-AA7D-76B3-A5A87B6E2B0A}"/>
              </a:ext>
            </a:extLst>
          </p:cNvPr>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dirty="0">
                <a:solidFill>
                  <a:srgbClr val="5D7176"/>
                </a:solidFill>
                <a:latin typeface="Noto Sans"/>
              </a:rPr>
              <a:t>The EAR2 hall — © CERN</a:t>
            </a:r>
          </a:p>
        </p:txBody>
      </p:sp>
    </p:spTree>
    <p:extLst>
      <p:ext uri="{BB962C8B-B14F-4D97-AF65-F5344CB8AC3E}">
        <p14:creationId xmlns:p14="http://schemas.microsoft.com/office/powerpoint/2010/main" val="2143631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32955"/>
            <a:ext cx="217587"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Motivation</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err="1">
                <a:solidFill>
                  <a:srgbClr val="23373B"/>
                </a:solidFill>
                <a:latin typeface="Noto Sans Display"/>
              </a:rPr>
              <a:t>n_TOF</a:t>
            </a:r>
            <a:r>
              <a:rPr sz="2783" b="1" i="0" spc="-28" dirty="0">
                <a:solidFill>
                  <a:srgbClr val="23373B"/>
                </a:solidFill>
                <a:latin typeface="Noto Sans Display"/>
              </a:rPr>
              <a:t> EAR2: a vertical neutron beam line</a:t>
            </a:r>
            <a:r>
              <a:rPr lang="en-US" sz="2783" b="1" spc="-28" dirty="0">
                <a:solidFill>
                  <a:srgbClr val="23373B"/>
                </a:solidFill>
                <a:latin typeface="Noto Sans Display"/>
              </a:rPr>
              <a:t> at CERN</a:t>
            </a:r>
            <a:endParaRPr sz="2783" b="1" i="0" spc="-28" dirty="0">
              <a:solidFill>
                <a:srgbClr val="23373B"/>
              </a:solidFill>
              <a:latin typeface="Noto Sans Display"/>
            </a:endParaRPr>
          </a:p>
        </p:txBody>
      </p:sp>
      <p:pic>
        <p:nvPicPr>
          <p:cNvPr id="7" name="Picture 6" descr="Photograph of the n_TOF EAR2 experimental hall: the vertical beam line rising from a white segmented shielding disc on the floor, through an aluminium-profile support frame at mid height where detector snouts point in at a chamber in the beam, and on up through the ceiling in a wider pipe. © CERN."/>
          <p:cNvPicPr>
            <a:picLocks noChangeAspect="1"/>
          </p:cNvPicPr>
          <p:nvPr/>
        </p:nvPicPr>
        <p:blipFill>
          <a:blip r:embed="rId2"/>
          <a:stretch>
            <a:fillRect/>
          </a:stretch>
        </p:blipFill>
        <p:spPr>
          <a:xfrm>
            <a:off x="560824" y="1220489"/>
            <a:ext cx="2643257" cy="5135910"/>
          </a:xfrm>
          <a:prstGeom prst="rect">
            <a:avLst/>
          </a:prstGeom>
        </p:spPr>
      </p:pic>
      <p:sp>
        <p:nvSpPr>
          <p:cNvPr id="8" name="TextBox 7"/>
          <p:cNvSpPr txBox="1"/>
          <p:nvPr/>
        </p:nvSpPr>
        <p:spPr>
          <a:xfrm>
            <a:off x="548580" y="6376974"/>
            <a:ext cx="2686794"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The EAR2 hall — © CERN</a:t>
            </a:r>
          </a:p>
        </p:txBody>
      </p:sp>
      <p:pic>
        <p:nvPicPr>
          <p:cNvPr id="9" name="Picture 8" descr="Frame 4 of four: the full picture. The measuring station appears, with the sample capsule alone in the open beam at 19.95 m, halfway between the end of the lower pipe and the start of the upper one, and a Micromegas chamber set back on either side of it, each drawn in section so that the aluminium frame, the strip readout board and the 30 mm of drift gas facing the sample are all visible. The real station has four such chambers in a pinwheel; two are drawn."/>
          <p:cNvPicPr>
            <a:picLocks noChangeAspect="1"/>
          </p:cNvPicPr>
          <p:nvPr/>
        </p:nvPicPr>
        <p:blipFill>
          <a:blip r:embed="rId3"/>
          <a:stretch>
            <a:fillRect/>
          </a:stretch>
        </p:blipFill>
        <p:spPr>
          <a:xfrm>
            <a:off x="3675014" y="1220489"/>
            <a:ext cx="4275829" cy="5135910"/>
          </a:xfrm>
          <a:prstGeom prst="rect">
            <a:avLst/>
          </a:prstGeom>
        </p:spPr>
      </p:pic>
      <p:sp>
        <p:nvSpPr>
          <p:cNvPr id="10" name="TextBox 9"/>
          <p:cNvSpPr txBox="1"/>
          <p:nvPr/>
        </p:nvSpPr>
        <p:spPr>
          <a:xfrm>
            <a:off x="3508921" y="6327279"/>
            <a:ext cx="4627215" cy="219075"/>
          </a:xfrm>
          <a:prstGeom prst="rect">
            <a:avLst/>
          </a:prstGeom>
          <a:noFill/>
        </p:spPr>
        <p:txBody>
          <a:bodyPr wrap="square" lIns="0" tIns="0" rIns="0" bIns="0" anchor="t">
            <a:noAutofit/>
          </a:bodyPr>
          <a:lstStyle/>
          <a:p>
            <a:pPr algn="ctr">
              <a:spcBef>
                <a:spcPts val="0"/>
              </a:spcBef>
              <a:spcAft>
                <a:spcPts val="0"/>
              </a:spcAft>
            </a:pPr>
            <a:r>
              <a:rPr sz="1024" b="0" i="0" spc="20">
                <a:solidFill>
                  <a:srgbClr val="5D7176"/>
                </a:solidFill>
                <a:latin typeface="Noto Sans"/>
              </a:rPr>
              <a:t>In-house render · Weiß (2015), Pavon-Rodriguez (2025)</a:t>
            </a:r>
          </a:p>
        </p:txBody>
      </p:sp>
      <p:sp>
        <p:nvSpPr>
          <p:cNvPr id="11" name="TextBox 10"/>
          <p:cNvSpPr txBox="1"/>
          <p:nvPr/>
        </p:nvSpPr>
        <p:spPr>
          <a:xfrm>
            <a:off x="8331200" y="1224607"/>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SemiBold"/>
              </a:rPr>
              <a:t>20 GeV/c</a:t>
            </a:r>
            <a:r>
              <a:rPr sz="1600" b="0" i="0">
                <a:solidFill>
                  <a:srgbClr val="5D7176"/>
                </a:solidFill>
                <a:latin typeface="Noto Sans"/>
              </a:rPr>
              <a:t> PS protons hit a lead spallation target</a:t>
            </a:r>
          </a:p>
        </p:txBody>
      </p:sp>
      <p:sp>
        <p:nvSpPr>
          <p:cNvPr id="12" name="TextBox 11"/>
          <p:cNvSpPr txBox="1"/>
          <p:nvPr/>
        </p:nvSpPr>
        <p:spPr>
          <a:xfrm>
            <a:off x="8331200" y="20701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5D7176"/>
                </a:solidFill>
                <a:latin typeface="Noto Sans"/>
              </a:rPr>
              <a:t>Neutrons ejected at </a:t>
            </a:r>
            <a:r>
              <a:rPr sz="1600" b="0" i="0">
                <a:solidFill>
                  <a:srgbClr val="5D7176"/>
                </a:solidFill>
                <a:latin typeface="Noto Sans SemiBold"/>
              </a:rPr>
              <a:t>90°</a:t>
            </a:r>
            <a:r>
              <a:rPr sz="1600" b="0" i="0">
                <a:solidFill>
                  <a:srgbClr val="5D7176"/>
                </a:solidFill>
                <a:latin typeface="Noto Sans"/>
              </a:rPr>
              <a:t> climb </a:t>
            </a:r>
            <a:r>
              <a:rPr sz="1600" b="0" i="0">
                <a:solidFill>
                  <a:srgbClr val="5D7176"/>
                </a:solidFill>
                <a:latin typeface="Noto Sans SemiBold"/>
              </a:rPr>
              <a:t>~20 m</a:t>
            </a:r>
            <a:r>
              <a:rPr sz="1600" b="0" i="0">
                <a:solidFill>
                  <a:srgbClr val="5D7176"/>
                </a:solidFill>
                <a:latin typeface="Noto Sans"/>
              </a:rPr>
              <a:t> to EAR2</a:t>
            </a:r>
          </a:p>
        </p:txBody>
      </p:sp>
      <p:sp>
        <p:nvSpPr>
          <p:cNvPr id="13" name="TextBox 12"/>
          <p:cNvSpPr txBox="1"/>
          <p:nvPr/>
        </p:nvSpPr>
        <p:spPr>
          <a:xfrm>
            <a:off x="8331200" y="3022600"/>
            <a:ext cx="3327400" cy="4064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Collimated to a </a:t>
            </a:r>
            <a:r>
              <a:rPr sz="1600" b="0" i="0" dirty="0">
                <a:solidFill>
                  <a:srgbClr val="5D7176"/>
                </a:solidFill>
                <a:latin typeface="Noto Sans SemiBold"/>
              </a:rPr>
              <a:t>≈3 cm</a:t>
            </a:r>
            <a:r>
              <a:rPr sz="1600" b="0" i="0" dirty="0">
                <a:solidFill>
                  <a:srgbClr val="5D7176"/>
                </a:solidFill>
                <a:latin typeface="Noto Sans"/>
              </a:rPr>
              <a:t> pencil</a:t>
            </a:r>
          </a:p>
        </p:txBody>
      </p:sp>
      <p:sp>
        <p:nvSpPr>
          <p:cNvPr id="14" name="TextBox 13"/>
          <p:cNvSpPr txBox="1"/>
          <p:nvPr/>
        </p:nvSpPr>
        <p:spPr>
          <a:xfrm>
            <a:off x="8331200" y="36322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5D7176"/>
                </a:solidFill>
                <a:latin typeface="Noto Sans"/>
              </a:rPr>
              <a:t>The pipe ends: the beam crosses the hall in air</a:t>
            </a:r>
          </a:p>
        </p:txBody>
      </p:sp>
      <p:sp>
        <p:nvSpPr>
          <p:cNvPr id="15" name="TextBox 14"/>
          <p:cNvSpPr txBox="1"/>
          <p:nvPr/>
        </p:nvSpPr>
        <p:spPr>
          <a:xfrm>
            <a:off x="8331200" y="45847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dirty="0">
                <a:solidFill>
                  <a:srgbClr val="23373B"/>
                </a:solidFill>
                <a:latin typeface="Noto Sans"/>
              </a:rPr>
              <a:t>Measurement station sits in that open beam</a:t>
            </a:r>
          </a:p>
        </p:txBody>
      </p:sp>
      <p:sp>
        <p:nvSpPr>
          <p:cNvPr id="16" name="TextBox 15"/>
          <p:cNvSpPr txBox="1"/>
          <p:nvPr/>
        </p:nvSpPr>
        <p:spPr>
          <a:xfrm>
            <a:off x="8331200" y="5524500"/>
            <a:ext cx="3327400" cy="736600"/>
          </a:xfrm>
          <a:prstGeom prst="rect">
            <a:avLst/>
          </a:prstGeom>
          <a:noFill/>
        </p:spPr>
        <p:txBody>
          <a:bodyPr wrap="square" lIns="0" tIns="0" rIns="0" bIns="0" anchor="t">
            <a:noAutofit/>
          </a:bodyPr>
          <a:lstStyle/>
          <a:p>
            <a:pPr marL="314325" indent="-314325" algn="l">
              <a:lnSpc>
                <a:spcPts val="2480"/>
              </a:lnSpc>
              <a:spcBef>
                <a:spcPts val="0"/>
              </a:spcBef>
              <a:spcAft>
                <a:spcPts val="0"/>
              </a:spcAft>
              <a:buClr>
                <a:srgbClr val="EB811B"/>
              </a:buClr>
              <a:buChar char="▸"/>
            </a:pPr>
            <a:r>
              <a:rPr sz="1600" b="0" i="0">
                <a:solidFill>
                  <a:srgbClr val="23373B"/>
                </a:solidFill>
                <a:latin typeface="Noto Sans"/>
              </a:rPr>
              <a:t>The highest instantaneous flux at n_TOF</a:t>
            </a:r>
          </a:p>
        </p:txBody>
      </p:sp>
      <p:sp>
        <p:nvSpPr>
          <p:cNvPr id="17" name="TextBox 1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8" name="TextBox 17"/>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7F4CE25C-C48C-43AE-B3D9-6531950643C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7893163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A4F82-1AD5-017B-4D13-F303BBE47E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16DEA6-EEF8-F196-57E7-2EC903F343F4}"/>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ACB48DFB-F026-4FA7-7CBB-785B4CB882DC}"/>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9B07526E-6F52-70D6-BC61-0ACA4EC055E1}"/>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Micromegas Compact TPC</a:t>
            </a:r>
          </a:p>
        </p:txBody>
      </p:sp>
      <p:sp>
        <p:nvSpPr>
          <p:cNvPr id="6" name="TextBox 5">
            <a:extLst>
              <a:ext uri="{FF2B5EF4-FFF2-40B4-BE49-F238E27FC236}">
                <a16:creationId xmlns:a16="http://schemas.microsoft.com/office/drawing/2014/main" id="{89B7CBA7-A196-85D4-E1F5-CE1B38C31476}"/>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A large-area resistive-strip </a:t>
            </a:r>
            <a:r>
              <a:rPr lang="en-US" sz="2000" b="0" i="0" dirty="0">
                <a:solidFill>
                  <a:srgbClr val="5D7176"/>
                </a:solidFill>
                <a:latin typeface="Noto Sans"/>
              </a:rPr>
              <a:t>detector</a:t>
            </a:r>
            <a:r>
              <a:rPr sz="2000" b="0" i="0" dirty="0">
                <a:solidFill>
                  <a:srgbClr val="5D7176"/>
                </a:solidFill>
                <a:latin typeface="Noto Sans"/>
              </a:rPr>
              <a:t>, built to measure the opening angle of the pair.</a:t>
            </a:r>
          </a:p>
        </p:txBody>
      </p:sp>
      <p:sp>
        <p:nvSpPr>
          <p:cNvPr id="7" name="TextBox 6">
            <a:extLst>
              <a:ext uri="{FF2B5EF4-FFF2-40B4-BE49-F238E27FC236}">
                <a16:creationId xmlns:a16="http://schemas.microsoft.com/office/drawing/2014/main" id="{9118474E-91B3-A8B8-63D4-A050F558AA5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163FB2E6-480B-F9A4-75FD-34AA77C7A45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7521501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2B31-0694-7564-3C35-70116072312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B191630-3CCB-6209-DA5C-7AA50B256E8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5A1AB73F-DD93-3992-8679-D435C1CC6FA2}"/>
              </a:ext>
            </a:extLst>
          </p:cNvPr>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a:extLst>
              <a:ext uri="{FF2B5EF4-FFF2-40B4-BE49-F238E27FC236}">
                <a16:creationId xmlns:a16="http://schemas.microsoft.com/office/drawing/2014/main" id="{1643DD09-46B0-2AE6-371C-B9791AB07878}"/>
              </a:ext>
            </a:extLst>
          </p:cNvPr>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EF5EB9BF-F4AB-CCEE-1A4D-07270788404A}"/>
              </a:ext>
            </a:extLst>
          </p:cNvPr>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a:extLst>
              <a:ext uri="{FF2B5EF4-FFF2-40B4-BE49-F238E27FC236}">
                <a16:creationId xmlns:a16="http://schemas.microsoft.com/office/drawing/2014/main" id="{2EB92269-6903-5382-B6FC-FB949A23B53B}"/>
              </a:ext>
            </a:extLst>
          </p:cNvPr>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a:extLst>
              <a:ext uri="{FF2B5EF4-FFF2-40B4-BE49-F238E27FC236}">
                <a16:creationId xmlns:a16="http://schemas.microsoft.com/office/drawing/2014/main" id="{D9006290-15D3-F110-BE8B-A3EC174F25E9}"/>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4F1D4D1F-D319-8F85-03FE-4E4128E822C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Micromegas compact TPC design</a:t>
            </a:r>
          </a:p>
        </p:txBody>
      </p:sp>
      <p:sp>
        <p:nvSpPr>
          <p:cNvPr id="14" name="TextBox 13">
            <a:extLst>
              <a:ext uri="{FF2B5EF4-FFF2-40B4-BE49-F238E27FC236}">
                <a16:creationId xmlns:a16="http://schemas.microsoft.com/office/drawing/2014/main" id="{ACE210A4-5154-635E-EE07-434D7ED5A07D}"/>
              </a:ext>
            </a:extLst>
          </p:cNvPr>
          <p:cNvSpPr txBox="1"/>
          <p:nvPr/>
        </p:nvSpPr>
        <p:spPr>
          <a:xfrm>
            <a:off x="548580" y="1117600"/>
            <a:ext cx="6068169"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One chamber, exploded along the drift axis</a:t>
            </a:r>
          </a:p>
          <a:p>
            <a:pPr algn="ctr">
              <a:spcBef>
                <a:spcPts val="0"/>
              </a:spcBef>
              <a:spcAft>
                <a:spcPts val="0"/>
              </a:spcAft>
            </a:pPr>
            <a:r>
              <a:rPr sz="1100" b="0" i="0" spc="10" dirty="0">
                <a:solidFill>
                  <a:srgbClr val="5D7176"/>
                </a:solidFill>
                <a:latin typeface="Noto Sans"/>
              </a:rPr>
              <a:t>a 44 × 34 mm window at the real pitch</a:t>
            </a:r>
          </a:p>
        </p:txBody>
      </p:sp>
      <p:pic>
        <p:nvPicPr>
          <p:cNvPr id="15" name="Picture 14" descr="Exploded MX17 chamber, seen as a wide window on the layer stack: readout PCB, Y and X strips, resistive strips, micromesh, the 30 mm drift volume and the cathode, with a muon crossing the gas and its ionisation drifting to the mesh">
            <a:extLst>
              <a:ext uri="{FF2B5EF4-FFF2-40B4-BE49-F238E27FC236}">
                <a16:creationId xmlns:a16="http://schemas.microsoft.com/office/drawing/2014/main" id="{717B8578-3055-298E-DA96-ED19EAE9DB51}"/>
              </a:ext>
            </a:extLst>
          </p:cNvPr>
          <p:cNvPicPr>
            <a:picLocks noChangeAspect="1"/>
          </p:cNvPicPr>
          <p:nvPr/>
        </p:nvPicPr>
        <p:blipFill>
          <a:blip r:embed="rId2"/>
          <a:stretch>
            <a:fillRect/>
          </a:stretch>
        </p:blipFill>
        <p:spPr>
          <a:xfrm>
            <a:off x="705033" y="1511300"/>
            <a:ext cx="6068169" cy="5127602"/>
          </a:xfrm>
          <a:prstGeom prst="rect">
            <a:avLst/>
          </a:prstGeom>
        </p:spPr>
      </p:pic>
      <p:sp>
        <p:nvSpPr>
          <p:cNvPr id="16" name="TextBox 15">
            <a:extLst>
              <a:ext uri="{FF2B5EF4-FFF2-40B4-BE49-F238E27FC236}">
                <a16:creationId xmlns:a16="http://schemas.microsoft.com/office/drawing/2014/main" id="{CD051BC5-387C-3F7D-1F89-ACCA7302433C}"/>
              </a:ext>
            </a:extLst>
          </p:cNvPr>
          <p:cNvSpPr txBox="1"/>
          <p:nvPr/>
        </p:nvSpPr>
        <p:spPr>
          <a:xfrm>
            <a:off x="6890296" y="1117600"/>
            <a:ext cx="477217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MX17 readout board, four layers peeled back</a:t>
            </a:r>
          </a:p>
          <a:p>
            <a:pPr algn="ctr">
              <a:spcBef>
                <a:spcPts val="0"/>
              </a:spcBef>
              <a:spcAft>
                <a:spcPts val="0"/>
              </a:spcAft>
            </a:pPr>
            <a:r>
              <a:rPr sz="1100" b="0" i="0" spc="10" dirty="0">
                <a:solidFill>
                  <a:srgbClr val="5D7176"/>
                </a:solidFill>
                <a:latin typeface="Noto Sans"/>
              </a:rPr>
              <a:t>25 × 25 mm of the 470 mm board</a:t>
            </a:r>
          </a:p>
        </p:txBody>
      </p:sp>
      <p:sp>
        <p:nvSpPr>
          <p:cNvPr id="17" name="Rectangle 16">
            <a:extLst>
              <a:ext uri="{FF2B5EF4-FFF2-40B4-BE49-F238E27FC236}">
                <a16:creationId xmlns:a16="http://schemas.microsoft.com/office/drawing/2014/main" id="{20D8A0A6-35A4-2282-3D42-A6DF4CFEE8C2}"/>
              </a:ext>
            </a:extLst>
          </p:cNvPr>
          <p:cNvSpPr/>
          <p:nvPr/>
        </p:nvSpPr>
        <p:spPr>
          <a:xfrm>
            <a:off x="6890296" y="1511300"/>
            <a:ext cx="4753124" cy="43661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lose-up of a 25 by 25 mm patch of the MX17 readout board with four layers peeled back, left to right into the board: ESL resistive strips, L4 readout pads, L5 Y strips, L6 X strips">
            <a:extLst>
              <a:ext uri="{FF2B5EF4-FFF2-40B4-BE49-F238E27FC236}">
                <a16:creationId xmlns:a16="http://schemas.microsoft.com/office/drawing/2014/main" id="{8239D5C2-D978-96FC-439C-3D9E71B934C5}"/>
              </a:ext>
            </a:extLst>
          </p:cNvPr>
          <p:cNvPicPr>
            <a:picLocks noChangeAspect="1"/>
          </p:cNvPicPr>
          <p:nvPr/>
        </p:nvPicPr>
        <p:blipFill>
          <a:blip r:embed="rId3"/>
          <a:stretch>
            <a:fillRect/>
          </a:stretch>
        </p:blipFill>
        <p:spPr>
          <a:xfrm>
            <a:off x="6890296" y="1511300"/>
            <a:ext cx="5001435" cy="5084792"/>
          </a:xfrm>
          <a:prstGeom prst="rect">
            <a:avLst/>
          </a:prstGeom>
        </p:spPr>
      </p:pic>
      <p:sp>
        <p:nvSpPr>
          <p:cNvPr id="22" name="TextBox 21">
            <a:extLst>
              <a:ext uri="{FF2B5EF4-FFF2-40B4-BE49-F238E27FC236}">
                <a16:creationId xmlns:a16="http://schemas.microsoft.com/office/drawing/2014/main" id="{C39D567C-FEAF-6121-4722-B0671C8EF63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3" name="TextBox 22">
            <a:extLst>
              <a:ext uri="{FF2B5EF4-FFF2-40B4-BE49-F238E27FC236}">
                <a16:creationId xmlns:a16="http://schemas.microsoft.com/office/drawing/2014/main" id="{14994D63-06E5-CCBE-E690-B826D58E40AF}"/>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B16</a:t>
            </a:r>
            <a:endParaRPr sz="719" b="0" i="0" spc="58">
              <a:solidFill>
                <a:srgbClr val="5D7176"/>
              </a:solidFill>
              <a:latin typeface="Noto Sans"/>
            </a:endParaRPr>
          </a:p>
        </p:txBody>
      </p:sp>
      <p:sp>
        <p:nvSpPr>
          <p:cNvPr id="26" name="Rectangle 25">
            <a:extLst>
              <a:ext uri="{FF2B5EF4-FFF2-40B4-BE49-F238E27FC236}">
                <a16:creationId xmlns:a16="http://schemas.microsoft.com/office/drawing/2014/main" id="{93EF1CA2-D98B-0AE2-5955-6A4FEC65D21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336259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FC77-7DB8-B9B5-F1B3-1F379D27C13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CC59F56-EEEF-9FDF-DC80-9CE8A1AC927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698A8E89-75AE-081D-81A4-B6810792C364}"/>
              </a:ext>
            </a:extLst>
          </p:cNvPr>
          <p:cNvSpPr txBox="1"/>
          <p:nvPr/>
        </p:nvSpPr>
        <p:spPr>
          <a:xfrm>
            <a:off x="838200" y="368300"/>
            <a:ext cx="10820400" cy="203200"/>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Saclay</a:t>
            </a:r>
          </a:p>
        </p:txBody>
      </p:sp>
      <p:sp>
        <p:nvSpPr>
          <p:cNvPr id="5" name="Rectangle 4">
            <a:extLst>
              <a:ext uri="{FF2B5EF4-FFF2-40B4-BE49-F238E27FC236}">
                <a16:creationId xmlns:a16="http://schemas.microsoft.com/office/drawing/2014/main" id="{4BCA0211-A17F-986C-AAFA-F883A3F47F7C}"/>
              </a:ext>
            </a:extLst>
          </p:cNvPr>
          <p:cNvSpPr/>
          <p:nvPr/>
        </p:nvSpPr>
        <p:spPr>
          <a:xfrm>
            <a:off x="8953500" y="215900"/>
            <a:ext cx="2692400" cy="647700"/>
          </a:xfrm>
          <a:prstGeom prst="roundRect">
            <a:avLst>
              <a:gd name="adj" fmla="val 16000"/>
            </a:avLst>
          </a:prstGeom>
          <a:solidFill>
            <a:schemeClr val="tx1">
              <a:lumMod val="75000"/>
              <a:lumOff val="25000"/>
            </a:schemeClr>
          </a:solidFill>
          <a:ln w="0">
            <a:noFill/>
          </a:ln>
          <a:effectLst>
            <a:outerShdw blurRad="50800" dist="25400" dir="5400000" rotWithShape="0">
              <a:srgbClr val="23373B">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CDF30450-273D-9ABC-681C-F032E7DE02C2}"/>
              </a:ext>
            </a:extLst>
          </p:cNvPr>
          <p:cNvSpPr txBox="1"/>
          <p:nvPr/>
        </p:nvSpPr>
        <p:spPr>
          <a:xfrm>
            <a:off x="8991600" y="292100"/>
            <a:ext cx="2616200" cy="177800"/>
          </a:xfrm>
          <a:prstGeom prst="rect">
            <a:avLst/>
          </a:prstGeom>
          <a:noFill/>
        </p:spPr>
        <p:txBody>
          <a:bodyPr wrap="square" lIns="0" tIns="0" rIns="0" bIns="0" anchor="t">
            <a:noAutofit/>
          </a:bodyPr>
          <a:lstStyle/>
          <a:p>
            <a:pPr algn="ctr">
              <a:spcBef>
                <a:spcPts val="0"/>
              </a:spcBef>
              <a:spcAft>
                <a:spcPts val="0"/>
              </a:spcAft>
            </a:pPr>
            <a:r>
              <a:rPr sz="839" b="1" i="0" cap="all" spc="60">
                <a:solidFill>
                  <a:srgbClr val="9DBCC1"/>
                </a:solidFill>
                <a:latin typeface="Noto Sans"/>
              </a:rPr>
              <a:t>Designed &amp; built at CEA Saclay by</a:t>
            </a:r>
          </a:p>
        </p:txBody>
      </p:sp>
      <p:sp>
        <p:nvSpPr>
          <p:cNvPr id="11" name="TextBox 10">
            <a:extLst>
              <a:ext uri="{FF2B5EF4-FFF2-40B4-BE49-F238E27FC236}">
                <a16:creationId xmlns:a16="http://schemas.microsoft.com/office/drawing/2014/main" id="{F25D8EB4-A34A-A29A-1A0E-E2137F087840}"/>
              </a:ext>
            </a:extLst>
          </p:cNvPr>
          <p:cNvSpPr txBox="1"/>
          <p:nvPr/>
        </p:nvSpPr>
        <p:spPr>
          <a:xfrm>
            <a:off x="9144000" y="474166"/>
            <a:ext cx="2326184" cy="342900"/>
          </a:xfrm>
          <a:prstGeom prst="rect">
            <a:avLst/>
          </a:prstGeom>
          <a:noFill/>
        </p:spPr>
        <p:txBody>
          <a:bodyPr wrap="square" lIns="0" tIns="0" rIns="0" bIns="0" anchor="t">
            <a:noAutofit/>
          </a:bodyPr>
          <a:lstStyle/>
          <a:p>
            <a:pPr algn="ctr">
              <a:spcBef>
                <a:spcPts val="0"/>
              </a:spcBef>
              <a:spcAft>
                <a:spcPts val="0"/>
              </a:spcAft>
            </a:pPr>
            <a:r>
              <a:rPr sz="1728" b="1" i="0" spc="9">
                <a:solidFill>
                  <a:srgbClr val="FFFFFF"/>
                </a:solidFill>
                <a:latin typeface="Noto Sans"/>
              </a:rPr>
              <a:t>Stéphan Aune</a:t>
            </a:r>
          </a:p>
        </p:txBody>
      </p:sp>
      <p:sp>
        <p:nvSpPr>
          <p:cNvPr id="12" name="Rectangle 11">
            <a:extLst>
              <a:ext uri="{FF2B5EF4-FFF2-40B4-BE49-F238E27FC236}">
                <a16:creationId xmlns:a16="http://schemas.microsoft.com/office/drawing/2014/main" id="{8516F9F1-C843-7DCF-FDF7-48274F370A89}"/>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51EEBA8-BEB0-7E1F-4BA5-58978BD2837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TPC operation</a:t>
            </a:r>
          </a:p>
        </p:txBody>
      </p:sp>
      <p:pic>
        <p:nvPicPr>
          <p:cNvPr id="14" name="Picture 13" descr="Simulated event. Left: a muon crossing the 30 mm drift gap, every primary ionisation cluster drifting down to the mesh, coloured by arrival time. Right: the per-strip waveforms those clusters produce, one trace per strip, the pulse walking steadily across strips as the depth changes.">
            <a:extLst>
              <a:ext uri="{FF2B5EF4-FFF2-40B4-BE49-F238E27FC236}">
                <a16:creationId xmlns:a16="http://schemas.microsoft.com/office/drawing/2014/main" id="{DE28D4EB-974F-5441-B668-DE5E2F42938E}"/>
              </a:ext>
            </a:extLst>
          </p:cNvPr>
          <p:cNvPicPr>
            <a:picLocks noChangeAspect="1"/>
          </p:cNvPicPr>
          <p:nvPr/>
        </p:nvPicPr>
        <p:blipFill>
          <a:blip r:embed="rId2"/>
          <a:stretch>
            <a:fillRect/>
          </a:stretch>
        </p:blipFill>
        <p:spPr>
          <a:xfrm>
            <a:off x="702534" y="1185771"/>
            <a:ext cx="10783882" cy="5343045"/>
          </a:xfrm>
          <a:prstGeom prst="rect">
            <a:avLst/>
          </a:prstGeom>
        </p:spPr>
      </p:pic>
      <p:sp>
        <p:nvSpPr>
          <p:cNvPr id="15" name="TextBox 14">
            <a:extLst>
              <a:ext uri="{FF2B5EF4-FFF2-40B4-BE49-F238E27FC236}">
                <a16:creationId xmlns:a16="http://schemas.microsoft.com/office/drawing/2014/main" id="{733CD9D3-80B0-7842-23A9-DE1AB5CA2D55}"/>
              </a:ext>
            </a:extLst>
          </p:cNvPr>
          <p:cNvSpPr txBox="1"/>
          <p:nvPr/>
        </p:nvSpPr>
        <p:spPr>
          <a:xfrm>
            <a:off x="4815781" y="1276982"/>
            <a:ext cx="2397820" cy="413743"/>
          </a:xfrm>
          <a:prstGeom prst="rect">
            <a:avLst/>
          </a:prstGeom>
          <a:noFill/>
        </p:spPr>
        <p:txBody>
          <a:bodyPr wrap="square" lIns="0" tIns="0" rIns="0" bIns="0" anchor="t">
            <a:noAutofit/>
          </a:bodyPr>
          <a:lstStyle/>
          <a:p>
            <a:pPr algn="ctr">
              <a:spcBef>
                <a:spcPts val="0"/>
              </a:spcBef>
              <a:spcAft>
                <a:spcPts val="0"/>
              </a:spcAft>
            </a:pPr>
            <a:r>
              <a:rPr sz="1600" i="0" spc="18" dirty="0">
                <a:solidFill>
                  <a:srgbClr val="5D7176"/>
                </a:solidFill>
                <a:latin typeface="Noto Sans"/>
              </a:rPr>
              <a:t>Simulated event </a:t>
            </a:r>
          </a:p>
        </p:txBody>
      </p:sp>
      <p:sp>
        <p:nvSpPr>
          <p:cNvPr id="16" name="TextBox 15">
            <a:extLst>
              <a:ext uri="{FF2B5EF4-FFF2-40B4-BE49-F238E27FC236}">
                <a16:creationId xmlns:a16="http://schemas.microsoft.com/office/drawing/2014/main" id="{D9353F4C-B5BD-B039-3251-B303E871340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F422E890-D1D1-B4FE-E029-C7486B707B55}"/>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B17</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FD206C1E-A3FA-1617-CC92-06A4E03D83AF}"/>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341612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17EDA-8249-B7DF-0F12-4DBE4FC417B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40277D1-675D-C5EF-E783-7C9D7EA71B4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56A92B40-B461-BEB7-E465-68C400A092F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5C1AE9BF-86F6-3B52-FBC7-311AE71AC76B}"/>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B8054256-E677-A293-AA55-BF41FF0729E0}"/>
              </a:ext>
            </a:extLst>
          </p:cNvPr>
          <p:cNvSpPr txBox="1"/>
          <p:nvPr/>
        </p:nvSpPr>
        <p:spPr>
          <a:xfrm>
            <a:off x="9410700" y="165100"/>
            <a:ext cx="2232719" cy="335158"/>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11" name="Rectangle 10">
            <a:extLst>
              <a:ext uri="{FF2B5EF4-FFF2-40B4-BE49-F238E27FC236}">
                <a16:creationId xmlns:a16="http://schemas.microsoft.com/office/drawing/2014/main" id="{39943D9F-CE96-E957-9FD1-A638A6B65C5E}"/>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B0F81DD0-BCD4-3E93-8649-33FD045E848F}"/>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Resistive strips s</a:t>
            </a:r>
            <a:r>
              <a:rPr lang="en-US" sz="2783" b="1" i="0" spc="-28" dirty="0">
                <a:solidFill>
                  <a:srgbClr val="23373B"/>
                </a:solidFill>
                <a:latin typeface="Noto Sans Display"/>
              </a:rPr>
              <a:t>pread and delay</a:t>
            </a:r>
            <a:r>
              <a:rPr sz="2783" b="1" i="0" spc="-28" dirty="0">
                <a:solidFill>
                  <a:srgbClr val="23373B"/>
                </a:solidFill>
                <a:latin typeface="Noto Sans Display"/>
              </a:rPr>
              <a:t> charge</a:t>
            </a:r>
          </a:p>
        </p:txBody>
      </p:sp>
      <p:sp>
        <p:nvSpPr>
          <p:cNvPr id="18" name="TextBox 17">
            <a:extLst>
              <a:ext uri="{FF2B5EF4-FFF2-40B4-BE49-F238E27FC236}">
                <a16:creationId xmlns:a16="http://schemas.microsoft.com/office/drawing/2014/main" id="{A1F8CAA2-85EF-3A6A-ECEA-0504EFE08239}"/>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a:extLst>
              <a:ext uri="{FF2B5EF4-FFF2-40B4-BE49-F238E27FC236}">
                <a16:creationId xmlns:a16="http://schemas.microsoft.com/office/drawing/2014/main" id="{966B0D85-1609-9981-AA14-AD943853DD8A}"/>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B18</a:t>
            </a:r>
            <a:endParaRPr sz="719" b="0" i="0" spc="58">
              <a:solidFill>
                <a:srgbClr val="5D7176"/>
              </a:solidFill>
              <a:latin typeface="Noto Sans"/>
            </a:endParaRPr>
          </a:p>
        </p:txBody>
      </p:sp>
      <p:sp>
        <p:nvSpPr>
          <p:cNvPr id="21" name="Rectangle 20">
            <a:extLst>
              <a:ext uri="{FF2B5EF4-FFF2-40B4-BE49-F238E27FC236}">
                <a16:creationId xmlns:a16="http://schemas.microsoft.com/office/drawing/2014/main" id="{A8FBC3CA-5914-3228-8CC8-49CBDFDC309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6" name="Picture 15"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F3BD4635-72D9-EFB9-E94F-98BBC41B01B1}"/>
              </a:ext>
            </a:extLst>
          </p:cNvPr>
          <p:cNvPicPr>
            <a:picLocks noChangeAspect="1"/>
          </p:cNvPicPr>
          <p:nvPr/>
        </p:nvPicPr>
        <p:blipFill>
          <a:blip r:embed="rId2"/>
          <a:stretch>
            <a:fillRect/>
          </a:stretch>
        </p:blipFill>
        <p:spPr>
          <a:xfrm>
            <a:off x="69803" y="1205471"/>
            <a:ext cx="6323470" cy="4807967"/>
          </a:xfrm>
          <a:prstGeom prst="rect">
            <a:avLst/>
          </a:prstGeom>
        </p:spPr>
      </p:pic>
      <p:sp>
        <p:nvSpPr>
          <p:cNvPr id="20" name="TextBox 19">
            <a:extLst>
              <a:ext uri="{FF2B5EF4-FFF2-40B4-BE49-F238E27FC236}">
                <a16:creationId xmlns:a16="http://schemas.microsoft.com/office/drawing/2014/main" id="{1A02D7BB-99F6-DD75-65A3-12176AE3E76A}"/>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3" name="TextBox 22">
            <a:extLst>
              <a:ext uri="{FF2B5EF4-FFF2-40B4-BE49-F238E27FC236}">
                <a16:creationId xmlns:a16="http://schemas.microsoft.com/office/drawing/2014/main" id="{B8AA2659-FDA9-A6AB-02CF-F641D5DD6352}"/>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6" name="TextBox 5">
            <a:extLst>
              <a:ext uri="{FF2B5EF4-FFF2-40B4-BE49-F238E27FC236}">
                <a16:creationId xmlns:a16="http://schemas.microsoft.com/office/drawing/2014/main" id="{781BD3A9-5298-D7FA-F98F-AAFA2DAFC28D}"/>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24398451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6FB9C-0744-6677-336B-89D05F624D37}"/>
            </a:ext>
          </a:extLst>
        </p:cNvPr>
        <p:cNvGrpSpPr/>
        <p:nvPr/>
      </p:nvGrpSpPr>
      <p:grpSpPr>
        <a:xfrm>
          <a:off x="0" y="0"/>
          <a:ext cx="0" cy="0"/>
          <a:chOff x="0" y="0"/>
          <a:chExt cx="0" cy="0"/>
        </a:xfrm>
      </p:grpSpPr>
      <p:pic>
        <p:nvPicPr>
          <p:cNvPr id="17" name="Picture 16" descr="Two panels, X plane above Y plane: the response to charge on the strip itself, and the delayed copies the plus-minus-one and plus-minus-two neighbours see, at the amplitudes the corrected calibration bundle uses: the plus-minus-two copy is smaller than the plus-minus-one.">
            <a:extLst>
              <a:ext uri="{FF2B5EF4-FFF2-40B4-BE49-F238E27FC236}">
                <a16:creationId xmlns:a16="http://schemas.microsoft.com/office/drawing/2014/main" id="{F9FD5508-8915-F26B-A316-EAB0A271576B}"/>
              </a:ext>
            </a:extLst>
          </p:cNvPr>
          <p:cNvPicPr>
            <a:picLocks noChangeAspect="1"/>
          </p:cNvPicPr>
          <p:nvPr/>
        </p:nvPicPr>
        <p:blipFill>
          <a:blip r:embed="rId2"/>
          <a:stretch>
            <a:fillRect/>
          </a:stretch>
        </p:blipFill>
        <p:spPr>
          <a:xfrm>
            <a:off x="6499571" y="1143000"/>
            <a:ext cx="5447989" cy="5415964"/>
          </a:xfrm>
          <a:prstGeom prst="rect">
            <a:avLst/>
          </a:prstGeom>
        </p:spPr>
      </p:pic>
      <p:sp>
        <p:nvSpPr>
          <p:cNvPr id="3" name="Rectangle 2">
            <a:extLst>
              <a:ext uri="{FF2B5EF4-FFF2-40B4-BE49-F238E27FC236}">
                <a16:creationId xmlns:a16="http://schemas.microsoft.com/office/drawing/2014/main" id="{E179E3C9-5342-225D-7A9A-E42EB5771D43}"/>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F07890E8-83CC-58FF-28D4-CF4655B67A4C}"/>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11" name="Rectangle 10">
            <a:extLst>
              <a:ext uri="{FF2B5EF4-FFF2-40B4-BE49-F238E27FC236}">
                <a16:creationId xmlns:a16="http://schemas.microsoft.com/office/drawing/2014/main" id="{4EFCED8B-A3C2-0203-76C7-6995D15DC2EB}"/>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097E9834-66E3-9736-225E-D54425F2C752}"/>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Resistive strips spread and delay charge</a:t>
            </a:r>
          </a:p>
        </p:txBody>
      </p:sp>
      <p:pic>
        <p:nvPicPr>
          <p:cNvPr id="14" name="Picture 13" descr="Cross-section cartoon: the avalanche lands on the resistive layer, the charge spreads sideways along the layer through its own sheet resistance, and each of the five readout strips below picks up a share — the neighbours' arriving 166 and 333 ns late.">
            <a:extLst>
              <a:ext uri="{FF2B5EF4-FFF2-40B4-BE49-F238E27FC236}">
                <a16:creationId xmlns:a16="http://schemas.microsoft.com/office/drawing/2014/main" id="{184934B2-09AE-7787-EE0A-6C0AEE80B8E9}"/>
              </a:ext>
            </a:extLst>
          </p:cNvPr>
          <p:cNvPicPr>
            <a:picLocks noChangeAspect="1"/>
          </p:cNvPicPr>
          <p:nvPr/>
        </p:nvPicPr>
        <p:blipFill>
          <a:blip r:embed="rId3"/>
          <a:stretch>
            <a:fillRect/>
          </a:stretch>
        </p:blipFill>
        <p:spPr>
          <a:xfrm>
            <a:off x="69803" y="1205471"/>
            <a:ext cx="6323470" cy="4807967"/>
          </a:xfrm>
          <a:prstGeom prst="rect">
            <a:avLst/>
          </a:prstGeom>
        </p:spPr>
      </p:pic>
      <p:sp>
        <p:nvSpPr>
          <p:cNvPr id="18" name="TextBox 17">
            <a:extLst>
              <a:ext uri="{FF2B5EF4-FFF2-40B4-BE49-F238E27FC236}">
                <a16:creationId xmlns:a16="http://schemas.microsoft.com/office/drawing/2014/main" id="{295C5968-55E3-688E-3C32-83A6EEAD6A0C}"/>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a:extLst>
              <a:ext uri="{FF2B5EF4-FFF2-40B4-BE49-F238E27FC236}">
                <a16:creationId xmlns:a16="http://schemas.microsoft.com/office/drawing/2014/main" id="{86224FDA-8D7F-E67F-DAB3-B1AD73A66B02}"/>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B19</a:t>
            </a:r>
            <a:endParaRPr sz="719" b="0" i="0" spc="58">
              <a:solidFill>
                <a:srgbClr val="5D7176"/>
              </a:solidFill>
              <a:latin typeface="Noto Sans"/>
            </a:endParaRPr>
          </a:p>
        </p:txBody>
      </p:sp>
      <p:sp>
        <p:nvSpPr>
          <p:cNvPr id="13" name="TextBox 12">
            <a:extLst>
              <a:ext uri="{FF2B5EF4-FFF2-40B4-BE49-F238E27FC236}">
                <a16:creationId xmlns:a16="http://schemas.microsoft.com/office/drawing/2014/main" id="{11E90695-0631-2E5D-BD47-17B929055ADB}"/>
              </a:ext>
            </a:extLst>
          </p:cNvPr>
          <p:cNvSpPr txBox="1"/>
          <p:nvPr/>
        </p:nvSpPr>
        <p:spPr>
          <a:xfrm>
            <a:off x="675798" y="1200906"/>
            <a:ext cx="5636121"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What happens on the resistive layer</a:t>
            </a:r>
          </a:p>
        </p:txBody>
      </p:sp>
      <p:sp>
        <p:nvSpPr>
          <p:cNvPr id="21" name="Rectangle 20">
            <a:extLst>
              <a:ext uri="{FF2B5EF4-FFF2-40B4-BE49-F238E27FC236}">
                <a16:creationId xmlns:a16="http://schemas.microsoft.com/office/drawing/2014/main" id="{63499D4A-A151-EB56-062D-12B5539E998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ACE5A682-DE23-571E-F7D6-F74C3EE2AEE4}"/>
              </a:ext>
            </a:extLst>
          </p:cNvPr>
          <p:cNvSpPr txBox="1"/>
          <p:nvPr/>
        </p:nvSpPr>
        <p:spPr>
          <a:xfrm>
            <a:off x="548580" y="5642154"/>
            <a:ext cx="5763339" cy="956577"/>
          </a:xfrm>
          <a:prstGeom prst="rect">
            <a:avLst/>
          </a:prstGeom>
          <a:noFill/>
        </p:spPr>
        <p:txBody>
          <a:bodyPr wrap="square" lIns="0" tIns="0" rIns="0" bIns="0" anchor="t">
            <a:noAutofit/>
          </a:bodyPr>
          <a:lstStyle/>
          <a:p>
            <a:pPr algn="l">
              <a:lnSpc>
                <a:spcPts val="3229"/>
              </a:lnSpc>
              <a:spcBef>
                <a:spcPts val="0"/>
              </a:spcBef>
              <a:spcAft>
                <a:spcPts val="0"/>
              </a:spcAft>
            </a:pPr>
            <a:r>
              <a:rPr sz="2100" b="0" i="0" dirty="0">
                <a:solidFill>
                  <a:srgbClr val="3C5257"/>
                </a:solidFill>
                <a:latin typeface="Noto Sans"/>
              </a:rPr>
              <a:t>Charge spreads through the resistive strips</a:t>
            </a:r>
          </a:p>
          <a:p>
            <a:pPr algn="l">
              <a:lnSpc>
                <a:spcPts val="3229"/>
              </a:lnSpc>
              <a:spcBef>
                <a:spcPts val="0"/>
              </a:spcBef>
              <a:spcAft>
                <a:spcPts val="0"/>
              </a:spcAft>
            </a:pPr>
            <a:r>
              <a:rPr sz="2100" b="0" i="0" dirty="0">
                <a:solidFill>
                  <a:srgbClr val="3C5257"/>
                </a:solidFill>
                <a:latin typeface="Noto Sans"/>
              </a:rPr>
              <a:t>A neighbor’s copy arrives </a:t>
            </a:r>
            <a:r>
              <a:rPr sz="2100" b="0" i="0" dirty="0">
                <a:solidFill>
                  <a:srgbClr val="23373B"/>
                </a:solidFill>
                <a:latin typeface="Noto Sans SemiBold"/>
              </a:rPr>
              <a:t>late and dispersed</a:t>
            </a:r>
          </a:p>
        </p:txBody>
      </p:sp>
      <p:sp>
        <p:nvSpPr>
          <p:cNvPr id="7" name="Rectangle 4">
            <a:extLst>
              <a:ext uri="{FF2B5EF4-FFF2-40B4-BE49-F238E27FC236}">
                <a16:creationId xmlns:a16="http://schemas.microsoft.com/office/drawing/2014/main" id="{34CBECFF-1902-026F-B510-D094CC1FE754}"/>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a:extLst>
              <a:ext uri="{FF2B5EF4-FFF2-40B4-BE49-F238E27FC236}">
                <a16:creationId xmlns:a16="http://schemas.microsoft.com/office/drawing/2014/main" id="{7FEA83A7-5FA4-DDAB-F94C-67247AAE8BB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dirty="0">
                <a:solidFill>
                  <a:srgbClr val="FFFFFF"/>
                </a:solidFill>
                <a:latin typeface="Noto Sans"/>
              </a:rPr>
              <a:t>Work in progress</a:t>
            </a:r>
          </a:p>
        </p:txBody>
      </p:sp>
      <p:sp>
        <p:nvSpPr>
          <p:cNvPr id="30" name="TextBox 29">
            <a:extLst>
              <a:ext uri="{FF2B5EF4-FFF2-40B4-BE49-F238E27FC236}">
                <a16:creationId xmlns:a16="http://schemas.microsoft.com/office/drawing/2014/main" id="{17EE32C8-549B-8B5B-BCEF-04375F8021A3}"/>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12895290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1ECF-8CD7-1689-247D-BA46DC34AFDB}"/>
            </a:ext>
          </a:extLst>
        </p:cNvPr>
        <p:cNvGrpSpPr/>
        <p:nvPr/>
      </p:nvGrpSpPr>
      <p:grpSpPr>
        <a:xfrm>
          <a:off x="0" y="0"/>
          <a:ext cx="0" cy="0"/>
          <a:chOff x="0" y="0"/>
          <a:chExt cx="0" cy="0"/>
        </a:xfrm>
      </p:grpSpPr>
      <p:pic>
        <p:nvPicPr>
          <p:cNvPr id="17" name="Picture 16" descr="Four panels, four consecutive strips of one real cosmic muon on the Y plane. Each strip's fitted model waveform is stacked into the strip's own charge, its plus-minus-one neighbours' delayed copies and its plus-minus-two, with the measured samples drawn as open circles on top.">
            <a:extLst>
              <a:ext uri="{FF2B5EF4-FFF2-40B4-BE49-F238E27FC236}">
                <a16:creationId xmlns:a16="http://schemas.microsoft.com/office/drawing/2014/main" id="{13BA47F0-94C0-F7BB-6261-A49DE4FCF057}"/>
              </a:ext>
            </a:extLst>
          </p:cNvPr>
          <p:cNvPicPr>
            <a:picLocks noChangeAspect="1"/>
          </p:cNvPicPr>
          <p:nvPr/>
        </p:nvPicPr>
        <p:blipFill>
          <a:blip r:embed="rId2"/>
          <a:stretch>
            <a:fillRect/>
          </a:stretch>
        </p:blipFill>
        <p:spPr>
          <a:xfrm>
            <a:off x="6019858" y="1092200"/>
            <a:ext cx="6136699" cy="5381920"/>
          </a:xfrm>
          <a:prstGeom prst="rect">
            <a:avLst/>
          </a:prstGeom>
        </p:spPr>
      </p:pic>
      <p:pic>
        <p:nvPicPr>
          <p:cNvPr id="14" name="Picture 13" descr="A four-stage diagram: the drift column cut into 60 ns slices each carrying a free non-negative charge; each slice's charge spread over strips by the geometric strip integral; every strip's charge copied onto its plus-minus-one and plus-minus-two neighbours by the measured kernel, late; and the whole thing folded with the measured impulse response.">
            <a:extLst>
              <a:ext uri="{FF2B5EF4-FFF2-40B4-BE49-F238E27FC236}">
                <a16:creationId xmlns:a16="http://schemas.microsoft.com/office/drawing/2014/main" id="{0643164D-C419-C6A6-0749-7598BB46BABC}"/>
              </a:ext>
            </a:extLst>
          </p:cNvPr>
          <p:cNvPicPr>
            <a:picLocks noChangeAspect="1"/>
          </p:cNvPicPr>
          <p:nvPr/>
        </p:nvPicPr>
        <p:blipFill>
          <a:blip r:embed="rId3"/>
          <a:stretch>
            <a:fillRect/>
          </a:stretch>
        </p:blipFill>
        <p:spPr>
          <a:xfrm>
            <a:off x="-7177" y="680870"/>
            <a:ext cx="5906332" cy="5264804"/>
          </a:xfrm>
          <a:prstGeom prst="rect">
            <a:avLst/>
          </a:prstGeom>
        </p:spPr>
      </p:pic>
      <p:sp>
        <p:nvSpPr>
          <p:cNvPr id="3" name="Rectangle 2">
            <a:extLst>
              <a:ext uri="{FF2B5EF4-FFF2-40B4-BE49-F238E27FC236}">
                <a16:creationId xmlns:a16="http://schemas.microsoft.com/office/drawing/2014/main" id="{23358B50-C102-A3E0-2972-DBED090E3B75}"/>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D1F77E4-3EA8-7531-1972-EAB27C7FAB5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30FAA71A-38B7-CF0B-651F-C8E5247B9FE1}"/>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D7BF886A-59CC-1575-3387-2C3EA749646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4F695121-B700-1014-355D-605331B89C5A}"/>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7BF33A71-AD64-07FF-FE68-338EE381A6B2}"/>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The forward fit: </a:t>
            </a:r>
            <a:r>
              <a:rPr lang="en-US" sz="2783" b="1" i="0" spc="-28" dirty="0">
                <a:solidFill>
                  <a:srgbClr val="23373B"/>
                </a:solidFill>
                <a:latin typeface="Noto Sans Display"/>
              </a:rPr>
              <a:t>assume a track and </a:t>
            </a:r>
            <a:r>
              <a:rPr sz="2783" b="1" i="0" spc="-28" dirty="0">
                <a:solidFill>
                  <a:srgbClr val="23373B"/>
                </a:solidFill>
                <a:latin typeface="Noto Sans Display"/>
              </a:rPr>
              <a:t>predict every waveform</a:t>
            </a:r>
          </a:p>
        </p:txBody>
      </p:sp>
      <p:sp>
        <p:nvSpPr>
          <p:cNvPr id="15" name="TextBox 14">
            <a:extLst>
              <a:ext uri="{FF2B5EF4-FFF2-40B4-BE49-F238E27FC236}">
                <a16:creationId xmlns:a16="http://schemas.microsoft.com/office/drawing/2014/main" id="{8DAED977-F875-B551-AF76-1EECE5590E64}"/>
              </a:ext>
            </a:extLst>
          </p:cNvPr>
          <p:cNvSpPr txBox="1"/>
          <p:nvPr/>
        </p:nvSpPr>
        <p:spPr>
          <a:xfrm>
            <a:off x="548580" y="5649406"/>
            <a:ext cx="6136700" cy="1225451"/>
          </a:xfrm>
          <a:prstGeom prst="rect">
            <a:avLst/>
          </a:prstGeom>
          <a:noFill/>
        </p:spPr>
        <p:txBody>
          <a:bodyPr wrap="square" lIns="0" tIns="0" rIns="0" bIns="0" anchor="t">
            <a:noAutofit/>
          </a:bodyPr>
          <a:lstStyle/>
          <a:p>
            <a:pPr algn="l">
              <a:lnSpc>
                <a:spcPts val="2260"/>
              </a:lnSpc>
              <a:spcBef>
                <a:spcPts val="0"/>
              </a:spcBef>
              <a:spcAft>
                <a:spcPts val="0"/>
              </a:spcAft>
            </a:pPr>
            <a:r>
              <a:rPr sz="1559" b="0" i="0" dirty="0">
                <a:solidFill>
                  <a:srgbClr val="23373B"/>
                </a:solidFill>
                <a:latin typeface="Noto Sans SemiBold"/>
              </a:rPr>
              <a:t>Three numbers</a:t>
            </a:r>
            <a:r>
              <a:rPr sz="1559" b="0" i="0" dirty="0">
                <a:solidFill>
                  <a:srgbClr val="3C5257"/>
                </a:solidFill>
                <a:latin typeface="Noto Sans"/>
              </a:rPr>
              <a:t> are searched: </a:t>
            </a:r>
          </a:p>
          <a:p>
            <a:pPr algn="l">
              <a:lnSpc>
                <a:spcPts val="2260"/>
              </a:lnSpc>
              <a:spcBef>
                <a:spcPts val="0"/>
              </a:spcBef>
              <a:spcAft>
                <a:spcPts val="0"/>
              </a:spcAft>
            </a:pPr>
            <a:r>
              <a:rPr sz="1559" b="0" i="0" dirty="0">
                <a:solidFill>
                  <a:srgbClr val="3C5257"/>
                </a:solidFill>
                <a:latin typeface="Noto Sans"/>
              </a:rPr>
              <a:t>Mesh arrival position and time (p₀, t₀) and transverse speed (w)</a:t>
            </a:r>
          </a:p>
          <a:p>
            <a:pPr algn="l">
              <a:lnSpc>
                <a:spcPts val="2260"/>
              </a:lnSpc>
              <a:spcBef>
                <a:spcPts val="0"/>
              </a:spcBef>
              <a:spcAft>
                <a:spcPts val="0"/>
              </a:spcAft>
            </a:pPr>
            <a:r>
              <a:rPr sz="1559" b="0" i="0" dirty="0" err="1">
                <a:solidFill>
                  <a:srgbClr val="3C5257"/>
                </a:solidFill>
                <a:latin typeface="Noto Sans"/>
              </a:rPr>
              <a:t>v</a:t>
            </a:r>
            <a:r>
              <a:rPr sz="1299" b="0" i="0" baseline="-25000" dirty="0" err="1">
                <a:solidFill>
                  <a:srgbClr val="3C5257"/>
                </a:solidFill>
                <a:latin typeface="Noto Sans"/>
              </a:rPr>
              <a:t>drift</a:t>
            </a:r>
            <a:r>
              <a:rPr sz="1559" b="0" i="0" dirty="0">
                <a:solidFill>
                  <a:srgbClr val="3C5257"/>
                </a:solidFill>
                <a:latin typeface="Noto Sans"/>
              </a:rPr>
              <a:t> enters once at the end: tan θ = w / </a:t>
            </a:r>
            <a:r>
              <a:rPr sz="1559" b="0" i="0" dirty="0" err="1">
                <a:solidFill>
                  <a:srgbClr val="3C5257"/>
                </a:solidFill>
                <a:latin typeface="Noto Sans"/>
              </a:rPr>
              <a:t>v</a:t>
            </a:r>
            <a:r>
              <a:rPr sz="1299" b="0" i="0" baseline="-25000" dirty="0" err="1">
                <a:solidFill>
                  <a:srgbClr val="3C5257"/>
                </a:solidFill>
                <a:latin typeface="Noto Sans"/>
              </a:rPr>
              <a:t>drift</a:t>
            </a:r>
            <a:endParaRPr sz="1299" b="0" i="0" baseline="-25000" dirty="0">
              <a:solidFill>
                <a:srgbClr val="3C5257"/>
              </a:solidFill>
              <a:latin typeface="Noto Sans"/>
            </a:endParaRPr>
          </a:p>
        </p:txBody>
      </p:sp>
      <p:sp>
        <p:nvSpPr>
          <p:cNvPr id="18" name="TextBox 17">
            <a:extLst>
              <a:ext uri="{FF2B5EF4-FFF2-40B4-BE49-F238E27FC236}">
                <a16:creationId xmlns:a16="http://schemas.microsoft.com/office/drawing/2014/main" id="{C3158C62-4C6D-C0EF-4D55-A1FBB7793189}"/>
              </a:ext>
            </a:extLst>
          </p:cNvPr>
          <p:cNvSpPr txBox="1"/>
          <p:nvPr/>
        </p:nvSpPr>
        <p:spPr>
          <a:xfrm>
            <a:off x="7052745" y="6338649"/>
            <a:ext cx="4225690" cy="301923"/>
          </a:xfrm>
          <a:prstGeom prst="rect">
            <a:avLst/>
          </a:prstGeom>
          <a:noFill/>
        </p:spPr>
        <p:txBody>
          <a:bodyPr wrap="square" lIns="0" tIns="0" rIns="0" bIns="0" anchor="t">
            <a:noAutofit/>
          </a:bodyPr>
          <a:lstStyle/>
          <a:p>
            <a:pPr algn="ctr">
              <a:lnSpc>
                <a:spcPts val="1614"/>
              </a:lnSpc>
              <a:spcBef>
                <a:spcPts val="0"/>
              </a:spcBef>
              <a:spcAft>
                <a:spcPts val="0"/>
              </a:spcAft>
            </a:pPr>
            <a:r>
              <a:rPr sz="1400" b="0" i="0" dirty="0">
                <a:solidFill>
                  <a:srgbClr val="3C5257"/>
                </a:solidFill>
                <a:latin typeface="Noto Sans"/>
              </a:rPr>
              <a:t>Four </a:t>
            </a:r>
            <a:r>
              <a:rPr lang="en-US" sz="1400" b="0" i="0" dirty="0">
                <a:solidFill>
                  <a:srgbClr val="3C5257"/>
                </a:solidFill>
                <a:latin typeface="Noto Sans"/>
              </a:rPr>
              <a:t>consecutive </a:t>
            </a:r>
            <a:r>
              <a:rPr sz="1400" b="0" i="0" dirty="0">
                <a:solidFill>
                  <a:srgbClr val="3C5257"/>
                </a:solidFill>
                <a:latin typeface="Noto Sans"/>
              </a:rPr>
              <a:t>strips of one real muon</a:t>
            </a:r>
            <a:r>
              <a:rPr lang="en-US" sz="1400" b="0" i="0" dirty="0">
                <a:solidFill>
                  <a:srgbClr val="3C5257"/>
                </a:solidFill>
                <a:latin typeface="Noto Sans"/>
              </a:rPr>
              <a:t> event</a:t>
            </a:r>
            <a:endParaRPr sz="1400" b="0" i="0" dirty="0">
              <a:solidFill>
                <a:srgbClr val="3C5257"/>
              </a:solidFill>
              <a:latin typeface="Noto Sans"/>
            </a:endParaRPr>
          </a:p>
        </p:txBody>
      </p:sp>
      <p:sp>
        <p:nvSpPr>
          <p:cNvPr id="19" name="TextBox 18">
            <a:extLst>
              <a:ext uri="{FF2B5EF4-FFF2-40B4-BE49-F238E27FC236}">
                <a16:creationId xmlns:a16="http://schemas.microsoft.com/office/drawing/2014/main" id="{E6660458-AA69-555D-8891-FE4F728AC43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a:extLst>
              <a:ext uri="{FF2B5EF4-FFF2-40B4-BE49-F238E27FC236}">
                <a16:creationId xmlns:a16="http://schemas.microsoft.com/office/drawing/2014/main" id="{11A4E3D6-C820-E19B-D92C-770E8A389F1B}"/>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B20</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C2E6C167-39D6-B3FC-9361-A47DA889413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C58B95C9-078E-57AC-81FF-977118332617}"/>
              </a:ext>
            </a:extLst>
          </p:cNvPr>
          <p:cNvSpPr txBox="1"/>
          <p:nvPr/>
        </p:nvSpPr>
        <p:spPr>
          <a:xfrm>
            <a:off x="4571600" y="167297"/>
            <a:ext cx="4200000" cy="200025"/>
          </a:xfrm>
          <a:prstGeom prst="rect">
            <a:avLst/>
          </a:prstGeom>
          <a:noFill/>
        </p:spPr>
        <p:txBody>
          <a:bodyPr wrap="square" lIns="0" tIns="0" rIns="0" bIns="0" anchor="t">
            <a:noAutofit/>
          </a:bodyPr>
          <a:lstStyle/>
          <a:p>
            <a:pPr algn="ctr">
              <a:spcBef>
                <a:spcPts val="0"/>
              </a:spcBef>
              <a:spcAft>
                <a:spcPts val="0"/>
              </a:spcAft>
            </a:pPr>
            <a:r>
              <a:rPr lang="en-US" sz="1200" b="0" i="0" spc="20" dirty="0">
                <a:solidFill>
                  <a:srgbClr val="5D7176"/>
                </a:solidFill>
                <a:latin typeface="Noto Sans"/>
              </a:rPr>
              <a:t>Method inspired by </a:t>
            </a:r>
            <a:r>
              <a:rPr lang="en-US" sz="1200" b="0" i="0" spc="20" dirty="0">
                <a:solidFill>
                  <a:srgbClr val="3C5257"/>
                </a:solidFill>
                <a:latin typeface="Noto Sans SemiBold"/>
              </a:rPr>
              <a:t>T2K ND280</a:t>
            </a:r>
            <a:r>
              <a:rPr lang="en-US" sz="1200" b="0" i="0" spc="20" dirty="0">
                <a:solidFill>
                  <a:srgbClr val="5D7176"/>
                </a:solidFill>
                <a:latin typeface="Noto Sans"/>
              </a:rPr>
              <a:t> </a:t>
            </a:r>
            <a:br>
              <a:rPr lang="en-US" sz="1100" b="0" i="0" spc="20" dirty="0">
                <a:solidFill>
                  <a:srgbClr val="5D7176"/>
                </a:solidFill>
                <a:latin typeface="Noto Sans"/>
              </a:rPr>
            </a:br>
            <a:r>
              <a:rPr lang="en-US" sz="750" b="0" i="0" spc="20" dirty="0" err="1">
                <a:solidFill>
                  <a:srgbClr val="5D7176"/>
                </a:solidFill>
                <a:latin typeface="Noto Sans"/>
              </a:rPr>
              <a:t>Attié</a:t>
            </a:r>
            <a:r>
              <a:rPr lang="en-US" sz="750" b="0" i="0" spc="20" dirty="0">
                <a:solidFill>
                  <a:srgbClr val="5D7176"/>
                </a:solidFill>
                <a:latin typeface="Noto Sans"/>
              </a:rPr>
              <a:t> et al., NIM A 1056 (2023) 168534</a:t>
            </a:r>
          </a:p>
        </p:txBody>
      </p:sp>
    </p:spTree>
    <p:extLst>
      <p:ext uri="{BB962C8B-B14F-4D97-AF65-F5344CB8AC3E}">
        <p14:creationId xmlns:p14="http://schemas.microsoft.com/office/powerpoint/2010/main" val="42425666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1CFA-16B9-E6D7-B976-EA3F2DC90D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802F91-1558-C173-E86B-92F4FF653C2E}"/>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F6E047F5-D87C-2C3C-D1D4-76A12933B6A6}"/>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Micromegas TPC · Reconstruction</a:t>
            </a:r>
          </a:p>
        </p:txBody>
      </p:sp>
      <p:sp>
        <p:nvSpPr>
          <p:cNvPr id="5" name="Rectangle 4">
            <a:extLst>
              <a:ext uri="{FF2B5EF4-FFF2-40B4-BE49-F238E27FC236}">
                <a16:creationId xmlns:a16="http://schemas.microsoft.com/office/drawing/2014/main" id="{4F29FF06-AB40-63B1-105A-DA6C2ECC424C}"/>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2E9A20E1-C09D-B06F-17A2-63BD29E0537F}"/>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746CF623-0D9D-C7BF-0B8D-0DCC9ED03130}"/>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35EAD1C8-FF62-F304-7957-9EEE222864C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One muon through the forward fit</a:t>
            </a:r>
          </a:p>
        </p:txBody>
      </p:sp>
      <p:pic>
        <p:nvPicPr>
          <p:cNvPr id="13" name="Picture 12" descr="Top row: measured strip-by-sample window, the fitted model and their residual for one real muon plane. Bottom left: every strip in the window overlaid with the model simultaneously. Bottom right: the fitted non-negative charge profile against drift depth with its median and 90 percent arrival times marked.">
            <a:extLst>
              <a:ext uri="{FF2B5EF4-FFF2-40B4-BE49-F238E27FC236}">
                <a16:creationId xmlns:a16="http://schemas.microsoft.com/office/drawing/2014/main" id="{31A0CF91-D86F-37AF-5A2F-8C9848E1FE18}"/>
              </a:ext>
            </a:extLst>
          </p:cNvPr>
          <p:cNvPicPr>
            <a:picLocks noChangeAspect="1"/>
          </p:cNvPicPr>
          <p:nvPr/>
        </p:nvPicPr>
        <p:blipFill>
          <a:blip r:embed="rId2"/>
          <a:stretch>
            <a:fillRect/>
          </a:stretch>
        </p:blipFill>
        <p:spPr>
          <a:xfrm>
            <a:off x="481667" y="1208631"/>
            <a:ext cx="11228360" cy="5297100"/>
          </a:xfrm>
          <a:prstGeom prst="rect">
            <a:avLst/>
          </a:prstGeom>
        </p:spPr>
      </p:pic>
      <p:sp>
        <p:nvSpPr>
          <p:cNvPr id="14" name="TextBox 13">
            <a:extLst>
              <a:ext uri="{FF2B5EF4-FFF2-40B4-BE49-F238E27FC236}">
                <a16:creationId xmlns:a16="http://schemas.microsoft.com/office/drawing/2014/main" id="{E2BE680B-BACE-5A66-C34C-E3FEDD187B70}"/>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A07AFFBE-966D-EE2B-B684-97402FC3F80D}"/>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B21</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C4D543A2-92E7-AE3D-F93A-F2D9BF9D09F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754912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FB0A-173E-6BF5-6525-9BC04413A09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7D8D37E-4E96-63E2-36C5-1B9BD70683DD}"/>
              </a:ext>
            </a:extLst>
          </p:cNvPr>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DA77DB6D-38F9-D3FB-08D2-81E408FFAEEB}"/>
              </a:ext>
            </a:extLst>
          </p:cNvPr>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extLst>
              <a:ext uri="{FF2B5EF4-FFF2-40B4-BE49-F238E27FC236}">
                <a16:creationId xmlns:a16="http://schemas.microsoft.com/office/drawing/2014/main" id="{3E45DEDD-304C-3296-8855-83B36E5A2919}"/>
              </a:ext>
            </a:extLst>
          </p:cNvPr>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Characterization</a:t>
            </a:r>
          </a:p>
        </p:txBody>
      </p:sp>
      <p:sp>
        <p:nvSpPr>
          <p:cNvPr id="6" name="TextBox 5">
            <a:extLst>
              <a:ext uri="{FF2B5EF4-FFF2-40B4-BE49-F238E27FC236}">
                <a16:creationId xmlns:a16="http://schemas.microsoft.com/office/drawing/2014/main" id="{E7DBAFCC-AC9D-D705-0DBF-BC8BBBB110EF}"/>
              </a:ext>
            </a:extLst>
          </p:cNvPr>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How well the chamber actually perform</a:t>
            </a:r>
            <a:r>
              <a:rPr lang="en-US" sz="2000" b="0" i="0" dirty="0">
                <a:solidFill>
                  <a:srgbClr val="5D7176"/>
                </a:solidFill>
                <a:latin typeface="Noto Sans"/>
              </a:rPr>
              <a:t>s</a:t>
            </a:r>
            <a:r>
              <a:rPr sz="2000" b="0" i="0" dirty="0">
                <a:solidFill>
                  <a:srgbClr val="5D7176"/>
                </a:solidFill>
                <a:latin typeface="Noto Sans"/>
              </a:rPr>
              <a:t>, </a:t>
            </a:r>
            <a:br>
              <a:rPr lang="en-US" sz="2000" b="0" i="0" dirty="0">
                <a:solidFill>
                  <a:srgbClr val="5D7176"/>
                </a:solidFill>
                <a:latin typeface="Noto Sans"/>
              </a:rPr>
            </a:br>
            <a:r>
              <a:rPr sz="2000" b="0" i="0" dirty="0">
                <a:solidFill>
                  <a:srgbClr val="5D7176"/>
                </a:solidFill>
                <a:latin typeface="Noto Sans"/>
              </a:rPr>
              <a:t>measured </a:t>
            </a:r>
            <a:r>
              <a:rPr lang="en-US" sz="2000" dirty="0">
                <a:solidFill>
                  <a:srgbClr val="5D7176"/>
                </a:solidFill>
                <a:latin typeface="Noto Sans"/>
              </a:rPr>
              <a:t>with</a:t>
            </a:r>
            <a:r>
              <a:rPr sz="2000" b="0" i="0" dirty="0">
                <a:solidFill>
                  <a:srgbClr val="5D7176"/>
                </a:solidFill>
                <a:latin typeface="Noto Sans"/>
              </a:rPr>
              <a:t> cosmic</a:t>
            </a:r>
            <a:r>
              <a:rPr lang="en-US" sz="2000" dirty="0">
                <a:solidFill>
                  <a:srgbClr val="5D7176"/>
                </a:solidFill>
                <a:latin typeface="Noto Sans"/>
              </a:rPr>
              <a:t> muons</a:t>
            </a:r>
            <a:r>
              <a:rPr sz="2000" b="0" i="0" dirty="0">
                <a:solidFill>
                  <a:srgbClr val="5D7176"/>
                </a:solidFill>
                <a:latin typeface="Noto Sans"/>
              </a:rPr>
              <a:t>.</a:t>
            </a:r>
          </a:p>
        </p:txBody>
      </p:sp>
      <p:sp>
        <p:nvSpPr>
          <p:cNvPr id="7" name="TextBox 6">
            <a:extLst>
              <a:ext uri="{FF2B5EF4-FFF2-40B4-BE49-F238E27FC236}">
                <a16:creationId xmlns:a16="http://schemas.microsoft.com/office/drawing/2014/main" id="{0DB7FC2A-5257-CB44-7D12-FDA9F0C18B7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4CC2FCEF-99ED-1EFD-56D3-B10CC8CB4C7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430284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AC3E-411A-735C-F987-91AB6B4D4E0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986060-60FD-BE9E-C73E-F8287FE467F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6ED37920-E804-10AB-AA0B-418657E79D2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AF88527D-A161-0FC3-3B19-83B456E7191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213C78A9-BBBB-8F22-D751-797C0E71FEE4}"/>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sp>
        <p:nvSpPr>
          <p:cNvPr id="7" name="Rectangle 6">
            <a:extLst>
              <a:ext uri="{FF2B5EF4-FFF2-40B4-BE49-F238E27FC236}">
                <a16:creationId xmlns:a16="http://schemas.microsoft.com/office/drawing/2014/main" id="{BE80D144-184B-C46E-F6D1-542E0786E2FF}"/>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a:extLst>
              <a:ext uri="{FF2B5EF4-FFF2-40B4-BE49-F238E27FC236}">
                <a16:creationId xmlns:a16="http://schemas.microsoft.com/office/drawing/2014/main" id="{DFCD93E7-1421-F953-2363-E7B89D5B53ED}"/>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pic>
        <p:nvPicPr>
          <p:cNvPr id="9" name="Picture 8" descr="Frame 1 of five: the empty cosmic-bench rack in the Saclay laboratory, an aluminium-profile column with cross beams top and bottom and a ladder of shelf positions down the middle.">
            <a:extLst>
              <a:ext uri="{FF2B5EF4-FFF2-40B4-BE49-F238E27FC236}">
                <a16:creationId xmlns:a16="http://schemas.microsoft.com/office/drawing/2014/main" id="{C2CB58BC-62AE-95F9-E677-57C2084AF825}"/>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TextBox 9">
            <a:extLst>
              <a:ext uri="{FF2B5EF4-FFF2-40B4-BE49-F238E27FC236}">
                <a16:creationId xmlns:a16="http://schemas.microsoft.com/office/drawing/2014/main" id="{555AC600-013A-DACD-B6D0-2DFB57C80428}"/>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a:extLst>
              <a:ext uri="{FF2B5EF4-FFF2-40B4-BE49-F238E27FC236}">
                <a16:creationId xmlns:a16="http://schemas.microsoft.com/office/drawing/2014/main" id="{5F4C5E2F-5D82-777C-20BB-516EC7429B61}"/>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B22</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E69C15BE-57FF-F092-C2F4-785DCCECE1B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096749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C067-B5F8-59B5-B365-3AD6B3C711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F432F31-6827-15A9-D3B7-851CBD9AEC4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9414147-64E6-1D77-959E-2AE6170B2344}"/>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65B202C5-0655-A0E6-441C-4978A4681743}"/>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3AF346BE-8BA4-92C0-2A93-98C8AD6F4CC5}"/>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2 of five: the two 60 by 60 cm trigger scintillators appear, one across the top of the rack and one across the bottom, each with a black light guide and photomultiplier on one corner.">
            <a:extLst>
              <a:ext uri="{FF2B5EF4-FFF2-40B4-BE49-F238E27FC236}">
                <a16:creationId xmlns:a16="http://schemas.microsoft.com/office/drawing/2014/main" id="{E6D09604-2568-394B-0320-F7DC70280BF8}"/>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2C302CFB-4E20-87A1-036C-002F49FB473A}"/>
              </a:ext>
            </a:extLst>
          </p:cNvPr>
          <p:cNvSpPr/>
          <p:nvPr/>
        </p:nvSpPr>
        <p:spPr>
          <a:xfrm>
            <a:off x="7467600" y="1988865"/>
            <a:ext cx="13208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D8041488-F5E6-53DF-F90C-426E7F84B44E}"/>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TextBox 11">
            <a:extLst>
              <a:ext uri="{FF2B5EF4-FFF2-40B4-BE49-F238E27FC236}">
                <a16:creationId xmlns:a16="http://schemas.microsoft.com/office/drawing/2014/main" id="{BA952E3D-05C9-BD4D-A7F8-AA8039EEB0B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3" name="TextBox 12">
            <a:extLst>
              <a:ext uri="{FF2B5EF4-FFF2-40B4-BE49-F238E27FC236}">
                <a16:creationId xmlns:a16="http://schemas.microsoft.com/office/drawing/2014/main" id="{DF2866C4-4432-12C2-E2CF-50844B6F92C4}"/>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B23</a:t>
            </a:r>
            <a:endParaRPr sz="719" b="0" i="0" spc="58">
              <a:solidFill>
                <a:srgbClr val="5D7176"/>
              </a:solidFill>
              <a:latin typeface="Noto Sans"/>
            </a:endParaRPr>
          </a:p>
        </p:txBody>
      </p:sp>
      <p:sp>
        <p:nvSpPr>
          <p:cNvPr id="16" name="Rectangle 15">
            <a:extLst>
              <a:ext uri="{FF2B5EF4-FFF2-40B4-BE49-F238E27FC236}">
                <a16:creationId xmlns:a16="http://schemas.microsoft.com/office/drawing/2014/main" id="{157570C9-DFBF-068C-D535-457072A384A8}"/>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1F49A749-3468-62E2-76E4-0B6D875A5E4D}"/>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984FD6E-EC14-1D97-A4DA-5A2DB6E8FBA9}"/>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20351195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13AE4-4E66-AE63-2251-5CC0015B027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0669152-7D4C-ECF0-240A-483F8CC66D47}"/>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C3C0BC42-4C19-3779-C8E9-5E699609763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57274253-AD50-555E-9625-31248F8FC658}"/>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9E0EC5A-338E-42DD-9A82-871D0D8A3AA9}"/>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3 of five: the four M3 reference Micromegas appear, two immediately under the top paddle and two immediately above the bottom one.">
            <a:extLst>
              <a:ext uri="{FF2B5EF4-FFF2-40B4-BE49-F238E27FC236}">
                <a16:creationId xmlns:a16="http://schemas.microsoft.com/office/drawing/2014/main" id="{3EEF9EFF-499F-CEC6-B6ED-54A6E6D972D7}"/>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EAF42AED-D534-48F6-CA9D-E02CDF11E6B7}"/>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80D8F8B3-818E-334B-D02A-2B9F8FD74DD7}"/>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9CF5F5B0-9F2A-CD53-0625-432FBED51685}"/>
              </a:ext>
            </a:extLst>
          </p:cNvPr>
          <p:cNvSpPr/>
          <p:nvPr/>
        </p:nvSpPr>
        <p:spPr>
          <a:xfrm>
            <a:off x="7556500" y="2618110"/>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7601892A-BDC3-80C0-2406-E84354872816}"/>
              </a:ext>
            </a:extLst>
          </p:cNvPr>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TextBox 13">
            <a:extLst>
              <a:ext uri="{FF2B5EF4-FFF2-40B4-BE49-F238E27FC236}">
                <a16:creationId xmlns:a16="http://schemas.microsoft.com/office/drawing/2014/main" id="{0445F40C-C737-2B6E-927C-D28E09D9AEC1}"/>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26444C14-73DC-D4B7-F307-680B0BA1CF7E}"/>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B24</a:t>
            </a:r>
            <a:endParaRPr sz="719" b="0" i="0" spc="58">
              <a:solidFill>
                <a:srgbClr val="5D7176"/>
              </a:solidFill>
              <a:latin typeface="Noto Sans"/>
            </a:endParaRPr>
          </a:p>
        </p:txBody>
      </p:sp>
      <p:sp>
        <p:nvSpPr>
          <p:cNvPr id="18" name="Rectangle 17">
            <a:extLst>
              <a:ext uri="{FF2B5EF4-FFF2-40B4-BE49-F238E27FC236}">
                <a16:creationId xmlns:a16="http://schemas.microsoft.com/office/drawing/2014/main" id="{052CC67D-2244-4266-CBE7-5EDACD2E7E2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74F1484F-FAAF-7700-64E5-B1B4C491F266}"/>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24DF5517-20F5-B4A1-AA61-B0CDEF50A6BE}"/>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15274537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BE47-C059-4FA1-4CA9-E9599B23E1A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9A7E4E6-913B-2D8B-6C6D-A40C4B0095A8}"/>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4F8BEF3-909F-0E0B-82C4-38C467D2642C}"/>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422ACC3A-89D9-55BA-D354-39F289E108DF}"/>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F3536231-E539-D660-2C46-4E4B7CE35A50}"/>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4 of five: the two MX17 chambers under test appear in the middle of the rack, between the two pairs of reference planes.">
            <a:extLst>
              <a:ext uri="{FF2B5EF4-FFF2-40B4-BE49-F238E27FC236}">
                <a16:creationId xmlns:a16="http://schemas.microsoft.com/office/drawing/2014/main" id="{694C13BE-DF00-D8DF-AD11-B54614AC8902}"/>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8D83BD40-142F-72AB-7613-D429F9B9CFF4}"/>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EFAC33B2-ABF9-CCAC-0038-17FEECBD5A70}"/>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FDB9395E-7FBE-63DE-9BB8-3BA4B4F916EC}"/>
              </a:ext>
            </a:extLst>
          </p:cNvPr>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CE3ECCAC-7F92-769C-CAEB-B573046DF6A5}"/>
              </a:ext>
            </a:extLst>
          </p:cNvPr>
          <p:cNvSpPr txBox="1"/>
          <p:nvPr/>
        </p:nvSpPr>
        <p:spPr>
          <a:xfrm>
            <a:off x="8851900" y="2413000"/>
            <a:ext cx="2743200" cy="431800"/>
          </a:xfrm>
          <a:prstGeom prst="rect">
            <a:avLst/>
          </a:prstGeom>
          <a:noFill/>
        </p:spPr>
        <p:txBody>
          <a:bodyPr wrap="square" lIns="0" tIns="0" rIns="0" bIns="0" anchor="t">
            <a:noAutofit/>
          </a:bodyPr>
          <a:lstStyle/>
          <a:p>
            <a:pPr>
              <a:lnSpc>
                <a:spcPts val="1600"/>
              </a:lnSpc>
            </a:pPr>
            <a:r>
              <a:rPr lang="en-US" sz="1300" b="1" i="0" dirty="0">
                <a:solidFill>
                  <a:srgbClr val="5D7176"/>
                </a:solidFill>
                <a:latin typeface="Noto Sans"/>
              </a:rPr>
              <a:t>50 × 50 cm</a:t>
            </a:r>
            <a:r>
              <a:rPr lang="en-US" sz="1300" b="0" i="0" dirty="0">
                <a:solidFill>
                  <a:srgbClr val="23373B"/>
                </a:solidFill>
                <a:latin typeface="Noto Sans"/>
              </a:rPr>
              <a:t> </a:t>
            </a:r>
            <a:r>
              <a:rPr lang="en-US" sz="1300" dirty="0">
                <a:solidFill>
                  <a:srgbClr val="23373B"/>
                </a:solidFill>
                <a:latin typeface="Noto Sans"/>
              </a:rPr>
              <a:t>Micromegas</a:t>
            </a:r>
            <a:r>
              <a:rPr lang="en-US" sz="1300" b="0" i="0" dirty="0">
                <a:solidFill>
                  <a:srgbClr val="23373B"/>
                </a:solidFill>
                <a:latin typeface="Noto Sans"/>
              </a:rPr>
              <a:t> reference trackers, four of them</a:t>
            </a:r>
          </a:p>
        </p:txBody>
      </p:sp>
      <p:sp>
        <p:nvSpPr>
          <p:cNvPr id="14" name="Rectangle 13">
            <a:extLst>
              <a:ext uri="{FF2B5EF4-FFF2-40B4-BE49-F238E27FC236}">
                <a16:creationId xmlns:a16="http://schemas.microsoft.com/office/drawing/2014/main" id="{F58112AB-5B73-7A09-222A-827645442A5B}"/>
              </a:ext>
            </a:extLst>
          </p:cNvPr>
          <p:cNvSpPr/>
          <p:nvPr/>
        </p:nvSpPr>
        <p:spPr>
          <a:xfrm>
            <a:off x="7391400" y="3771900"/>
            <a:ext cx="13970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4EC027E6-6FE8-D09C-35B7-8F4AD7A622FA}"/>
              </a:ext>
            </a:extLst>
          </p:cNvPr>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TPC chambers — the ones being characterized</a:t>
            </a:r>
          </a:p>
        </p:txBody>
      </p:sp>
      <p:sp>
        <p:nvSpPr>
          <p:cNvPr id="16" name="TextBox 15">
            <a:extLst>
              <a:ext uri="{FF2B5EF4-FFF2-40B4-BE49-F238E27FC236}">
                <a16:creationId xmlns:a16="http://schemas.microsoft.com/office/drawing/2014/main" id="{673C7369-E897-F390-D05F-F677936AB0C2}"/>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C756CD89-E658-4D8B-23CC-AF575CE2660F}"/>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B25</a:t>
            </a:r>
            <a:endParaRPr sz="719" b="0" i="0" spc="58">
              <a:solidFill>
                <a:srgbClr val="5D7176"/>
              </a:solidFill>
              <a:latin typeface="Noto Sans"/>
            </a:endParaRPr>
          </a:p>
        </p:txBody>
      </p:sp>
      <p:sp>
        <p:nvSpPr>
          <p:cNvPr id="20" name="Rectangle 19">
            <a:extLst>
              <a:ext uri="{FF2B5EF4-FFF2-40B4-BE49-F238E27FC236}">
                <a16:creationId xmlns:a16="http://schemas.microsoft.com/office/drawing/2014/main" id="{D69E2DF0-14C2-723D-DB7F-47B8F5D28FF3}"/>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45BDD9C5-7BB3-C4FD-261B-F1AF0496AB67}"/>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6B71B8A-251A-03F3-29DE-34C2469CF81D}"/>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32316252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E6ED-873E-D6C9-55D2-F1BF49F61E1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5CBB40-66DE-DED4-F948-99E966BA1AD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379E6F1D-AF3B-A730-A7B6-3FC97F6548BE}"/>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82C06DCE-AB11-CADF-8B39-E74680A294ED}"/>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041B1F6F-C752-5F28-EC29-11ACE5907143}"/>
              </a:ext>
            </a:extLst>
          </p:cNvPr>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lang="en-US" sz="2783" b="1" spc="-28" dirty="0">
                <a:solidFill>
                  <a:srgbClr val="23373B"/>
                </a:solidFill>
                <a:latin typeface="Noto Sans Display"/>
              </a:rPr>
              <a:t>Characterization</a:t>
            </a:r>
            <a:r>
              <a:rPr sz="2783" b="1" i="0" spc="-28" dirty="0">
                <a:solidFill>
                  <a:srgbClr val="23373B"/>
                </a:solidFill>
                <a:latin typeface="Noto Sans Display"/>
              </a:rPr>
              <a:t> on the Saclay cosmic bench</a:t>
            </a:r>
          </a:p>
        </p:txBody>
      </p:sp>
      <p:pic>
        <p:nvPicPr>
          <p:cNvPr id="9" name="Picture 8" descr="Frame 5 of five: cosmic muons, drawn as straight red lines that cross the top paddle, the reference planes, both chambers under test and the bottom paddle.">
            <a:extLst>
              <a:ext uri="{FF2B5EF4-FFF2-40B4-BE49-F238E27FC236}">
                <a16:creationId xmlns:a16="http://schemas.microsoft.com/office/drawing/2014/main" id="{0BE3E067-D179-2556-31C1-8E7DEC35F490}"/>
              </a:ext>
            </a:extLst>
          </p:cNvPr>
          <p:cNvPicPr>
            <a:picLocks noChangeAspect="1"/>
          </p:cNvPicPr>
          <p:nvPr/>
        </p:nvPicPr>
        <p:blipFill>
          <a:blip r:embed="rId2"/>
          <a:stretch>
            <a:fillRect/>
          </a:stretch>
        </p:blipFill>
        <p:spPr>
          <a:xfrm>
            <a:off x="4508500" y="1270359"/>
            <a:ext cx="4131469" cy="5243787"/>
          </a:xfrm>
          <a:prstGeom prst="rect">
            <a:avLst/>
          </a:prstGeom>
        </p:spPr>
      </p:pic>
      <p:sp>
        <p:nvSpPr>
          <p:cNvPr id="10" name="Rectangle 9">
            <a:extLst>
              <a:ext uri="{FF2B5EF4-FFF2-40B4-BE49-F238E27FC236}">
                <a16:creationId xmlns:a16="http://schemas.microsoft.com/office/drawing/2014/main" id="{B37CCC32-8F1F-55D7-A71E-2A598A521D52}"/>
              </a:ext>
            </a:extLst>
          </p:cNvPr>
          <p:cNvSpPr/>
          <p:nvPr/>
        </p:nvSpPr>
        <p:spPr>
          <a:xfrm>
            <a:off x="7467600" y="1988865"/>
            <a:ext cx="13208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a:extLst>
              <a:ext uri="{FF2B5EF4-FFF2-40B4-BE49-F238E27FC236}">
                <a16:creationId xmlns:a16="http://schemas.microsoft.com/office/drawing/2014/main" id="{126CD9A0-CAF6-BEE8-85CF-24584CDB92E0}"/>
              </a:ext>
            </a:extLst>
          </p:cNvPr>
          <p:cNvSpPr txBox="1"/>
          <p:nvPr/>
        </p:nvSpPr>
        <p:spPr>
          <a:xfrm>
            <a:off x="8851900" y="1790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60 × 60 cm</a:t>
            </a:r>
            <a:r>
              <a:rPr lang="en-US" sz="1300" b="0" i="0" dirty="0">
                <a:solidFill>
                  <a:srgbClr val="23373B"/>
                </a:solidFill>
                <a:latin typeface="Noto Sans"/>
              </a:rPr>
              <a:t> trigger scintillators, top and bottom</a:t>
            </a:r>
          </a:p>
        </p:txBody>
      </p:sp>
      <p:sp>
        <p:nvSpPr>
          <p:cNvPr id="12" name="Rectangle 11">
            <a:extLst>
              <a:ext uri="{FF2B5EF4-FFF2-40B4-BE49-F238E27FC236}">
                <a16:creationId xmlns:a16="http://schemas.microsoft.com/office/drawing/2014/main" id="{8F1B3CE8-DA5B-00C2-B780-86950F57F760}"/>
              </a:ext>
            </a:extLst>
          </p:cNvPr>
          <p:cNvSpPr/>
          <p:nvPr/>
        </p:nvSpPr>
        <p:spPr>
          <a:xfrm>
            <a:off x="7556500" y="2618110"/>
            <a:ext cx="12319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E8C7B427-7641-D378-FEB2-D96E7CA4249D}"/>
              </a:ext>
            </a:extLst>
          </p:cNvPr>
          <p:cNvSpPr txBox="1"/>
          <p:nvPr/>
        </p:nvSpPr>
        <p:spPr>
          <a:xfrm>
            <a:off x="8851900" y="24130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50 × 50 cm</a:t>
            </a:r>
            <a:r>
              <a:rPr lang="en-US" sz="1300" b="0" i="0" dirty="0">
                <a:solidFill>
                  <a:srgbClr val="23373B"/>
                </a:solidFill>
                <a:latin typeface="Noto Sans"/>
              </a:rPr>
              <a:t> Micromegas reference trackers, four of them</a:t>
            </a:r>
          </a:p>
        </p:txBody>
      </p:sp>
      <p:sp>
        <p:nvSpPr>
          <p:cNvPr id="14" name="Rectangle 13">
            <a:extLst>
              <a:ext uri="{FF2B5EF4-FFF2-40B4-BE49-F238E27FC236}">
                <a16:creationId xmlns:a16="http://schemas.microsoft.com/office/drawing/2014/main" id="{DC83C556-AEFD-9119-A08A-FC8314A4C583}"/>
              </a:ext>
            </a:extLst>
          </p:cNvPr>
          <p:cNvSpPr/>
          <p:nvPr/>
        </p:nvSpPr>
        <p:spPr>
          <a:xfrm>
            <a:off x="7391400" y="3771900"/>
            <a:ext cx="1397000" cy="19050"/>
          </a:xfrm>
          <a:prstGeom prst="rect">
            <a:avLst/>
          </a:prstGeom>
          <a:solidFill>
            <a:srgbClr val="5D7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CCF5E5E9-4E86-76AD-4CC6-EBC146413F5E}"/>
              </a:ext>
            </a:extLst>
          </p:cNvPr>
          <p:cNvSpPr txBox="1"/>
          <p:nvPr/>
        </p:nvSpPr>
        <p:spPr>
          <a:xfrm>
            <a:off x="8851900" y="3568700"/>
            <a:ext cx="2743200" cy="4318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5D7176"/>
                </a:solidFill>
                <a:latin typeface="Noto Sans"/>
              </a:rPr>
              <a:t>40 × 40 cm</a:t>
            </a:r>
            <a:r>
              <a:rPr lang="en-US" sz="1300" b="0" i="0" dirty="0">
                <a:solidFill>
                  <a:srgbClr val="23373B"/>
                </a:solidFill>
                <a:latin typeface="Noto Sans"/>
              </a:rPr>
              <a:t> TPC chambers — the ones being characterized</a:t>
            </a:r>
          </a:p>
        </p:txBody>
      </p:sp>
      <p:sp>
        <p:nvSpPr>
          <p:cNvPr id="16" name="Rectangle 15">
            <a:extLst>
              <a:ext uri="{FF2B5EF4-FFF2-40B4-BE49-F238E27FC236}">
                <a16:creationId xmlns:a16="http://schemas.microsoft.com/office/drawing/2014/main" id="{FD724CB7-C630-274D-83F1-C98C97692A6C}"/>
              </a:ext>
            </a:extLst>
          </p:cNvPr>
          <p:cNvSpPr/>
          <p:nvPr/>
        </p:nvSpPr>
        <p:spPr>
          <a:xfrm>
            <a:off x="7556500" y="4401145"/>
            <a:ext cx="1231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a:extLst>
              <a:ext uri="{FF2B5EF4-FFF2-40B4-BE49-F238E27FC236}">
                <a16:creationId xmlns:a16="http://schemas.microsoft.com/office/drawing/2014/main" id="{999BBA51-AE08-AB82-EBE9-8A03ADAC74E2}"/>
              </a:ext>
            </a:extLst>
          </p:cNvPr>
          <p:cNvSpPr txBox="1"/>
          <p:nvPr/>
        </p:nvSpPr>
        <p:spPr>
          <a:xfrm>
            <a:off x="8851900" y="4102100"/>
            <a:ext cx="2743200" cy="635000"/>
          </a:xfrm>
          <a:prstGeom prst="rect">
            <a:avLst/>
          </a:prstGeom>
          <a:noFill/>
        </p:spPr>
        <p:txBody>
          <a:bodyPr wrap="square" lIns="0" tIns="0" rIns="0" bIns="0" anchor="t">
            <a:noAutofit/>
          </a:bodyPr>
          <a:lstStyle/>
          <a:p>
            <a:pPr algn="l">
              <a:lnSpc>
                <a:spcPts val="1600"/>
              </a:lnSpc>
              <a:spcBef>
                <a:spcPts val="0"/>
              </a:spcBef>
              <a:spcAft>
                <a:spcPts val="0"/>
              </a:spcAft>
            </a:pPr>
            <a:r>
              <a:rPr lang="en-US" sz="1300" b="1" i="0" dirty="0">
                <a:solidFill>
                  <a:srgbClr val="EB811B"/>
                </a:solidFill>
                <a:latin typeface="Noto Sans"/>
              </a:rPr>
              <a:t>Cosmic muons</a:t>
            </a:r>
            <a:r>
              <a:rPr lang="en-US" sz="1300" b="0" i="0" dirty="0">
                <a:solidFill>
                  <a:srgbClr val="23373B"/>
                </a:solidFill>
                <a:latin typeface="Noto Sans"/>
              </a:rPr>
              <a:t> — two slots measured at once, against the same reference</a:t>
            </a:r>
          </a:p>
        </p:txBody>
      </p:sp>
      <p:sp>
        <p:nvSpPr>
          <p:cNvPr id="18" name="TextBox 17">
            <a:extLst>
              <a:ext uri="{FF2B5EF4-FFF2-40B4-BE49-F238E27FC236}">
                <a16:creationId xmlns:a16="http://schemas.microsoft.com/office/drawing/2014/main" id="{B7E8518D-B479-47DC-9EA8-5F90704E4F2D}"/>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9" name="TextBox 18">
            <a:extLst>
              <a:ext uri="{FF2B5EF4-FFF2-40B4-BE49-F238E27FC236}">
                <a16:creationId xmlns:a16="http://schemas.microsoft.com/office/drawing/2014/main" id="{5F4CF967-2A67-DCED-7568-39C65939A87D}"/>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B26</a:t>
            </a:r>
            <a:endParaRPr sz="719" b="0" i="0" spc="58">
              <a:solidFill>
                <a:srgbClr val="5D7176"/>
              </a:solidFill>
              <a:latin typeface="Noto Sans"/>
            </a:endParaRPr>
          </a:p>
        </p:txBody>
      </p:sp>
      <p:sp>
        <p:nvSpPr>
          <p:cNvPr id="22" name="Rectangle 21">
            <a:extLst>
              <a:ext uri="{FF2B5EF4-FFF2-40B4-BE49-F238E27FC236}">
                <a16:creationId xmlns:a16="http://schemas.microsoft.com/office/drawing/2014/main" id="{A1401D8F-E89B-C93F-BD93-5C6F495D7FE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13238E17-5B93-3504-ECBE-70C6F29343CC}"/>
              </a:ext>
            </a:extLst>
          </p:cNvPr>
          <p:cNvSpPr/>
          <p:nvPr/>
        </p:nvSpPr>
        <p:spPr>
          <a:xfrm>
            <a:off x="647030" y="3032719"/>
            <a:ext cx="3672632"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8045DD53-A3BD-6B2C-A71F-8755912BEB64}"/>
              </a:ext>
            </a:extLst>
          </p:cNvPr>
          <p:cNvSpPr txBox="1"/>
          <p:nvPr/>
        </p:nvSpPr>
        <p:spPr>
          <a:xfrm>
            <a:off x="548640" y="3124200"/>
            <a:ext cx="3691682" cy="1778000"/>
          </a:xfrm>
          <a:prstGeom prst="rect">
            <a:avLst/>
          </a:prstGeom>
          <a:noFill/>
        </p:spPr>
        <p:txBody>
          <a:bodyPr wrap="square" lIns="0" tIns="0" rIns="0" bIns="0" anchor="t">
            <a:noAutofit/>
          </a:bodyPr>
          <a:lstStyle/>
          <a:p>
            <a:pPr algn="ctr">
              <a:lnSpc>
                <a:spcPts val="2100"/>
              </a:lnSpc>
              <a:spcBef>
                <a:spcPts val="0"/>
              </a:spcBef>
              <a:spcAft>
                <a:spcPts val="700"/>
              </a:spcAft>
            </a:pPr>
            <a:r>
              <a:rPr lang="en-US" sz="1700" b="0" i="0" dirty="0">
                <a:solidFill>
                  <a:srgbClr val="3C5257"/>
                </a:solidFill>
                <a:latin typeface="Noto Sans"/>
              </a:rPr>
              <a:t>A cosmic muon fires the scintillators at the top and bottom of the stack.</a:t>
            </a:r>
          </a:p>
          <a:p>
            <a:pPr algn="ctr">
              <a:lnSpc>
                <a:spcPts val="2100"/>
              </a:lnSpc>
              <a:spcBef>
                <a:spcPts val="0"/>
              </a:spcBef>
              <a:spcAft>
                <a:spcPts val="0"/>
              </a:spcAft>
            </a:pPr>
            <a:r>
              <a:rPr lang="en-US" sz="1700" b="0" i="0" dirty="0">
                <a:solidFill>
                  <a:srgbClr val="3C5257"/>
                </a:solidFill>
                <a:latin typeface="Noto Sans"/>
              </a:rPr>
              <a:t>Four reference Micromegas reconstruct its track; the two MX17 detectors under test sit in between.</a:t>
            </a:r>
          </a:p>
        </p:txBody>
      </p:sp>
    </p:spTree>
    <p:extLst>
      <p:ext uri="{BB962C8B-B14F-4D97-AF65-F5344CB8AC3E}">
        <p14:creationId xmlns:p14="http://schemas.microsoft.com/office/powerpoint/2010/main" val="29215952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9429F-AB09-A876-0BFF-99772B91DFAD}"/>
            </a:ext>
          </a:extLst>
        </p:cNvPr>
        <p:cNvGrpSpPr/>
        <p:nvPr/>
      </p:nvGrpSpPr>
      <p:grpSpPr>
        <a:xfrm>
          <a:off x="0" y="0"/>
          <a:ext cx="0" cy="0"/>
          <a:chOff x="0" y="0"/>
          <a:chExt cx="0" cy="0"/>
        </a:xfrm>
      </p:grpSpPr>
      <p:pic>
        <p:nvPicPr>
          <p:cNvPr id="40" name="Picture 39" descr="Log-scale distribution of the distance between the reconstructed point and the reference track, with a 0.45 mm core, the 5 mm match radius marked, and a tail running out past 20 mm">
            <a:extLst>
              <a:ext uri="{FF2B5EF4-FFF2-40B4-BE49-F238E27FC236}">
                <a16:creationId xmlns:a16="http://schemas.microsoft.com/office/drawing/2014/main" id="{FD90B843-E25A-A2B8-4077-7F6E90850951}"/>
              </a:ext>
            </a:extLst>
          </p:cNvPr>
          <p:cNvPicPr>
            <a:picLocks noChangeAspect="1"/>
          </p:cNvPicPr>
          <p:nvPr/>
        </p:nvPicPr>
        <p:blipFill>
          <a:blip r:embed="rId2"/>
          <a:stretch>
            <a:fillRect/>
          </a:stretch>
        </p:blipFill>
        <p:spPr>
          <a:xfrm>
            <a:off x="1681797" y="3505199"/>
            <a:ext cx="5036503" cy="3160159"/>
          </a:xfrm>
          <a:prstGeom prst="rect">
            <a:avLst/>
          </a:prstGeom>
        </p:spPr>
      </p:pic>
      <p:pic>
        <p:nvPicPr>
          <p:cNvPr id="41" name="Picture 40">
            <a:extLst>
              <a:ext uri="{FF2B5EF4-FFF2-40B4-BE49-F238E27FC236}">
                <a16:creationId xmlns:a16="http://schemas.microsoft.com/office/drawing/2014/main" id="{C13D62F3-C146-643A-5D11-0E2BAAD55840}"/>
              </a:ext>
            </a:extLst>
          </p:cNvPr>
          <p:cNvPicPr>
            <a:picLocks noChangeAspect="1"/>
          </p:cNvPicPr>
          <p:nvPr/>
        </p:nvPicPr>
        <p:blipFill>
          <a:blip r:embed="rId3"/>
          <a:srcRect l="10402" r="1373" b="13161"/>
          <a:stretch>
            <a:fillRect/>
          </a:stretch>
        </p:blipFill>
        <p:spPr>
          <a:xfrm>
            <a:off x="6605587" y="1584811"/>
            <a:ext cx="5414031" cy="4864648"/>
          </a:xfrm>
          <a:prstGeom prst="rect">
            <a:avLst/>
          </a:prstGeom>
        </p:spPr>
      </p:pic>
      <p:sp>
        <p:nvSpPr>
          <p:cNvPr id="3" name="Rectangle 2">
            <a:extLst>
              <a:ext uri="{FF2B5EF4-FFF2-40B4-BE49-F238E27FC236}">
                <a16:creationId xmlns:a16="http://schemas.microsoft.com/office/drawing/2014/main" id="{2E531AEB-6949-2473-F518-DD4CB2840A0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35E7735-E8D5-3CD1-B78F-85C8537FF00B}"/>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3E627F9A-0C97-E666-52A4-3EB86A9599CB}"/>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BFFBB409-0E7B-D567-E2B0-70149810A57E}"/>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1F657AB6-BB66-8E43-1F38-0C07ED2B803A}"/>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153EDC39-66F2-8D1B-924C-7CDC22AE407A}"/>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Efficiency: 93% on the best chamber</a:t>
            </a:r>
          </a:p>
        </p:txBody>
      </p:sp>
      <p:sp>
        <p:nvSpPr>
          <p:cNvPr id="13" name="TextBox 12">
            <a:extLst>
              <a:ext uri="{FF2B5EF4-FFF2-40B4-BE49-F238E27FC236}">
                <a16:creationId xmlns:a16="http://schemas.microsoft.com/office/drawing/2014/main" id="{056A7237-7336-56CF-7A71-D2DEB8BC2C1B}"/>
              </a:ext>
            </a:extLst>
          </p:cNvPr>
          <p:cNvSpPr txBox="1"/>
          <p:nvPr/>
        </p:nvSpPr>
        <p:spPr>
          <a:xfrm>
            <a:off x="546100" y="1275904"/>
            <a:ext cx="5969000" cy="279400"/>
          </a:xfrm>
          <a:prstGeom prst="rect">
            <a:avLst/>
          </a:prstGeom>
          <a:noFill/>
        </p:spPr>
        <p:txBody>
          <a:bodyPr wrap="square" lIns="0" tIns="0" rIns="0" bIns="0" anchor="t">
            <a:noAutofit/>
          </a:bodyPr>
          <a:lstStyle/>
          <a:p>
            <a:pPr algn="l">
              <a:spcBef>
                <a:spcPts val="0"/>
              </a:spcBef>
              <a:spcAft>
                <a:spcPts val="0"/>
              </a:spcAft>
            </a:pPr>
            <a:r>
              <a:rPr sz="979" b="0" i="0" spc="10" dirty="0">
                <a:solidFill>
                  <a:srgbClr val="3C5257"/>
                </a:solidFill>
                <a:latin typeface="Noto Sans SemiBold"/>
              </a:rPr>
              <a:t>Where every crossing muon goes</a:t>
            </a:r>
            <a:endParaRPr sz="979" b="0" i="0" spc="10" dirty="0">
              <a:solidFill>
                <a:srgbClr val="5D7176"/>
              </a:solidFill>
              <a:latin typeface="Noto Sans"/>
            </a:endParaRPr>
          </a:p>
        </p:txBody>
      </p:sp>
      <p:sp>
        <p:nvSpPr>
          <p:cNvPr id="14" name="TextBox 13">
            <a:extLst>
              <a:ext uri="{FF2B5EF4-FFF2-40B4-BE49-F238E27FC236}">
                <a16:creationId xmlns:a16="http://schemas.microsoft.com/office/drawing/2014/main" id="{64C58CB9-31BC-56DE-D315-DC73FE55E385}"/>
              </a:ext>
            </a:extLst>
          </p:cNvPr>
          <p:cNvSpPr txBox="1"/>
          <p:nvPr/>
        </p:nvSpPr>
        <p:spPr>
          <a:xfrm>
            <a:off x="761405" y="1460500"/>
            <a:ext cx="1848296"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Reconstructed within 5 mm</a:t>
            </a:r>
          </a:p>
        </p:txBody>
      </p:sp>
      <p:sp>
        <p:nvSpPr>
          <p:cNvPr id="15" name="TextBox 14">
            <a:extLst>
              <a:ext uri="{FF2B5EF4-FFF2-40B4-BE49-F238E27FC236}">
                <a16:creationId xmlns:a16="http://schemas.microsoft.com/office/drawing/2014/main" id="{2E2EFC61-5F9F-3B62-FC7E-D25E26A08CFB}"/>
              </a:ext>
            </a:extLst>
          </p:cNvPr>
          <p:cNvSpPr txBox="1"/>
          <p:nvPr/>
        </p:nvSpPr>
        <p:spPr>
          <a:xfrm>
            <a:off x="548580" y="16383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efficiency</a:t>
            </a:r>
          </a:p>
        </p:txBody>
      </p:sp>
      <p:sp>
        <p:nvSpPr>
          <p:cNvPr id="16" name="Rectangle 15">
            <a:extLst>
              <a:ext uri="{FF2B5EF4-FFF2-40B4-BE49-F238E27FC236}">
                <a16:creationId xmlns:a16="http://schemas.microsoft.com/office/drawing/2014/main" id="{488FA25F-7582-BBA5-75C9-66F2845C99AF}"/>
              </a:ext>
            </a:extLst>
          </p:cNvPr>
          <p:cNvSpPr/>
          <p:nvPr/>
        </p:nvSpPr>
        <p:spPr>
          <a:xfrm>
            <a:off x="2768600" y="15240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a:extLst>
              <a:ext uri="{FF2B5EF4-FFF2-40B4-BE49-F238E27FC236}">
                <a16:creationId xmlns:a16="http://schemas.microsoft.com/office/drawing/2014/main" id="{B327453D-5F26-A989-7DFC-30151CF07A97}"/>
              </a:ext>
            </a:extLst>
          </p:cNvPr>
          <p:cNvSpPr/>
          <p:nvPr/>
        </p:nvSpPr>
        <p:spPr>
          <a:xfrm>
            <a:off x="2768600" y="1524000"/>
            <a:ext cx="2608580" cy="2413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a:extLst>
              <a:ext uri="{FF2B5EF4-FFF2-40B4-BE49-F238E27FC236}">
                <a16:creationId xmlns:a16="http://schemas.microsoft.com/office/drawing/2014/main" id="{151381E9-55C4-29F1-4A03-130907FEF8B8}"/>
              </a:ext>
            </a:extLst>
          </p:cNvPr>
          <p:cNvSpPr txBox="1"/>
          <p:nvPr/>
        </p:nvSpPr>
        <p:spPr>
          <a:xfrm>
            <a:off x="5638800" y="15240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93.1%</a:t>
            </a:r>
            <a:r>
              <a:rPr sz="1098" b="0" i="0">
                <a:solidFill>
                  <a:srgbClr val="5D7176"/>
                </a:solidFill>
                <a:latin typeface="Noto Sans"/>
              </a:rPr>
              <a:t> 20,428</a:t>
            </a:r>
          </a:p>
        </p:txBody>
      </p:sp>
      <p:sp>
        <p:nvSpPr>
          <p:cNvPr id="19" name="TextBox 18">
            <a:extLst>
              <a:ext uri="{FF2B5EF4-FFF2-40B4-BE49-F238E27FC236}">
                <a16:creationId xmlns:a16="http://schemas.microsoft.com/office/drawing/2014/main" id="{519B04A4-521F-30FF-53B8-0427BB853215}"/>
              </a:ext>
            </a:extLst>
          </p:cNvPr>
          <p:cNvSpPr txBox="1"/>
          <p:nvPr/>
        </p:nvSpPr>
        <p:spPr>
          <a:xfrm>
            <a:off x="861417" y="1854200"/>
            <a:ext cx="1748284"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Detected, point &gt;5 mm off</a:t>
            </a:r>
          </a:p>
        </p:txBody>
      </p:sp>
      <p:sp>
        <p:nvSpPr>
          <p:cNvPr id="20" name="TextBox 19">
            <a:extLst>
              <a:ext uri="{FF2B5EF4-FFF2-40B4-BE49-F238E27FC236}">
                <a16:creationId xmlns:a16="http://schemas.microsoft.com/office/drawing/2014/main" id="{FB0B0189-EE14-2A70-815A-C1B1C93A60AE}"/>
              </a:ext>
            </a:extLst>
          </p:cNvPr>
          <p:cNvSpPr txBox="1"/>
          <p:nvPr/>
        </p:nvSpPr>
        <p:spPr>
          <a:xfrm>
            <a:off x="548580" y="2032000"/>
            <a:ext cx="2061121" cy="216991"/>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the near-miss tail</a:t>
            </a:r>
            <a:r>
              <a:rPr sz="786" b="0" i="0" baseline="30000">
                <a:solidFill>
                  <a:srgbClr val="5D7176"/>
                </a:solidFill>
                <a:latin typeface="Noto Sans"/>
              </a:rPr>
              <a:t>†</a:t>
            </a:r>
          </a:p>
        </p:txBody>
      </p:sp>
      <p:sp>
        <p:nvSpPr>
          <p:cNvPr id="21" name="Rectangle 20">
            <a:extLst>
              <a:ext uri="{FF2B5EF4-FFF2-40B4-BE49-F238E27FC236}">
                <a16:creationId xmlns:a16="http://schemas.microsoft.com/office/drawing/2014/main" id="{DC2509AF-5885-4E0E-C6D9-AE3BB91FF47E}"/>
              </a:ext>
            </a:extLst>
          </p:cNvPr>
          <p:cNvSpPr/>
          <p:nvPr/>
        </p:nvSpPr>
        <p:spPr>
          <a:xfrm>
            <a:off x="2768600" y="19177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a:extLst>
              <a:ext uri="{FF2B5EF4-FFF2-40B4-BE49-F238E27FC236}">
                <a16:creationId xmlns:a16="http://schemas.microsoft.com/office/drawing/2014/main" id="{EAC7059B-A887-4669-0329-238486125DBE}"/>
              </a:ext>
            </a:extLst>
          </p:cNvPr>
          <p:cNvSpPr/>
          <p:nvPr/>
        </p:nvSpPr>
        <p:spPr>
          <a:xfrm>
            <a:off x="2768600" y="1917700"/>
            <a:ext cx="114300" cy="241300"/>
          </a:xfrm>
          <a:prstGeom prst="rect">
            <a:avLst/>
          </a:prstGeom>
          <a:solidFill>
            <a:srgbClr val="D18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A5266975-40BF-9DBB-46CC-D625939D45FC}"/>
              </a:ext>
            </a:extLst>
          </p:cNvPr>
          <p:cNvSpPr txBox="1"/>
          <p:nvPr/>
        </p:nvSpPr>
        <p:spPr>
          <a:xfrm>
            <a:off x="5638800" y="19177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4.2%</a:t>
            </a:r>
            <a:r>
              <a:rPr sz="1098" b="0" i="0">
                <a:solidFill>
                  <a:srgbClr val="5D7176"/>
                </a:solidFill>
                <a:latin typeface="Noto Sans"/>
              </a:rPr>
              <a:t> 913</a:t>
            </a:r>
          </a:p>
        </p:txBody>
      </p:sp>
      <p:sp>
        <p:nvSpPr>
          <p:cNvPr id="24" name="TextBox 23">
            <a:extLst>
              <a:ext uri="{FF2B5EF4-FFF2-40B4-BE49-F238E27FC236}">
                <a16:creationId xmlns:a16="http://schemas.microsoft.com/office/drawing/2014/main" id="{CCF4FF70-A149-7BBB-90F3-1A06BFE448B7}"/>
              </a:ext>
            </a:extLst>
          </p:cNvPr>
          <p:cNvSpPr txBox="1"/>
          <p:nvPr/>
        </p:nvSpPr>
        <p:spPr>
          <a:xfrm>
            <a:off x="692200" y="2247900"/>
            <a:ext cx="191750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Discharged during the muon</a:t>
            </a:r>
          </a:p>
        </p:txBody>
      </p:sp>
      <p:sp>
        <p:nvSpPr>
          <p:cNvPr id="25" name="TextBox 24">
            <a:extLst>
              <a:ext uri="{FF2B5EF4-FFF2-40B4-BE49-F238E27FC236}">
                <a16:creationId xmlns:a16="http://schemas.microsoft.com/office/drawing/2014/main" id="{76111522-EA6D-32F9-17EA-D21DC8501E42}"/>
              </a:ext>
            </a:extLst>
          </p:cNvPr>
          <p:cNvSpPr txBox="1"/>
          <p:nvPr/>
        </p:nvSpPr>
        <p:spPr>
          <a:xfrm>
            <a:off x="172382" y="2425700"/>
            <a:ext cx="2437320" cy="139966"/>
          </a:xfrm>
          <a:prstGeom prst="rect">
            <a:avLst/>
          </a:prstGeom>
          <a:noFill/>
        </p:spPr>
        <p:txBody>
          <a:bodyPr wrap="square" lIns="0" tIns="0" rIns="0" bIns="0" anchor="t">
            <a:noAutofit/>
          </a:bodyPr>
          <a:lstStyle/>
          <a:p>
            <a:pPr algn="r">
              <a:lnSpc>
                <a:spcPts val="1169"/>
              </a:lnSpc>
              <a:spcBef>
                <a:spcPts val="0"/>
              </a:spcBef>
              <a:spcAft>
                <a:spcPts val="0"/>
              </a:spcAft>
            </a:pPr>
            <a:r>
              <a:rPr lang="en-US" sz="943" b="0" i="0" dirty="0">
                <a:solidFill>
                  <a:srgbClr val="5D7176"/>
                </a:solidFill>
                <a:latin typeface="Noto Sans"/>
              </a:rPr>
              <a:t>many strips fire uncorrelated with muon</a:t>
            </a:r>
            <a:endParaRPr sz="943" b="0" i="0" dirty="0">
              <a:solidFill>
                <a:srgbClr val="5D7176"/>
              </a:solidFill>
              <a:latin typeface="Noto Sans"/>
            </a:endParaRPr>
          </a:p>
        </p:txBody>
      </p:sp>
      <p:sp>
        <p:nvSpPr>
          <p:cNvPr id="26" name="Rectangle 25">
            <a:extLst>
              <a:ext uri="{FF2B5EF4-FFF2-40B4-BE49-F238E27FC236}">
                <a16:creationId xmlns:a16="http://schemas.microsoft.com/office/drawing/2014/main" id="{CD0F3451-3FC3-A0B8-3B5F-CEBA4134CE8F}"/>
              </a:ext>
            </a:extLst>
          </p:cNvPr>
          <p:cNvSpPr/>
          <p:nvPr/>
        </p:nvSpPr>
        <p:spPr>
          <a:xfrm>
            <a:off x="2768600" y="23114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a:extLst>
              <a:ext uri="{FF2B5EF4-FFF2-40B4-BE49-F238E27FC236}">
                <a16:creationId xmlns:a16="http://schemas.microsoft.com/office/drawing/2014/main" id="{22817059-FF66-8189-0EA6-A43E4C4B4B34}"/>
              </a:ext>
            </a:extLst>
          </p:cNvPr>
          <p:cNvSpPr/>
          <p:nvPr/>
        </p:nvSpPr>
        <p:spPr>
          <a:xfrm>
            <a:off x="2768600" y="2311400"/>
            <a:ext cx="71120" cy="2413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a:extLst>
              <a:ext uri="{FF2B5EF4-FFF2-40B4-BE49-F238E27FC236}">
                <a16:creationId xmlns:a16="http://schemas.microsoft.com/office/drawing/2014/main" id="{51B03A9D-C91A-5EB4-5AC1-26B420FDB1B9}"/>
              </a:ext>
            </a:extLst>
          </p:cNvPr>
          <p:cNvSpPr txBox="1"/>
          <p:nvPr/>
        </p:nvSpPr>
        <p:spPr>
          <a:xfrm>
            <a:off x="5638800" y="23114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2.6%</a:t>
            </a:r>
            <a:r>
              <a:rPr sz="1098" b="0" i="0">
                <a:solidFill>
                  <a:srgbClr val="5D7176"/>
                </a:solidFill>
                <a:latin typeface="Noto Sans"/>
              </a:rPr>
              <a:t> 563</a:t>
            </a:r>
          </a:p>
        </p:txBody>
      </p:sp>
      <p:sp>
        <p:nvSpPr>
          <p:cNvPr id="29" name="TextBox 28">
            <a:extLst>
              <a:ext uri="{FF2B5EF4-FFF2-40B4-BE49-F238E27FC236}">
                <a16:creationId xmlns:a16="http://schemas.microsoft.com/office/drawing/2014/main" id="{D8DB273E-0AF5-19FA-BF3F-A5F2F3D09890}"/>
              </a:ext>
            </a:extLst>
          </p:cNvPr>
          <p:cNvSpPr txBox="1"/>
          <p:nvPr/>
        </p:nvSpPr>
        <p:spPr>
          <a:xfrm>
            <a:off x="548580" y="2717800"/>
            <a:ext cx="2061121" cy="203150"/>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Fired, no valid X+Y point</a:t>
            </a:r>
          </a:p>
        </p:txBody>
      </p:sp>
      <p:sp>
        <p:nvSpPr>
          <p:cNvPr id="30" name="Rectangle 29">
            <a:extLst>
              <a:ext uri="{FF2B5EF4-FFF2-40B4-BE49-F238E27FC236}">
                <a16:creationId xmlns:a16="http://schemas.microsoft.com/office/drawing/2014/main" id="{D9F2596D-FE53-942E-8B1F-1A70B1511B72}"/>
              </a:ext>
            </a:extLst>
          </p:cNvPr>
          <p:cNvSpPr/>
          <p:nvPr/>
        </p:nvSpPr>
        <p:spPr>
          <a:xfrm>
            <a:off x="2768600" y="27051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a:extLst>
              <a:ext uri="{FF2B5EF4-FFF2-40B4-BE49-F238E27FC236}">
                <a16:creationId xmlns:a16="http://schemas.microsoft.com/office/drawing/2014/main" id="{0F165E88-15A1-A244-E508-DD9B51FE78DB}"/>
              </a:ext>
            </a:extLst>
          </p:cNvPr>
          <p:cNvSpPr/>
          <p:nvPr/>
        </p:nvSpPr>
        <p:spPr>
          <a:xfrm>
            <a:off x="2768600" y="2705100"/>
            <a:ext cx="4911" cy="241300"/>
          </a:xfrm>
          <a:prstGeom prst="rect">
            <a:avLst/>
          </a:prstGeom>
          <a:solidFill>
            <a:srgbClr val="6A75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E9F80C11-8EE5-3839-E4FC-FF025BD0C68A}"/>
              </a:ext>
            </a:extLst>
          </p:cNvPr>
          <p:cNvSpPr txBox="1"/>
          <p:nvPr/>
        </p:nvSpPr>
        <p:spPr>
          <a:xfrm>
            <a:off x="5638800" y="27051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0.2%</a:t>
            </a:r>
            <a:r>
              <a:rPr sz="1098" b="0" i="0">
                <a:solidFill>
                  <a:srgbClr val="5D7176"/>
                </a:solidFill>
                <a:latin typeface="Noto Sans"/>
              </a:rPr>
              <a:t> 46</a:t>
            </a:r>
          </a:p>
        </p:txBody>
      </p:sp>
      <p:sp>
        <p:nvSpPr>
          <p:cNvPr id="33" name="TextBox 32">
            <a:extLst>
              <a:ext uri="{FF2B5EF4-FFF2-40B4-BE49-F238E27FC236}">
                <a16:creationId xmlns:a16="http://schemas.microsoft.com/office/drawing/2014/main" id="{38A07697-6034-276E-AA7E-FDA91BE7C0D3}"/>
              </a:ext>
            </a:extLst>
          </p:cNvPr>
          <p:cNvSpPr txBox="1"/>
          <p:nvPr/>
        </p:nvSpPr>
        <p:spPr>
          <a:xfrm>
            <a:off x="1045369" y="3035300"/>
            <a:ext cx="1564332" cy="219075"/>
          </a:xfrm>
          <a:prstGeom prst="rect">
            <a:avLst/>
          </a:prstGeom>
          <a:noFill/>
        </p:spPr>
        <p:txBody>
          <a:bodyPr wrap="square" lIns="0" tIns="0" rIns="0" bIns="0" anchor="t">
            <a:noAutofit/>
          </a:bodyPr>
          <a:lstStyle/>
          <a:p>
            <a:pPr algn="r">
              <a:lnSpc>
                <a:spcPts val="1299"/>
              </a:lnSpc>
              <a:spcBef>
                <a:spcPts val="0"/>
              </a:spcBef>
              <a:spcAft>
                <a:spcPts val="0"/>
              </a:spcAft>
            </a:pPr>
            <a:r>
              <a:rPr sz="1048" b="0" i="0">
                <a:solidFill>
                  <a:srgbClr val="23373B"/>
                </a:solidFill>
                <a:latin typeface="Noto Sans SemiBold"/>
              </a:rPr>
              <a:t>Silent — no signal at all</a:t>
            </a:r>
          </a:p>
        </p:txBody>
      </p:sp>
      <p:sp>
        <p:nvSpPr>
          <p:cNvPr id="34" name="TextBox 33">
            <a:extLst>
              <a:ext uri="{FF2B5EF4-FFF2-40B4-BE49-F238E27FC236}">
                <a16:creationId xmlns:a16="http://schemas.microsoft.com/office/drawing/2014/main" id="{4ABA4D25-EA61-7FAB-011F-D1D581DB390A}"/>
              </a:ext>
            </a:extLst>
          </p:cNvPr>
          <p:cNvSpPr txBox="1"/>
          <p:nvPr/>
        </p:nvSpPr>
        <p:spPr>
          <a:xfrm>
            <a:off x="548580" y="3213100"/>
            <a:ext cx="2061121" cy="186630"/>
          </a:xfrm>
          <a:prstGeom prst="rect">
            <a:avLst/>
          </a:prstGeom>
          <a:noFill/>
        </p:spPr>
        <p:txBody>
          <a:bodyPr wrap="square" lIns="0" tIns="0" rIns="0" bIns="0" anchor="t">
            <a:noAutofit/>
          </a:bodyPr>
          <a:lstStyle/>
          <a:p>
            <a:pPr algn="r">
              <a:lnSpc>
                <a:spcPts val="1169"/>
              </a:lnSpc>
              <a:spcBef>
                <a:spcPts val="0"/>
              </a:spcBef>
              <a:spcAft>
                <a:spcPts val="0"/>
              </a:spcAft>
            </a:pPr>
            <a:r>
              <a:rPr sz="943" b="0" i="0">
                <a:solidFill>
                  <a:srgbClr val="5D7176"/>
                </a:solidFill>
                <a:latin typeface="Noto Sans"/>
              </a:rPr>
              <a:t>genuine blindness</a:t>
            </a:r>
          </a:p>
        </p:txBody>
      </p:sp>
      <p:sp>
        <p:nvSpPr>
          <p:cNvPr id="35" name="Rectangle 34">
            <a:extLst>
              <a:ext uri="{FF2B5EF4-FFF2-40B4-BE49-F238E27FC236}">
                <a16:creationId xmlns:a16="http://schemas.microsoft.com/office/drawing/2014/main" id="{F4FAE94A-852D-DDB9-B13C-0AD02824ABDC}"/>
              </a:ext>
            </a:extLst>
          </p:cNvPr>
          <p:cNvSpPr/>
          <p:nvPr/>
        </p:nvSpPr>
        <p:spPr>
          <a:xfrm>
            <a:off x="2768600" y="3098800"/>
            <a:ext cx="2794000" cy="241300"/>
          </a:xfrm>
          <a:prstGeom prst="rect">
            <a:avLst/>
          </a:prstGeom>
          <a:solidFill>
            <a:srgbClr val="E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a:extLst>
              <a:ext uri="{FF2B5EF4-FFF2-40B4-BE49-F238E27FC236}">
                <a16:creationId xmlns:a16="http://schemas.microsoft.com/office/drawing/2014/main" id="{E98C2AD7-88DA-7DC0-8F60-02B35C1A65B5}"/>
              </a:ext>
            </a:extLst>
          </p:cNvPr>
          <p:cNvSpPr/>
          <p:nvPr/>
        </p:nvSpPr>
        <p:spPr>
          <a:xfrm>
            <a:off x="2768600" y="3098800"/>
            <a:ext cx="149" cy="241300"/>
          </a:xfrm>
          <a:prstGeom prst="rect">
            <a:avLst/>
          </a:prstGeom>
          <a:solidFill>
            <a:srgbClr val="B04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EE8C4E42-2867-BAD6-79C0-1023A87FFC75}"/>
              </a:ext>
            </a:extLst>
          </p:cNvPr>
          <p:cNvSpPr txBox="1"/>
          <p:nvPr/>
        </p:nvSpPr>
        <p:spPr>
          <a:xfrm>
            <a:off x="5638800" y="3098800"/>
            <a:ext cx="914400" cy="228600"/>
          </a:xfrm>
          <a:prstGeom prst="rect">
            <a:avLst/>
          </a:prstGeom>
          <a:noFill/>
        </p:spPr>
        <p:txBody>
          <a:bodyPr wrap="square" lIns="0" tIns="0" rIns="0" bIns="0" anchor="t">
            <a:noAutofit/>
          </a:bodyPr>
          <a:lstStyle/>
          <a:p>
            <a:pPr algn="l">
              <a:spcBef>
                <a:spcPts val="0"/>
              </a:spcBef>
              <a:spcAft>
                <a:spcPts val="0"/>
              </a:spcAft>
            </a:pPr>
            <a:r>
              <a:rPr sz="1098" b="1" i="0">
                <a:solidFill>
                  <a:srgbClr val="23373B"/>
                </a:solidFill>
                <a:latin typeface="Noto Sans"/>
              </a:rPr>
              <a:t>0.01%</a:t>
            </a:r>
            <a:r>
              <a:rPr sz="1098" b="0" i="0">
                <a:solidFill>
                  <a:srgbClr val="5D7176"/>
                </a:solidFill>
                <a:latin typeface="Noto Sans"/>
              </a:rPr>
              <a:t> 3</a:t>
            </a:r>
          </a:p>
        </p:txBody>
      </p:sp>
      <p:sp>
        <p:nvSpPr>
          <p:cNvPr id="42" name="TextBox 41">
            <a:extLst>
              <a:ext uri="{FF2B5EF4-FFF2-40B4-BE49-F238E27FC236}">
                <a16:creationId xmlns:a16="http://schemas.microsoft.com/office/drawing/2014/main" id="{D1AEFDE5-96B8-5BF2-149E-4AE5D731B646}"/>
              </a:ext>
            </a:extLst>
          </p:cNvPr>
          <p:cNvSpPr txBox="1"/>
          <p:nvPr/>
        </p:nvSpPr>
        <p:spPr>
          <a:xfrm>
            <a:off x="6566297" y="1270348"/>
            <a:ext cx="5096024" cy="38100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Flat across the chamber face</a:t>
            </a:r>
          </a:p>
          <a:p>
            <a:pPr algn="ctr">
              <a:spcBef>
                <a:spcPts val="0"/>
              </a:spcBef>
              <a:spcAft>
                <a:spcPts val="0"/>
              </a:spcAft>
            </a:pPr>
            <a:r>
              <a:rPr sz="1400" b="0" i="0" spc="10" dirty="0">
                <a:solidFill>
                  <a:srgbClr val="5D7176"/>
                </a:solidFill>
                <a:latin typeface="Noto Sans"/>
              </a:rPr>
              <a:t>a circle swept over the face, 500 µm at a time</a:t>
            </a:r>
          </a:p>
        </p:txBody>
      </p:sp>
      <p:sp>
        <p:nvSpPr>
          <p:cNvPr id="45" name="TextBox 44">
            <a:extLst>
              <a:ext uri="{FF2B5EF4-FFF2-40B4-BE49-F238E27FC236}">
                <a16:creationId xmlns:a16="http://schemas.microsoft.com/office/drawing/2014/main" id="{85907A79-C26F-937C-DD58-B6F02AD57137}"/>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46" name="TextBox 45">
            <a:extLst>
              <a:ext uri="{FF2B5EF4-FFF2-40B4-BE49-F238E27FC236}">
                <a16:creationId xmlns:a16="http://schemas.microsoft.com/office/drawing/2014/main" id="{452DE709-CCC2-A463-F668-59F78F98D89E}"/>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B27</a:t>
            </a:r>
            <a:endParaRPr sz="719" b="0" i="0" spc="58">
              <a:solidFill>
                <a:srgbClr val="5D7176"/>
              </a:solidFill>
              <a:latin typeface="Noto Sans"/>
            </a:endParaRPr>
          </a:p>
        </p:txBody>
      </p:sp>
      <p:sp>
        <p:nvSpPr>
          <p:cNvPr id="49" name="Rectangle 48">
            <a:extLst>
              <a:ext uri="{FF2B5EF4-FFF2-40B4-BE49-F238E27FC236}">
                <a16:creationId xmlns:a16="http://schemas.microsoft.com/office/drawing/2014/main" id="{829E4A65-4DF2-3E98-4C99-C3AFB8005FE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2ED8A880-A635-7DEB-402F-07AD837E10FB}"/>
              </a:ext>
            </a:extLst>
          </p:cNvPr>
          <p:cNvSpPr txBox="1"/>
          <p:nvPr/>
        </p:nvSpPr>
        <p:spPr>
          <a:xfrm>
            <a:off x="241300" y="3860800"/>
            <a:ext cx="1498600" cy="889000"/>
          </a:xfrm>
          <a:prstGeom prst="rect">
            <a:avLst/>
          </a:prstGeom>
          <a:noFill/>
        </p:spPr>
        <p:txBody>
          <a:bodyPr wrap="square" rtlCol="0" anchor="t" anchorCtr="0">
            <a:noAutofit/>
          </a:bodyPr>
          <a:lstStyle/>
          <a:p>
            <a:pPr algn="l">
              <a:spcBef>
                <a:spcPts val="0"/>
              </a:spcBef>
              <a:spcAft>
                <a:spcPts val="0"/>
              </a:spcAft>
              <a:buNone/>
            </a:pPr>
            <a:r>
              <a:rPr lang="en-US" sz="1000" b="1" i="0" spc="58" dirty="0">
                <a:solidFill>
                  <a:srgbClr val="EB811B"/>
                </a:solidFill>
                <a:latin typeface="Noto Sans"/>
              </a:rPr>
              <a:t>WHY 0.45 mm</a:t>
            </a:r>
          </a:p>
          <a:p>
            <a:pPr algn="l">
              <a:spcBef>
                <a:spcPts val="300"/>
              </a:spcBef>
              <a:spcAft>
                <a:spcPts val="0"/>
              </a:spcAft>
              <a:buNone/>
            </a:pPr>
            <a:r>
              <a:rPr lang="en-US" sz="1100" b="0" i="0" dirty="0">
                <a:solidFill>
                  <a:srgbClr val="5D7176"/>
                </a:solidFill>
                <a:latin typeface="Noto Sans"/>
              </a:rPr>
              <a:t>Reference trackers resolve to ~500 µm</a:t>
            </a:r>
          </a:p>
        </p:txBody>
      </p:sp>
      <p:sp>
        <p:nvSpPr>
          <p:cNvPr id="6" name="NoteAccent">
            <a:extLst>
              <a:ext uri="{FF2B5EF4-FFF2-40B4-BE49-F238E27FC236}">
                <a16:creationId xmlns:a16="http://schemas.microsoft.com/office/drawing/2014/main" id="{F63D295A-563C-4549-C42F-DFEAF3A3E8AC}"/>
              </a:ext>
            </a:extLst>
          </p:cNvPr>
          <p:cNvSpPr/>
          <p:nvPr/>
        </p:nvSpPr>
        <p:spPr>
          <a:xfrm>
            <a:off x="139700" y="3886200"/>
            <a:ext cx="38100" cy="558800"/>
          </a:xfrm>
          <a:prstGeom prst="rect">
            <a:avLst/>
          </a:prstGeom>
          <a:solidFill>
            <a:srgbClr val="EB811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6309875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FEE-FCDE-16A5-FA59-B779EB78EEE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F6C08F1-4368-804A-0D15-30A7900906AD}"/>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1AB0275-8764-DE1A-EACE-6A055D01CFDA}"/>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Characterization</a:t>
            </a:r>
          </a:p>
        </p:txBody>
      </p:sp>
      <p:sp>
        <p:nvSpPr>
          <p:cNvPr id="5" name="Rectangle 4">
            <a:extLst>
              <a:ext uri="{FF2B5EF4-FFF2-40B4-BE49-F238E27FC236}">
                <a16:creationId xmlns:a16="http://schemas.microsoft.com/office/drawing/2014/main" id="{ADDD53D8-4544-3C6F-93F4-C56F2E43A356}"/>
              </a:ext>
            </a:extLst>
          </p:cNvPr>
          <p:cNvSpPr/>
          <p:nvPr/>
        </p:nvSpPr>
        <p:spPr>
          <a:xfrm>
            <a:off x="9410700" y="165100"/>
            <a:ext cx="2235200" cy="355600"/>
          </a:xfrm>
          <a:prstGeom prst="roundRect">
            <a:avLst>
              <a:gd name="adj" fmla="val 50000"/>
            </a:avLst>
          </a:prstGeom>
          <a:solidFill>
            <a:srgbClr val="A8651E"/>
          </a:solidFill>
          <a:ln w="0">
            <a:noFill/>
          </a:ln>
          <a:effectLst>
            <a:outerShdw blurRad="38100" dist="19050" dir="5400000" rotWithShape="0">
              <a:srgbClr val="A8651E">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a:extLst>
              <a:ext uri="{FF2B5EF4-FFF2-40B4-BE49-F238E27FC236}">
                <a16:creationId xmlns:a16="http://schemas.microsoft.com/office/drawing/2014/main" id="{562E71B3-1289-91D7-4986-D6C16A710541}"/>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C8F8C44-74B5-EE67-E2AC-B823B2386D26}"/>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EFEE4A7F-2798-756A-EE59-B6341C182CD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spc="-28" dirty="0">
                <a:solidFill>
                  <a:srgbClr val="23373B"/>
                </a:solidFill>
                <a:latin typeface="Noto Sans Display"/>
              </a:rPr>
              <a:t>Adequate angular, spatial and temporal resolution</a:t>
            </a:r>
            <a:endParaRPr sz="2783" b="1" i="0" spc="-28" dirty="0">
              <a:solidFill>
                <a:srgbClr val="23373B"/>
              </a:solidFill>
              <a:latin typeface="Noto Sans Display"/>
            </a:endParaRPr>
          </a:p>
        </p:txBody>
      </p:sp>
      <p:sp>
        <p:nvSpPr>
          <p:cNvPr id="13" name="TextBox 12">
            <a:extLst>
              <a:ext uri="{FF2B5EF4-FFF2-40B4-BE49-F238E27FC236}">
                <a16:creationId xmlns:a16="http://schemas.microsoft.com/office/drawing/2014/main" id="{70E4BBC0-EA16-5321-14FA-1C75222022C2}"/>
              </a:ext>
            </a:extLst>
          </p:cNvPr>
          <p:cNvSpPr txBox="1"/>
          <p:nvPr/>
        </p:nvSpPr>
        <p:spPr>
          <a:xfrm>
            <a:off x="548580" y="1341467"/>
            <a:ext cx="6068169" cy="209550"/>
          </a:xfrm>
          <a:prstGeom prst="rect">
            <a:avLst/>
          </a:prstGeom>
          <a:noFill/>
        </p:spPr>
        <p:txBody>
          <a:bodyPr wrap="square" lIns="0" tIns="0" rIns="0" bIns="0" anchor="t">
            <a:noAutofit/>
          </a:bodyPr>
          <a:lstStyle/>
          <a:p>
            <a:pPr algn="ctr">
              <a:spcBef>
                <a:spcPts val="0"/>
              </a:spcBef>
              <a:spcAft>
                <a:spcPts val="0"/>
              </a:spcAft>
            </a:pPr>
            <a:r>
              <a:rPr sz="1400" b="0" i="0" spc="10" dirty="0">
                <a:solidFill>
                  <a:srgbClr val="3C5257"/>
                </a:solidFill>
                <a:latin typeface="Noto Sans SemiBold"/>
              </a:rPr>
              <a:t>Reconstructed against reference, per plane</a:t>
            </a:r>
          </a:p>
        </p:txBody>
      </p:sp>
      <p:pic>
        <p:nvPicPr>
          <p:cNvPr id="15" name="Picture 14" descr="Two panels, X view and Y view: two-dimensional density of the reconstructed track angle against the M3 reference angle, tight along the line of equality from minus 20 to plus 20 degrees, with sigma68 of 1.19 and 1.23 degrees and bias below 0.1 degrees">
            <a:extLst>
              <a:ext uri="{FF2B5EF4-FFF2-40B4-BE49-F238E27FC236}">
                <a16:creationId xmlns:a16="http://schemas.microsoft.com/office/drawing/2014/main" id="{9F932B9A-B11A-1911-EFC7-E51E1244F529}"/>
              </a:ext>
            </a:extLst>
          </p:cNvPr>
          <p:cNvPicPr>
            <a:picLocks noChangeAspect="1"/>
          </p:cNvPicPr>
          <p:nvPr/>
        </p:nvPicPr>
        <p:blipFill>
          <a:blip r:embed="rId2"/>
          <a:stretch>
            <a:fillRect/>
          </a:stretch>
        </p:blipFill>
        <p:spPr>
          <a:xfrm>
            <a:off x="779" y="1806376"/>
            <a:ext cx="7100626" cy="3348782"/>
          </a:xfrm>
          <a:prstGeom prst="rect">
            <a:avLst/>
          </a:prstGeom>
        </p:spPr>
      </p:pic>
      <p:sp>
        <p:nvSpPr>
          <p:cNvPr id="17" name="TextBox 16">
            <a:extLst>
              <a:ext uri="{FF2B5EF4-FFF2-40B4-BE49-F238E27FC236}">
                <a16:creationId xmlns:a16="http://schemas.microsoft.com/office/drawing/2014/main" id="{E234F76C-59FB-E19E-3187-3E267CFA27AA}"/>
              </a:ext>
            </a:extLst>
          </p:cNvPr>
          <p:cNvSpPr txBox="1"/>
          <p:nvPr/>
        </p:nvSpPr>
        <p:spPr>
          <a:xfrm>
            <a:off x="7528220" y="1251751"/>
            <a:ext cx="4373059" cy="338605"/>
          </a:xfrm>
          <a:prstGeom prst="rect">
            <a:avLst/>
          </a:prstGeom>
          <a:noFill/>
        </p:spPr>
        <p:txBody>
          <a:bodyPr wrap="square" lIns="0" tIns="0" rIns="0" bIns="0" anchor="t">
            <a:noAutofit/>
          </a:bodyPr>
          <a:lstStyle/>
          <a:p>
            <a:pPr algn="ctr">
              <a:spcBef>
                <a:spcPts val="0"/>
              </a:spcBef>
              <a:spcAft>
                <a:spcPts val="0"/>
              </a:spcAft>
            </a:pPr>
            <a:r>
              <a:rPr lang="en-US" sz="1400" b="0" i="0" spc="10" dirty="0">
                <a:solidFill>
                  <a:srgbClr val="3C5257"/>
                </a:solidFill>
                <a:latin typeface="Noto Sans SemiBold"/>
              </a:rPr>
              <a:t>Head on tracks reasonable and angled tracks approach 1°</a:t>
            </a:r>
            <a:endParaRPr sz="1400" b="0" i="0" spc="10" dirty="0">
              <a:solidFill>
                <a:srgbClr val="3C5257"/>
              </a:solidFill>
              <a:latin typeface="Noto Sans SemiBold"/>
            </a:endParaRPr>
          </a:p>
        </p:txBody>
      </p:sp>
      <p:pic>
        <p:nvPicPr>
          <p:cNvPr id="19" name="Picture 18" descr="Sigma68 of the angle residual against the absolute reference angle, both planes, between 0.98 and 1.71 degrees across 0 to 18 degrees, the widest bin being the head-on Y one">
            <a:extLst>
              <a:ext uri="{FF2B5EF4-FFF2-40B4-BE49-F238E27FC236}">
                <a16:creationId xmlns:a16="http://schemas.microsoft.com/office/drawing/2014/main" id="{909EFC1D-A9E9-BD8A-01FD-AE1CE8C890B6}"/>
              </a:ext>
            </a:extLst>
          </p:cNvPr>
          <p:cNvPicPr>
            <a:picLocks noChangeAspect="1"/>
          </p:cNvPicPr>
          <p:nvPr/>
        </p:nvPicPr>
        <p:blipFill>
          <a:blip r:embed="rId3"/>
          <a:stretch>
            <a:fillRect/>
          </a:stretch>
        </p:blipFill>
        <p:spPr>
          <a:xfrm>
            <a:off x="7000591" y="1725532"/>
            <a:ext cx="5168070" cy="3612129"/>
          </a:xfrm>
          <a:prstGeom prst="rect">
            <a:avLst/>
          </a:prstGeom>
        </p:spPr>
      </p:pic>
      <p:sp>
        <p:nvSpPr>
          <p:cNvPr id="21" name="Rectangle 20">
            <a:extLst>
              <a:ext uri="{FF2B5EF4-FFF2-40B4-BE49-F238E27FC236}">
                <a16:creationId xmlns:a16="http://schemas.microsoft.com/office/drawing/2014/main" id="{780C1A3D-F3C3-CFA0-2A72-E1BD2A3EE2DC}"/>
              </a:ext>
            </a:extLst>
          </p:cNvPr>
          <p:cNvSpPr/>
          <p:nvPr/>
        </p:nvSpPr>
        <p:spPr>
          <a:xfrm>
            <a:off x="548580" y="5527897"/>
            <a:ext cx="1990725"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a:extLst>
              <a:ext uri="{FF2B5EF4-FFF2-40B4-BE49-F238E27FC236}">
                <a16:creationId xmlns:a16="http://schemas.microsoft.com/office/drawing/2014/main" id="{214A037F-97BD-259B-C21B-46F1BD76321B}"/>
              </a:ext>
            </a:extLst>
          </p:cNvPr>
          <p:cNvSpPr txBox="1"/>
          <p:nvPr/>
        </p:nvSpPr>
        <p:spPr>
          <a:xfrm>
            <a:off x="548580" y="5688681"/>
            <a:ext cx="2009775"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1.19 / 1.23°</a:t>
            </a:r>
          </a:p>
        </p:txBody>
      </p:sp>
      <p:sp>
        <p:nvSpPr>
          <p:cNvPr id="23" name="TextBox 22">
            <a:extLst>
              <a:ext uri="{FF2B5EF4-FFF2-40B4-BE49-F238E27FC236}">
                <a16:creationId xmlns:a16="http://schemas.microsoft.com/office/drawing/2014/main" id="{A142D071-D2C8-5404-F43B-72D34EF976D4}"/>
              </a:ext>
            </a:extLst>
          </p:cNvPr>
          <p:cNvSpPr txBox="1"/>
          <p:nvPr/>
        </p:nvSpPr>
        <p:spPr>
          <a:xfrm>
            <a:off x="548580" y="6079305"/>
            <a:ext cx="1969740" cy="40377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angle per plane, X / Y (σ</a:t>
            </a:r>
            <a:r>
              <a:rPr sz="800" b="0" i="0" baseline="-25000">
                <a:solidFill>
                  <a:srgbClr val="5D7176"/>
                </a:solidFill>
                <a:latin typeface="Noto Sans"/>
              </a:rPr>
              <a:t>68</a:t>
            </a:r>
            <a:r>
              <a:rPr sz="960" b="0" i="0">
                <a:solidFill>
                  <a:srgbClr val="5D7176"/>
                </a:solidFill>
                <a:latin typeface="Noto Sans"/>
              </a:rPr>
              <a:t>), bias &lt; 0.1°</a:t>
            </a:r>
          </a:p>
        </p:txBody>
      </p:sp>
      <p:sp>
        <p:nvSpPr>
          <p:cNvPr id="24" name="Rectangle 23">
            <a:extLst>
              <a:ext uri="{FF2B5EF4-FFF2-40B4-BE49-F238E27FC236}">
                <a16:creationId xmlns:a16="http://schemas.microsoft.com/office/drawing/2014/main" id="{8DA493AB-C13F-EC8D-24C1-654B06A3D046}"/>
              </a:ext>
            </a:extLst>
          </p:cNvPr>
          <p:cNvSpPr/>
          <p:nvPr/>
        </p:nvSpPr>
        <p:spPr>
          <a:xfrm>
            <a:off x="5131665" y="55278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a:extLst>
              <a:ext uri="{FF2B5EF4-FFF2-40B4-BE49-F238E27FC236}">
                <a16:creationId xmlns:a16="http://schemas.microsoft.com/office/drawing/2014/main" id="{35A6D55C-205F-D3CE-C058-893349DF8423}"/>
              </a:ext>
            </a:extLst>
          </p:cNvPr>
          <p:cNvSpPr txBox="1"/>
          <p:nvPr/>
        </p:nvSpPr>
        <p:spPr>
          <a:xfrm>
            <a:off x="5131665" y="56886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dirty="0">
                <a:solidFill>
                  <a:srgbClr val="23373B"/>
                </a:solidFill>
                <a:latin typeface="Noto Sans Display"/>
              </a:rPr>
              <a:t>18</a:t>
            </a:r>
            <a:r>
              <a:rPr lang="en-US" sz="3120" b="1" i="0" spc="-31" dirty="0">
                <a:solidFill>
                  <a:srgbClr val="23373B"/>
                </a:solidFill>
                <a:latin typeface="Noto Sans Display"/>
              </a:rPr>
              <a:t>0</a:t>
            </a:r>
            <a:r>
              <a:rPr sz="3120" b="1" i="0" spc="-31" dirty="0">
                <a:solidFill>
                  <a:srgbClr val="23373B"/>
                </a:solidFill>
                <a:latin typeface="Noto Sans Display"/>
              </a:rPr>
              <a:t> </a:t>
            </a:r>
            <a:r>
              <a:rPr lang="en-US" sz="3120" b="1" i="0" spc="-31" dirty="0">
                <a:solidFill>
                  <a:srgbClr val="23373B"/>
                </a:solidFill>
                <a:latin typeface="Noto Sans Display"/>
              </a:rPr>
              <a:t>µ</a:t>
            </a:r>
            <a:r>
              <a:rPr sz="3120" b="1" i="0" spc="-31" dirty="0">
                <a:solidFill>
                  <a:srgbClr val="23373B"/>
                </a:solidFill>
                <a:latin typeface="Noto Sans Display"/>
              </a:rPr>
              <a:t>m</a:t>
            </a:r>
          </a:p>
        </p:txBody>
      </p:sp>
      <p:sp>
        <p:nvSpPr>
          <p:cNvPr id="26" name="TextBox 25">
            <a:extLst>
              <a:ext uri="{FF2B5EF4-FFF2-40B4-BE49-F238E27FC236}">
                <a16:creationId xmlns:a16="http://schemas.microsoft.com/office/drawing/2014/main" id="{439A3A0B-3D46-12F3-B178-0047DC70C936}"/>
              </a:ext>
            </a:extLst>
          </p:cNvPr>
          <p:cNvSpPr txBox="1"/>
          <p:nvPr/>
        </p:nvSpPr>
        <p:spPr>
          <a:xfrm>
            <a:off x="5131665" y="6079305"/>
            <a:ext cx="1969740" cy="410319"/>
          </a:xfrm>
          <a:prstGeom prst="rect">
            <a:avLst/>
          </a:prstGeom>
          <a:noFill/>
        </p:spPr>
        <p:txBody>
          <a:bodyPr wrap="square" lIns="0" tIns="0" rIns="0" bIns="0" anchor="t">
            <a:noAutofit/>
          </a:bodyPr>
          <a:lstStyle/>
          <a:p>
            <a:pPr algn="l">
              <a:lnSpc>
                <a:spcPts val="1344"/>
              </a:lnSpc>
              <a:spcBef>
                <a:spcPts val="0"/>
              </a:spcBef>
              <a:spcAft>
                <a:spcPts val="0"/>
              </a:spcAft>
            </a:pPr>
            <a:r>
              <a:rPr sz="960" b="0" i="0" dirty="0">
                <a:solidFill>
                  <a:srgbClr val="5D7176"/>
                </a:solidFill>
                <a:latin typeface="Noto Sans"/>
              </a:rPr>
              <a:t>position at normal incidence, </a:t>
            </a:r>
            <a:r>
              <a:rPr sz="960" b="1" i="0" dirty="0">
                <a:solidFill>
                  <a:srgbClr val="5D7176"/>
                </a:solidFill>
                <a:latin typeface="Noto Sans"/>
              </a:rPr>
              <a:t>±0.035 mm</a:t>
            </a:r>
            <a:r>
              <a:rPr sz="960" b="0" i="0" dirty="0">
                <a:solidFill>
                  <a:srgbClr val="5D7176"/>
                </a:solidFill>
                <a:latin typeface="Noto Sans"/>
              </a:rPr>
              <a:t> conservatively</a:t>
            </a:r>
            <a:endParaRPr sz="800" b="0" i="0" baseline="30000" dirty="0">
              <a:solidFill>
                <a:srgbClr val="5D7176"/>
              </a:solidFill>
              <a:latin typeface="Noto Sans"/>
            </a:endParaRPr>
          </a:p>
        </p:txBody>
      </p:sp>
      <p:sp>
        <p:nvSpPr>
          <p:cNvPr id="27" name="Rectangle 26">
            <a:extLst>
              <a:ext uri="{FF2B5EF4-FFF2-40B4-BE49-F238E27FC236}">
                <a16:creationId xmlns:a16="http://schemas.microsoft.com/office/drawing/2014/main" id="{14268163-5BC8-589C-00EB-81C10E459FDC}"/>
              </a:ext>
            </a:extLst>
          </p:cNvPr>
          <p:cNvSpPr/>
          <p:nvPr/>
        </p:nvSpPr>
        <p:spPr>
          <a:xfrm>
            <a:off x="9714750" y="5489797"/>
            <a:ext cx="1950690" cy="381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a:extLst>
              <a:ext uri="{FF2B5EF4-FFF2-40B4-BE49-F238E27FC236}">
                <a16:creationId xmlns:a16="http://schemas.microsoft.com/office/drawing/2014/main" id="{A65EBE23-9521-EE21-83EF-87497B8B4E7F}"/>
              </a:ext>
            </a:extLst>
          </p:cNvPr>
          <p:cNvSpPr txBox="1"/>
          <p:nvPr/>
        </p:nvSpPr>
        <p:spPr>
          <a:xfrm>
            <a:off x="9714750" y="5650581"/>
            <a:ext cx="1969740" cy="454075"/>
          </a:xfrm>
          <a:prstGeom prst="rect">
            <a:avLst/>
          </a:prstGeom>
          <a:noFill/>
        </p:spPr>
        <p:txBody>
          <a:bodyPr wrap="square" lIns="0" tIns="0" rIns="0" bIns="0" anchor="t">
            <a:noAutofit/>
          </a:bodyPr>
          <a:lstStyle/>
          <a:p>
            <a:pPr algn="l">
              <a:lnSpc>
                <a:spcPts val="3276"/>
              </a:lnSpc>
              <a:spcBef>
                <a:spcPts val="0"/>
              </a:spcBef>
              <a:spcAft>
                <a:spcPts val="0"/>
              </a:spcAft>
            </a:pPr>
            <a:r>
              <a:rPr sz="3120" b="1" i="0" spc="-31">
                <a:solidFill>
                  <a:srgbClr val="23373B"/>
                </a:solidFill>
                <a:latin typeface="Noto Sans Display"/>
              </a:rPr>
              <a:t>33 ns</a:t>
            </a:r>
          </a:p>
        </p:txBody>
      </p:sp>
      <p:sp>
        <p:nvSpPr>
          <p:cNvPr id="29" name="TextBox 28">
            <a:extLst>
              <a:ext uri="{FF2B5EF4-FFF2-40B4-BE49-F238E27FC236}">
                <a16:creationId xmlns:a16="http://schemas.microsoft.com/office/drawing/2014/main" id="{03AB7748-CA50-8137-FAA6-69AE41B03D20}"/>
              </a:ext>
            </a:extLst>
          </p:cNvPr>
          <p:cNvSpPr txBox="1"/>
          <p:nvPr/>
        </p:nvSpPr>
        <p:spPr>
          <a:xfrm>
            <a:off x="9714750" y="6041205"/>
            <a:ext cx="1969740" cy="379214"/>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5D7176"/>
                </a:solidFill>
                <a:latin typeface="Noto Sans"/>
              </a:rPr>
              <a:t>plane-to-plane timing, ≈ 1.1 mm of drift</a:t>
            </a:r>
          </a:p>
        </p:txBody>
      </p:sp>
      <p:sp>
        <p:nvSpPr>
          <p:cNvPr id="31" name="TextBox 30">
            <a:extLst>
              <a:ext uri="{FF2B5EF4-FFF2-40B4-BE49-F238E27FC236}">
                <a16:creationId xmlns:a16="http://schemas.microsoft.com/office/drawing/2014/main" id="{E27426DE-EA06-A7E9-A016-D5367F9E3D2D}"/>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32" name="TextBox 31">
            <a:extLst>
              <a:ext uri="{FF2B5EF4-FFF2-40B4-BE49-F238E27FC236}">
                <a16:creationId xmlns:a16="http://schemas.microsoft.com/office/drawing/2014/main" id="{B8D3270E-A642-0459-31BD-484FDAF32F5C}"/>
              </a:ext>
            </a:extLst>
          </p:cNvPr>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B28</a:t>
            </a:r>
            <a:endParaRPr sz="719" b="0" i="0" spc="58">
              <a:solidFill>
                <a:srgbClr val="5D7176"/>
              </a:solidFill>
              <a:latin typeface="Noto Sans"/>
            </a:endParaRPr>
          </a:p>
        </p:txBody>
      </p:sp>
      <p:sp>
        <p:nvSpPr>
          <p:cNvPr id="35" name="Rectangle 34">
            <a:extLst>
              <a:ext uri="{FF2B5EF4-FFF2-40B4-BE49-F238E27FC236}">
                <a16:creationId xmlns:a16="http://schemas.microsoft.com/office/drawing/2014/main" id="{374657AB-CFF4-269D-F623-973B444D0D3A}"/>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0164777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lang="en-US" sz="912" b="1" i="0" cap="all" spc="182">
                <a:solidFill>
                  <a:srgbClr val="C66A0F"/>
                </a:solidFill>
                <a:latin typeface="Noto Sans"/>
              </a:rPr>
              <a:t>Backup · Plan A</a:t>
            </a:r>
            <a:endParaRPr sz="912" b="1" i="0" cap="all" spc="182">
              <a:solidFill>
                <a:srgbClr val="C66A0F"/>
              </a:solidFill>
              <a:latin typeface="Noto Sans"/>
            </a:endParaRP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a:solidFill>
                  <a:srgbClr val="23373B"/>
                </a:solidFill>
                <a:latin typeface="Noto Sans Display"/>
              </a:rPr>
              <a:t>Could plan A still work? Wall pairs per X17, by neutron energy</a:t>
            </a:r>
            <a:endParaRPr sz="2783" b="1" i="0" spc="-28">
              <a:solidFill>
                <a:srgbClr val="23373B"/>
              </a:solidFill>
              <a:latin typeface="Noto Sans Display"/>
            </a:endParaRPr>
          </a:p>
        </p:txBody>
      </p:sp>
      <p:sp>
        <p:nvSpPr>
          <p:cNvPr id="9" name="TextBox 8"/>
          <p:cNvSpPr txBox="1"/>
          <p:nvPr/>
        </p:nvSpPr>
        <p:spPr>
          <a:xfrm>
            <a:off x="548580" y="6019800"/>
            <a:ext cx="11113889" cy="577513"/>
          </a:xfrm>
          <a:prstGeom prst="rect">
            <a:avLst/>
          </a:prstGeom>
          <a:noFill/>
        </p:spPr>
        <p:txBody>
          <a:bodyPr wrap="square" lIns="0" tIns="0" rIns="0" bIns="0" anchor="t">
            <a:noAutofit/>
          </a:bodyPr>
          <a:lstStyle/>
          <a:p>
            <a:pPr algn="l">
              <a:lnSpc>
                <a:spcPts val="1391"/>
              </a:lnSpc>
              <a:spcBef>
                <a:spcPts val="0"/>
              </a:spcBef>
              <a:spcAft>
                <a:spcPts val="0"/>
              </a:spcAft>
            </a:pPr>
            <a:r>
              <a:rPr lang="en-US" sz="960" b="0" i="0">
                <a:solidFill>
                  <a:srgbClr val="3C5257"/>
                </a:solidFill>
                <a:latin typeface="Noto Sans"/>
              </a:rPr>
              <a:t>The Al + C wall makes ~10⁶ pairs per X17 at thermal energies but only ~50 at 0.1–2 MeV, where 79 % of the X17 rate sits — until the Al/C inelastic lines open at 2.3 MeV. X17/IPC = 2.5 % is the rate table's assumption; the ratio scales with it.</a:t>
            </a:r>
            <a:endParaRPr sz="960" b="0" i="0">
              <a:solidFill>
                <a:srgbClr val="3C5257"/>
              </a:solidFill>
              <a:latin typeface="Noto Sans"/>
            </a:endParaRPr>
          </a:p>
        </p:txBody>
      </p:sp>
      <p:sp>
        <p:nvSpPr>
          <p:cNvPr id="10" name="TextBox 9"/>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TextBox 10"/>
          <p:cNvSpPr txBox="1"/>
          <p:nvPr/>
        </p:nvSpPr>
        <p:spPr>
          <a:xfrm>
            <a:off x="11471176" y="6629400"/>
            <a:ext cx="187424" cy="110671"/>
          </a:xfrm>
          <a:prstGeom prst="rect">
            <a:avLst/>
          </a:prstGeom>
          <a:noFill/>
        </p:spPr>
        <p:txBody>
          <a:bodyPr wrap="none" lIns="0" tIns="0" rIns="0" bIns="0" anchor="t">
            <a:spAutoFit/>
          </a:bodyPr>
          <a:lstStyle/>
          <a:p>
            <a:pPr algn="r">
              <a:spcBef>
                <a:spcPts val="0"/>
              </a:spcBef>
              <a:spcAft>
                <a:spcPts val="0"/>
              </a:spcAft>
            </a:pPr>
            <a:r>
              <a:rPr lang="en-US" sz="719" b="0" i="0" spc="58">
                <a:solidFill>
                  <a:srgbClr val="5D7176"/>
                </a:solidFill>
                <a:latin typeface="Noto Sans"/>
              </a:rPr>
              <a:t>B29</a:t>
            </a:r>
            <a:endParaRPr sz="719" b="0" i="0" spc="58">
              <a:solidFill>
                <a:srgbClr val="5D7176"/>
              </a:solidFill>
              <a:latin typeface="Noto Sans"/>
            </a:endParaRPr>
          </a:p>
        </p:txBody>
      </p:sp>
      <p:sp>
        <p:nvSpPr>
          <p:cNvPr id="14" name="Rectangle 13">
            <a:extLst>
              <a:ext uri="{FF2B5EF4-FFF2-40B4-BE49-F238E27FC236}">
                <a16:creationId xmlns:a16="http://schemas.microsoft.com/office/drawing/2014/main" id="{53F60A7A-CDAD-4289-961A-EA2EAB4A246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8" name="Picture 6">
            <a:extLst>
              <a:ext uri="{FF2B5EF4-FFF2-40B4-BE49-F238E27FC236}">
                <a16:creationId xmlns:a16="http://schemas.microsoft.com/office/drawing/2014/main" id="{ECEF85B5-9784-DD0F-96E0-6B8358BD1C38}"/>
              </a:ext>
            </a:extLst>
          </p:cNvPr>
          <p:cNvPicPr>
            <a:picLocks noChangeAspect="1"/>
          </p:cNvPicPr>
          <p:nvPr/>
        </p:nvPicPr>
        <p:blipFill>
          <a:blip r:embed="rId2"/>
          <a:stretch>
            <a:fillRect/>
          </a:stretch>
        </p:blipFill>
        <p:spPr>
          <a:xfrm>
            <a:off x="1016000" y="1244600"/>
            <a:ext cx="10160000" cy="4726467"/>
          </a:xfrm>
          <a:prstGeom prst="rect">
            <a:avLst/>
          </a:prstGeom>
        </p:spPr>
      </p:pic>
    </p:spTree>
    <p:extLst>
      <p:ext uri="{BB962C8B-B14F-4D97-AF65-F5344CB8AC3E}">
        <p14:creationId xmlns:p14="http://schemas.microsoft.com/office/powerpoint/2010/main" val="22579186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a:solidFill>
                  <a:srgbClr val="23373B"/>
                </a:solidFill>
                <a:latin typeface="Noto Sans Display"/>
              </a:rPr>
              <a:t>Cut for the 15-minute version</a:t>
            </a:r>
            <a:endParaRPr sz="4320" b="1" i="0" spc="86">
              <a:solidFill>
                <a:srgbClr val="23373B"/>
              </a:solidFill>
              <a:latin typeface="Noto Sans Display"/>
            </a:endParaRPr>
          </a:p>
        </p:txBody>
      </p:sp>
      <p:sp>
        <p:nvSpPr>
          <p:cNvPr id="6" name="TextBox 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0" name="Rectangle 9">
            <a:extLst>
              <a:ext uri="{FF2B5EF4-FFF2-40B4-BE49-F238E27FC236}">
                <a16:creationId xmlns:a16="http://schemas.microsoft.com/office/drawing/2014/main" id="{02FEB3A4-512A-46BB-93BE-410DB6C61FB4}"/>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832091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Outline</a:t>
            </a:r>
          </a:p>
        </p:txBody>
      </p:sp>
      <p:sp>
        <p:nvSpPr>
          <p:cNvPr id="7" name="Rectangle 6"/>
          <p:cNvSpPr/>
          <p:nvPr/>
        </p:nvSpPr>
        <p:spPr>
          <a:xfrm>
            <a:off x="548580" y="2444353"/>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580" y="1775817"/>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1</a:t>
            </a:r>
          </a:p>
        </p:txBody>
      </p:sp>
      <p:sp>
        <p:nvSpPr>
          <p:cNvPr id="9" name="TextBox 8"/>
          <p:cNvSpPr txBox="1"/>
          <p:nvPr/>
        </p:nvSpPr>
        <p:spPr>
          <a:xfrm>
            <a:off x="1094184" y="1775817"/>
            <a:ext cx="5992416"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The X17 particle and the n_TOF channel</a:t>
            </a:r>
          </a:p>
        </p:txBody>
      </p:sp>
      <p:sp>
        <p:nvSpPr>
          <p:cNvPr id="10" name="Rectangle 9"/>
          <p:cNvSpPr/>
          <p:nvPr/>
        </p:nvSpPr>
        <p:spPr>
          <a:xfrm>
            <a:off x="548580" y="3343275"/>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580" y="2674739"/>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2</a:t>
            </a:r>
          </a:p>
        </p:txBody>
      </p:sp>
      <p:sp>
        <p:nvSpPr>
          <p:cNvPr id="12" name="TextBox 11"/>
          <p:cNvSpPr txBox="1"/>
          <p:nvPr/>
        </p:nvSpPr>
        <p:spPr>
          <a:xfrm>
            <a:off x="1094184" y="2674739"/>
            <a:ext cx="5719571" cy="485775"/>
          </a:xfrm>
          <a:prstGeom prst="rect">
            <a:avLst/>
          </a:prstGeom>
          <a:noFill/>
        </p:spPr>
        <p:txBody>
          <a:bodyPr wrap="square" lIns="0" tIns="0" rIns="0" bIns="0" anchor="t">
            <a:noAutofit/>
          </a:bodyPr>
          <a:lstStyle/>
          <a:p>
            <a:pPr algn="l">
              <a:spcBef>
                <a:spcPts val="0"/>
              </a:spcBef>
              <a:spcAft>
                <a:spcPts val="0"/>
              </a:spcAft>
            </a:pPr>
            <a:r>
              <a:rPr sz="2580" b="0" i="0" dirty="0">
                <a:solidFill>
                  <a:srgbClr val="23373B"/>
                </a:solidFill>
                <a:latin typeface="Noto Sans Display SemiBold"/>
              </a:rPr>
              <a:t>Micromegas </a:t>
            </a:r>
            <a:r>
              <a:rPr lang="en-US" sz="2580" b="0" i="0" dirty="0">
                <a:solidFill>
                  <a:srgbClr val="23373B"/>
                </a:solidFill>
                <a:latin typeface="Noto Sans Display SemiBold"/>
              </a:rPr>
              <a:t>TPC </a:t>
            </a:r>
            <a:r>
              <a:rPr sz="2580" b="0" i="0" dirty="0">
                <a:solidFill>
                  <a:srgbClr val="23373B"/>
                </a:solidFill>
                <a:latin typeface="Noto Sans Display SemiBold"/>
              </a:rPr>
              <a:t>detectors</a:t>
            </a:r>
          </a:p>
        </p:txBody>
      </p:sp>
      <p:sp>
        <p:nvSpPr>
          <p:cNvPr id="13" name="Rectangle 12"/>
          <p:cNvSpPr/>
          <p:nvPr/>
        </p:nvSpPr>
        <p:spPr>
          <a:xfrm>
            <a:off x="548580" y="4689872"/>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580" y="3573661"/>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3</a:t>
            </a:r>
          </a:p>
        </p:txBody>
      </p:sp>
      <p:sp>
        <p:nvSpPr>
          <p:cNvPr id="15" name="TextBox 14"/>
          <p:cNvSpPr txBox="1"/>
          <p:nvPr/>
        </p:nvSpPr>
        <p:spPr>
          <a:xfrm>
            <a:off x="1094184" y="3573661"/>
            <a:ext cx="6179046" cy="933450"/>
          </a:xfrm>
          <a:prstGeom prst="rect">
            <a:avLst/>
          </a:prstGeom>
          <a:noFill/>
        </p:spPr>
        <p:txBody>
          <a:bodyPr wrap="square" lIns="0" tIns="0" rIns="0" bIns="0" anchor="t">
            <a:noAutofit/>
          </a:bodyPr>
          <a:lstStyle/>
          <a:p>
            <a:pPr algn="l">
              <a:spcBef>
                <a:spcPts val="0"/>
              </a:spcBef>
              <a:spcAft>
                <a:spcPts val="0"/>
              </a:spcAft>
            </a:pPr>
            <a:r>
              <a:rPr sz="2580" b="0" i="0" dirty="0">
                <a:solidFill>
                  <a:srgbClr val="23373B"/>
                </a:solidFill>
                <a:latin typeface="Noto Sans Display SemiBold"/>
              </a:rPr>
              <a:t>X17 search at </a:t>
            </a:r>
            <a:r>
              <a:rPr sz="2580" b="0" i="0" dirty="0" err="1">
                <a:solidFill>
                  <a:srgbClr val="23373B"/>
                </a:solidFill>
                <a:latin typeface="Noto Sans Display SemiBold"/>
              </a:rPr>
              <a:t>n_TOF</a:t>
            </a:r>
            <a:r>
              <a:rPr sz="2580" b="0" i="0" dirty="0">
                <a:solidFill>
                  <a:srgbClr val="23373B"/>
                </a:solidFill>
                <a:latin typeface="Noto Sans Display SemiBold"/>
              </a:rPr>
              <a:t> — </a:t>
            </a:r>
            <a:br>
              <a:rPr lang="en-US" sz="2580" b="0" i="0" dirty="0">
                <a:solidFill>
                  <a:srgbClr val="23373B"/>
                </a:solidFill>
                <a:latin typeface="Noto Sans Display SemiBold"/>
              </a:rPr>
            </a:br>
            <a:r>
              <a:rPr sz="2580" b="0" i="0" dirty="0">
                <a:solidFill>
                  <a:srgbClr val="23373B"/>
                </a:solidFill>
                <a:latin typeface="Noto Sans Display SemiBold"/>
              </a:rPr>
              <a:t>experimental setup</a:t>
            </a:r>
          </a:p>
        </p:txBody>
      </p:sp>
      <p:sp>
        <p:nvSpPr>
          <p:cNvPr id="16" name="Rectangle 15"/>
          <p:cNvSpPr/>
          <p:nvPr/>
        </p:nvSpPr>
        <p:spPr>
          <a:xfrm>
            <a:off x="548580" y="5588794"/>
            <a:ext cx="6705600" cy="9525"/>
          </a:xfrm>
          <a:prstGeom prst="rect">
            <a:avLst/>
          </a:prstGeom>
          <a:solidFill>
            <a:srgbClr val="D3DA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48580" y="4920258"/>
            <a:ext cx="412254" cy="485775"/>
          </a:xfrm>
          <a:prstGeom prst="rect">
            <a:avLst/>
          </a:prstGeom>
          <a:noFill/>
        </p:spPr>
        <p:txBody>
          <a:bodyPr wrap="square" lIns="0" tIns="0" rIns="0" bIns="0" anchor="t">
            <a:noAutofit/>
          </a:bodyPr>
          <a:lstStyle/>
          <a:p>
            <a:pPr algn="l">
              <a:spcBef>
                <a:spcPts val="0"/>
              </a:spcBef>
              <a:spcAft>
                <a:spcPts val="0"/>
              </a:spcAft>
            </a:pPr>
            <a:r>
              <a:rPr sz="2580" b="1" i="0">
                <a:solidFill>
                  <a:srgbClr val="C66A0F"/>
                </a:solidFill>
                <a:latin typeface="Noto Sans Display"/>
              </a:rPr>
              <a:t>4</a:t>
            </a:r>
          </a:p>
        </p:txBody>
      </p:sp>
      <p:sp>
        <p:nvSpPr>
          <p:cNvPr id="18" name="TextBox 17"/>
          <p:cNvSpPr txBox="1"/>
          <p:nvPr/>
        </p:nvSpPr>
        <p:spPr>
          <a:xfrm>
            <a:off x="1094184" y="4920258"/>
            <a:ext cx="6002834" cy="485775"/>
          </a:xfrm>
          <a:prstGeom prst="rect">
            <a:avLst/>
          </a:prstGeom>
          <a:noFill/>
        </p:spPr>
        <p:txBody>
          <a:bodyPr wrap="square" lIns="0" tIns="0" rIns="0" bIns="0" anchor="t">
            <a:noAutofit/>
          </a:bodyPr>
          <a:lstStyle/>
          <a:p>
            <a:pPr algn="l">
              <a:spcBef>
                <a:spcPts val="0"/>
              </a:spcBef>
              <a:spcAft>
                <a:spcPts val="0"/>
              </a:spcAft>
            </a:pPr>
            <a:r>
              <a:rPr sz="2580" b="0" i="0">
                <a:solidFill>
                  <a:srgbClr val="23373B"/>
                </a:solidFill>
                <a:latin typeface="Noto Sans Display SemiBold"/>
              </a:rPr>
              <a:t>Experiment Summary and Early Results</a:t>
            </a:r>
          </a:p>
        </p:txBody>
      </p:sp>
      <p:sp>
        <p:nvSpPr>
          <p:cNvPr id="19" name="TextBox 18"/>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20" name="TextBox 19"/>
          <p:cNvSpPr txBox="1"/>
          <p:nvPr/>
        </p:nvSpPr>
        <p:spPr>
          <a:xfrm>
            <a:off x="11360944" y="6633972"/>
            <a:ext cx="301466"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2 / 18</a:t>
            </a:r>
            <a:endParaRPr sz="719" b="0" i="0" spc="58">
              <a:solidFill>
                <a:srgbClr val="5D7176"/>
              </a:solidFill>
              <a:latin typeface="Noto Sans"/>
            </a:endParaRPr>
          </a:p>
        </p:txBody>
      </p:sp>
      <p:sp>
        <p:nvSpPr>
          <p:cNvPr id="23" name="Rectangle 22">
            <a:extLst>
              <a:ext uri="{FF2B5EF4-FFF2-40B4-BE49-F238E27FC236}">
                <a16:creationId xmlns:a16="http://schemas.microsoft.com/office/drawing/2014/main" id="{61A3195D-84BA-455E-996F-57913E7D733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983781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sz="4320" b="1" i="0" spc="86" dirty="0">
                <a:solidFill>
                  <a:srgbClr val="23373B"/>
                </a:solidFill>
                <a:latin typeface="Noto Sans Display"/>
              </a:rPr>
              <a:t>The Micromegas Compact TPC</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A large-area resistive-strip </a:t>
            </a:r>
            <a:r>
              <a:rPr lang="en-US" sz="2000" b="0" i="0" dirty="0">
                <a:solidFill>
                  <a:srgbClr val="5D7176"/>
                </a:solidFill>
                <a:latin typeface="Noto Sans"/>
              </a:rPr>
              <a:t>detector</a:t>
            </a:r>
            <a:r>
              <a:rPr sz="2000" b="0" i="0" dirty="0">
                <a:solidFill>
                  <a:srgbClr val="5D7176"/>
                </a:solidFill>
                <a:latin typeface="Noto Sans"/>
              </a:rPr>
              <a:t>, built to measure the opening angle of the pair.</a:t>
            </a: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5FCD174C-C404-4CB0-A5A9-40208E71C135}"/>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8811002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50 volts: the starred point has moved down both panels, the blind band has retreated to 7.7 milliseconds, and the numbers read 5.5 per cent of the rate left and 78 per cent efficien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14.2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AC2E4F32-52F1-41BC-B688-F6564224991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8163718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descr="The same three panels at 540 volts, where we ran: blind for 5.0 milliseconds, the thermal point clear of the band, 9.5 per cent of the rate left and 69 per cent efficient."/>
          <p:cNvPicPr>
            <a:picLocks noChangeAspect="1"/>
          </p:cNvPicPr>
          <p:nvPr/>
        </p:nvPicPr>
        <p:blipFill>
          <a:blip r:embed="rId2"/>
          <a:stretch>
            <a:fillRect/>
          </a:stretch>
        </p:blipFill>
        <p:spPr>
          <a:xfrm>
            <a:off x="2976" y="1134788"/>
            <a:ext cx="12186047" cy="5451653"/>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14.3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1E608B2-63AD-4231-B077-21D8EF91C4E1}"/>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5637439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30 volts: blind for 2.4 milliseconds, 11.7 per cent of the rate left and 53 per cent efficient, the star now on the shoulder of the efficiency turn-on. The 540 volt edge stays on the axis behind it."/>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14.4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070B35DC-44EC-4994-9C82-7D58FA67FA1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993750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The environment</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nSpc>
                <a:spcPts val="3118"/>
              </a:lnSpc>
            </a:pPr>
            <a:r>
              <a:rPr sz="2783" b="1" i="0" spc="-28" dirty="0">
                <a:solidFill>
                  <a:srgbClr val="23373B"/>
                </a:solidFill>
                <a:latin typeface="Noto Sans Display"/>
              </a:rPr>
              <a:t>Every volt of gain costs milliseconds</a:t>
            </a:r>
            <a:r>
              <a:rPr lang="en-US" sz="2783" b="1" spc="-28" dirty="0">
                <a:solidFill>
                  <a:srgbClr val="23373B"/>
                </a:solidFill>
                <a:latin typeface="Noto Sans Display"/>
              </a:rPr>
              <a:t> of beam</a:t>
            </a:r>
            <a:endParaRPr sz="2783" b="1" i="0" spc="-28" dirty="0">
              <a:solidFill>
                <a:srgbClr val="23373B"/>
              </a:solidFill>
              <a:latin typeface="Noto Sans Display"/>
            </a:endParaRPr>
          </a:p>
        </p:txBody>
      </p:sp>
      <p:pic>
        <p:nvPicPr>
          <p:cNvPr id="7" name="Picture 6" descr="The same three panels at 520 volts: blind for 0.9 milliseconds, 13.0 per cent of the rate left and about 39 per cent efficient, a number read off the extrapolated part of the bench curve and marked as such. The whole MeV peak is still behind the band at every voltage."/>
          <p:cNvPicPr>
            <a:picLocks noChangeAspect="1"/>
          </p:cNvPicPr>
          <p:nvPr/>
        </p:nvPicPr>
        <p:blipFill>
          <a:blip r:embed="rId2"/>
          <a:stretch>
            <a:fillRect/>
          </a:stretch>
        </p:blipFill>
        <p:spPr>
          <a:xfrm>
            <a:off x="2976" y="1134788"/>
            <a:ext cx="12186047" cy="5451653"/>
          </a:xfrm>
          <a:prstGeom prst="rect">
            <a:avLst/>
          </a:prstGeom>
        </p:spPr>
      </p:pic>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14.5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B98F2D37-3C9A-4CBB-AC62-324A9F4CDD80}"/>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5262138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953000" y="22352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4953000" y="3606800"/>
            <a:ext cx="2286000" cy="5080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16000" y="2413000"/>
            <a:ext cx="10160000" cy="1066800"/>
          </a:xfrm>
          <a:prstGeom prst="rect">
            <a:avLst/>
          </a:prstGeom>
          <a:noFill/>
        </p:spPr>
        <p:txBody>
          <a:bodyPr wrap="square" lIns="0" tIns="0" rIns="0" bIns="0" anchor="ctr">
            <a:noAutofit/>
          </a:bodyPr>
          <a:lstStyle/>
          <a:p>
            <a:pPr algn="ctr">
              <a:spcBef>
                <a:spcPts val="0"/>
              </a:spcBef>
              <a:spcAft>
                <a:spcPts val="0"/>
              </a:spcAft>
            </a:pPr>
            <a:r>
              <a:rPr lang="en-US" sz="4320" b="1" i="0" spc="86" dirty="0">
                <a:solidFill>
                  <a:srgbClr val="23373B"/>
                </a:solidFill>
                <a:latin typeface="Noto Sans Display"/>
              </a:rPr>
              <a:t>Measurement </a:t>
            </a:r>
            <a:r>
              <a:rPr sz="4320" b="1" i="0" spc="86" dirty="0">
                <a:solidFill>
                  <a:srgbClr val="23373B"/>
                </a:solidFill>
                <a:latin typeface="Noto Sans Display"/>
              </a:rPr>
              <a:t>Status</a:t>
            </a:r>
          </a:p>
        </p:txBody>
      </p:sp>
      <p:sp>
        <p:nvSpPr>
          <p:cNvPr id="6" name="TextBox 5"/>
          <p:cNvSpPr txBox="1"/>
          <p:nvPr/>
        </p:nvSpPr>
        <p:spPr>
          <a:xfrm>
            <a:off x="2286000" y="3937000"/>
            <a:ext cx="7620000" cy="762000"/>
          </a:xfrm>
          <a:prstGeom prst="rect">
            <a:avLst/>
          </a:prstGeom>
          <a:noFill/>
        </p:spPr>
        <p:txBody>
          <a:bodyPr wrap="square" lIns="0" tIns="0" rIns="0" bIns="0" anchor="t">
            <a:noAutofit/>
          </a:bodyPr>
          <a:lstStyle/>
          <a:p>
            <a:pPr algn="ctr">
              <a:spcBef>
                <a:spcPts val="0"/>
              </a:spcBef>
              <a:spcAft>
                <a:spcPts val="0"/>
              </a:spcAft>
            </a:pPr>
            <a:r>
              <a:rPr sz="2000" b="0" i="0" dirty="0">
                <a:solidFill>
                  <a:srgbClr val="5D7176"/>
                </a:solidFill>
                <a:latin typeface="Noto Sans"/>
              </a:rPr>
              <a:t>What the campaign actually recorded, and </a:t>
            </a:r>
            <a:r>
              <a:rPr lang="en-US" sz="2000" b="0" i="0" dirty="0">
                <a:solidFill>
                  <a:srgbClr val="5D7176"/>
                </a:solidFill>
                <a:latin typeface="Noto Sans"/>
              </a:rPr>
              <a:t>the pro</a:t>
            </a:r>
            <a:r>
              <a:rPr lang="en-US" sz="2000" dirty="0">
                <a:solidFill>
                  <a:srgbClr val="5D7176"/>
                </a:solidFill>
                <a:latin typeface="Noto Sans"/>
              </a:rPr>
              <a:t>blems we faced</a:t>
            </a:r>
            <a:r>
              <a:rPr lang="en-US" sz="2000" b="0" i="0" dirty="0">
                <a:solidFill>
                  <a:srgbClr val="5D7176"/>
                </a:solidFill>
                <a:latin typeface="Noto Sans"/>
              </a:rPr>
              <a:t>.</a:t>
            </a:r>
            <a:endParaRPr sz="2000" b="0" i="0" dirty="0">
              <a:solidFill>
                <a:srgbClr val="5D7176"/>
              </a:solidFill>
              <a:latin typeface="Noto Sans"/>
            </a:endParaRPr>
          </a:p>
        </p:txBody>
      </p:sp>
      <p:sp>
        <p:nvSpPr>
          <p:cNvPr id="7" name="TextBox 6"/>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1" name="Rectangle 10">
            <a:extLst>
              <a:ext uri="{FF2B5EF4-FFF2-40B4-BE49-F238E27FC236}">
                <a16:creationId xmlns:a16="http://schemas.microsoft.com/office/drawing/2014/main" id="{3B5DC2F2-1AFC-4982-9DCE-64091872292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576883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Experiment timeline and statistics</a:t>
            </a:r>
            <a:endParaRPr sz="2783" b="1" i="0" spc="-28" dirty="0">
              <a:solidFill>
                <a:srgbClr val="23373B"/>
              </a:solidFill>
              <a:latin typeface="Noto Sans Display"/>
            </a:endParaRPr>
          </a:p>
        </p:txBody>
      </p:sp>
      <p:sp>
        <p:nvSpPr>
          <p:cNvPr id="8" name="TextBox 7"/>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9" name="TextBox 8"/>
          <p:cNvSpPr txBox="1"/>
          <p:nvPr/>
        </p:nvSpPr>
        <p:spPr>
          <a:xfrm>
            <a:off x="11209782" y="6633972"/>
            <a:ext cx="45262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10.1 / 18</a:t>
            </a:r>
            <a:endParaRPr sz="719" b="0" i="0" spc="58">
              <a:solidFill>
                <a:srgbClr val="5D7176"/>
              </a:solidFill>
              <a:latin typeface="Noto Sans"/>
            </a:endParaRPr>
          </a:p>
        </p:txBody>
      </p:sp>
      <p:sp>
        <p:nvSpPr>
          <p:cNvPr id="12" name="Rectangle 11">
            <a:extLst>
              <a:ext uri="{FF2B5EF4-FFF2-40B4-BE49-F238E27FC236}">
                <a16:creationId xmlns:a16="http://schemas.microsoft.com/office/drawing/2014/main" id="{8377104D-DFA7-468A-A358-B23AC8F66686}"/>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10" name="Picture 9">
            <a:extLst>
              <a:ext uri="{FF2B5EF4-FFF2-40B4-BE49-F238E27FC236}">
                <a16:creationId xmlns:a16="http://schemas.microsoft.com/office/drawing/2014/main" id="{FF5ABD93-717B-2B16-53AB-226F38283895}"/>
              </a:ext>
            </a:extLst>
          </p:cNvPr>
          <p:cNvPicPr>
            <a:picLocks noChangeAspect="1"/>
          </p:cNvPicPr>
          <p:nvPr/>
        </p:nvPicPr>
        <p:blipFill>
          <a:blip r:embed="rId2"/>
          <a:srcRect b="73247"/>
          <a:stretch>
            <a:fillRect/>
          </a:stretch>
        </p:blipFill>
        <p:spPr>
          <a:xfrm>
            <a:off x="0" y="1361818"/>
            <a:ext cx="12192000" cy="1106080"/>
          </a:xfrm>
          <a:prstGeom prst="rect">
            <a:avLst/>
          </a:prstGeom>
        </p:spPr>
      </p:pic>
    </p:spTree>
    <p:extLst>
      <p:ext uri="{BB962C8B-B14F-4D97-AF65-F5344CB8AC3E}">
        <p14:creationId xmlns:p14="http://schemas.microsoft.com/office/powerpoint/2010/main" val="29029269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50E85C-083B-79D1-1666-3BD9C873094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03691ED-1C71-7190-AB29-C43CD00BFFFC}"/>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8C286C4C-16AE-8CC8-1467-E85C56F4E1F5}"/>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Status · What we could measure</a:t>
            </a:r>
          </a:p>
        </p:txBody>
      </p:sp>
      <p:sp>
        <p:nvSpPr>
          <p:cNvPr id="5" name="Rectangle 4">
            <a:extLst>
              <a:ext uri="{FF2B5EF4-FFF2-40B4-BE49-F238E27FC236}">
                <a16:creationId xmlns:a16="http://schemas.microsoft.com/office/drawing/2014/main" id="{5B40BADC-C42D-EB74-739F-5E99CA4481FC}"/>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D90ED079-8A68-7B6C-034F-F6487CB3BE0C}"/>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lang="en-US" sz="2783" b="1" i="0" spc="-28" dirty="0">
                <a:solidFill>
                  <a:srgbClr val="23373B"/>
                </a:solidFill>
                <a:latin typeface="Noto Sans Display"/>
              </a:rPr>
              <a:t>What we expect at thermals -- aluminum</a:t>
            </a:r>
            <a:endParaRPr sz="2783" b="1" i="0" spc="-28" dirty="0">
              <a:solidFill>
                <a:srgbClr val="23373B"/>
              </a:solidFill>
              <a:latin typeface="Noto Sans Display"/>
            </a:endParaRPr>
          </a:p>
        </p:txBody>
      </p:sp>
      <p:sp>
        <p:nvSpPr>
          <p:cNvPr id="11" name="TextBox 10">
            <a:extLst>
              <a:ext uri="{FF2B5EF4-FFF2-40B4-BE49-F238E27FC236}">
                <a16:creationId xmlns:a16="http://schemas.microsoft.com/office/drawing/2014/main" id="{D0A7D0EA-59B7-2B7D-FE86-5090466BA726}"/>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2" name="TextBox 11">
            <a:extLst>
              <a:ext uri="{FF2B5EF4-FFF2-40B4-BE49-F238E27FC236}">
                <a16:creationId xmlns:a16="http://schemas.microsoft.com/office/drawing/2014/main" id="{DCF45A31-5D56-1F3B-933E-E17F5C85872C}"/>
              </a:ext>
            </a:extLst>
          </p:cNvPr>
          <p:cNvSpPr txBox="1"/>
          <p:nvPr/>
        </p:nvSpPr>
        <p:spPr>
          <a:xfrm>
            <a:off x="11301222" y="6633972"/>
            <a:ext cx="361188" cy="184404"/>
          </a:xfrm>
          <a:prstGeom prst="rect">
            <a:avLst/>
          </a:prstGeom>
          <a:noFill/>
        </p:spPr>
        <p:txBody>
          <a:bodyPr wrap="square" lIns="0" tIns="0" rIns="0" bIns="0" anchor="t">
            <a:noAutofit/>
          </a:bodyPr>
          <a:lstStyle/>
          <a:p>
            <a:pPr algn="r">
              <a:spcBef>
                <a:spcPts val="0"/>
              </a:spcBef>
              <a:spcAft>
                <a:spcPts val="0"/>
              </a:spcAft>
            </a:pPr>
            <a:r>
              <a:rPr lang="en-US" sz="719" b="0" i="0" spc="58">
                <a:solidFill>
                  <a:srgbClr val="5D7176"/>
                </a:solidFill>
                <a:latin typeface="Noto Sans"/>
              </a:rPr>
              <a:t>15 / 18</a:t>
            </a:r>
            <a:endParaRPr sz="719" b="0" i="0" spc="58">
              <a:solidFill>
                <a:srgbClr val="5D7176"/>
              </a:solidFill>
              <a:latin typeface="Noto Sans"/>
            </a:endParaRPr>
          </a:p>
        </p:txBody>
      </p:sp>
      <p:sp>
        <p:nvSpPr>
          <p:cNvPr id="13" name="Rectangle 12">
            <a:extLst>
              <a:ext uri="{FF2B5EF4-FFF2-40B4-BE49-F238E27FC236}">
                <a16:creationId xmlns:a16="http://schemas.microsoft.com/office/drawing/2014/main" id="{BA65AEDD-5B58-2765-5803-48FB7E347632}"/>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0FFB5D5C-472A-015F-A6EC-520F7D29095D}"/>
              </a:ext>
            </a:extLst>
          </p:cNvPr>
          <p:cNvSpPr txBox="1"/>
          <p:nvPr/>
        </p:nvSpPr>
        <p:spPr>
          <a:xfrm>
            <a:off x="1876926" y="2377440"/>
            <a:ext cx="4995512" cy="1477328"/>
          </a:xfrm>
          <a:prstGeom prst="rect">
            <a:avLst/>
          </a:prstGeom>
          <a:noFill/>
        </p:spPr>
        <p:txBody>
          <a:bodyPr wrap="square" rtlCol="0">
            <a:spAutoFit/>
          </a:bodyPr>
          <a:lstStyle/>
          <a:p>
            <a:r>
              <a:rPr lang="en-US" dirty="0"/>
              <a:t>Show the simulation of where our expected </a:t>
            </a:r>
            <a:r>
              <a:rPr lang="en-US" dirty="0" err="1"/>
              <a:t>e+e</a:t>
            </a:r>
            <a:r>
              <a:rPr lang="en-US" dirty="0"/>
              <a:t>- come from at thermal energies. Mostly aluminum</a:t>
            </a:r>
          </a:p>
          <a:p>
            <a:r>
              <a:rPr lang="en-US" dirty="0"/>
              <a:t>Show 3He branching ratio vs neutron energy</a:t>
            </a:r>
          </a:p>
          <a:p>
            <a:r>
              <a:rPr lang="en-US" dirty="0"/>
              <a:t>Show </a:t>
            </a:r>
            <a:r>
              <a:rPr lang="en-US" dirty="0" err="1"/>
              <a:t>e+e</a:t>
            </a:r>
            <a:r>
              <a:rPr lang="en-US" dirty="0"/>
              <a:t>- source breakdown</a:t>
            </a:r>
          </a:p>
          <a:p>
            <a:endParaRPr lang="en-US" dirty="0"/>
          </a:p>
        </p:txBody>
      </p:sp>
      <p:sp>
        <p:nvSpPr>
          <p:cNvPr id="9" name="TextBox 8">
            <a:extLst>
              <a:ext uri="{FF2B5EF4-FFF2-40B4-BE49-F238E27FC236}">
                <a16:creationId xmlns:a16="http://schemas.microsoft.com/office/drawing/2014/main" id="{D880686B-2DF9-4569-7452-45728E89D51B}"/>
              </a:ext>
            </a:extLst>
          </p:cNvPr>
          <p:cNvSpPr txBox="1"/>
          <p:nvPr/>
        </p:nvSpPr>
        <p:spPr>
          <a:xfrm>
            <a:off x="647029" y="1280906"/>
            <a:ext cx="10996389" cy="923330"/>
          </a:xfrm>
          <a:prstGeom prst="rect">
            <a:avLst/>
          </a:prstGeom>
          <a:noFill/>
        </p:spPr>
        <p:txBody>
          <a:bodyPr wrap="square" rtlCol="0">
            <a:spAutoFit/>
          </a:bodyPr>
          <a:lstStyle/>
          <a:p>
            <a:r>
              <a:rPr lang="en-US" dirty="0"/>
              <a:t>Realized in July after running Geant4 simulation that 3He self-shields at thermal energies and actually aluminum capture will dominate </a:t>
            </a:r>
            <a:r>
              <a:rPr lang="en-US" dirty="0" err="1"/>
              <a:t>e+e</a:t>
            </a:r>
            <a:r>
              <a:rPr lang="en-US" dirty="0"/>
              <a:t>- production.</a:t>
            </a:r>
          </a:p>
          <a:p>
            <a:r>
              <a:rPr lang="en-US" dirty="0"/>
              <a:t>Unfortunately, we don’t expect to see X17 or even 3He IPC, but aluminum gamma </a:t>
            </a:r>
            <a:r>
              <a:rPr lang="en-US" dirty="0">
                <a:sym typeface="Wingdings" panose="05000000000000000000" pitchFamily="2" charset="2"/>
              </a:rPr>
              <a:t> pair conversion</a:t>
            </a:r>
            <a:endParaRPr lang="en-US" dirty="0"/>
          </a:p>
        </p:txBody>
      </p:sp>
    </p:spTree>
    <p:extLst>
      <p:ext uri="{BB962C8B-B14F-4D97-AF65-F5344CB8AC3E}">
        <p14:creationId xmlns:p14="http://schemas.microsoft.com/office/powerpoint/2010/main" val="33664813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92FF49ED-8FCD-4D48-893F-64301E93530C}"/>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5" name="Picture 4">
            <a:extLst>
              <a:ext uri="{FF2B5EF4-FFF2-40B4-BE49-F238E27FC236}">
                <a16:creationId xmlns:a16="http://schemas.microsoft.com/office/drawing/2014/main" id="{5DCBFBF7-36C1-1271-2C88-2AF603B930C9}"/>
              </a:ext>
            </a:extLst>
          </p:cNvPr>
          <p:cNvPicPr>
            <a:picLocks noChangeAspect="1"/>
          </p:cNvPicPr>
          <p:nvPr/>
        </p:nvPicPr>
        <p:blipFill>
          <a:blip r:embed="rId2"/>
          <a:stretch>
            <a:fillRect/>
          </a:stretch>
        </p:blipFill>
        <p:spPr>
          <a:xfrm>
            <a:off x="647030" y="1395075"/>
            <a:ext cx="10887443" cy="4955072"/>
          </a:xfrm>
          <a:prstGeom prst="rect">
            <a:avLst/>
          </a:prstGeom>
        </p:spPr>
      </p:pic>
    </p:spTree>
    <p:extLst>
      <p:ext uri="{BB962C8B-B14F-4D97-AF65-F5344CB8AC3E}">
        <p14:creationId xmlns:p14="http://schemas.microsoft.com/office/powerpoint/2010/main" val="32659599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9D46D9-D77B-73A7-1591-3F17B0A257CC}"/>
            </a:ext>
          </a:extLst>
        </p:cNvPr>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6F451D2B-3128-EADE-B28E-88CCDF469DA8}"/>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a:extLst>
              <a:ext uri="{FF2B5EF4-FFF2-40B4-BE49-F238E27FC236}">
                <a16:creationId xmlns:a16="http://schemas.microsoft.com/office/drawing/2014/main" id="{02139AB0-BF65-1AA0-A089-5C78829B0189}"/>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425AE39-78F7-ED3F-54CC-1E7558E7725F}"/>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a:extLst>
              <a:ext uri="{FF2B5EF4-FFF2-40B4-BE49-F238E27FC236}">
                <a16:creationId xmlns:a16="http://schemas.microsoft.com/office/drawing/2014/main" id="{16A85E49-9F15-163F-4975-EF050D1212A3}"/>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6CABF0C3-A42E-4685-37A6-650871DF9EFE}"/>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sp>
        <p:nvSpPr>
          <p:cNvPr id="7" name="TextBox 6">
            <a:extLst>
              <a:ext uri="{FF2B5EF4-FFF2-40B4-BE49-F238E27FC236}">
                <a16:creationId xmlns:a16="http://schemas.microsoft.com/office/drawing/2014/main" id="{31D661BF-3888-71C9-FB30-CED985A6364B}"/>
              </a:ext>
            </a:extLst>
          </p:cNvPr>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Constructed Micromegas TPC</a:t>
            </a:r>
            <a:r>
              <a:rPr sz="2000" b="0" i="0" dirty="0">
                <a:solidFill>
                  <a:srgbClr val="23373B"/>
                </a:solidFill>
                <a:latin typeface="Noto Sans"/>
              </a:rPr>
              <a:t>s</a:t>
            </a:r>
            <a:r>
              <a:rPr lang="en-US" sz="2000" b="0" i="0" dirty="0">
                <a:solidFill>
                  <a:srgbClr val="23373B"/>
                </a:solidFill>
                <a:latin typeface="Noto Sans"/>
              </a:rPr>
              <a:t> which</a:t>
            </a:r>
            <a:r>
              <a:rPr sz="2000" b="0" i="0" dirty="0">
                <a:solidFill>
                  <a:srgbClr val="23373B"/>
                </a:solidFill>
                <a:latin typeface="Noto Sans"/>
              </a:rPr>
              <a:t> measure</a:t>
            </a:r>
            <a:r>
              <a:rPr lang="en-US" sz="2000" b="0" i="0" dirty="0">
                <a:solidFill>
                  <a:srgbClr val="23373B"/>
                </a:solidFill>
                <a:latin typeface="Noto Sans"/>
              </a:rPr>
              <a:t> </a:t>
            </a:r>
            <a:r>
              <a:rPr sz="2000" b="0" i="0" dirty="0">
                <a:solidFill>
                  <a:srgbClr val="23373B"/>
                </a:solidFill>
                <a:latin typeface="Noto Sans"/>
              </a:rPr>
              <a:t>track </a:t>
            </a:r>
            <a:r>
              <a:rPr lang="en-US" sz="2000" dirty="0">
                <a:solidFill>
                  <a:srgbClr val="23373B"/>
                </a:solidFill>
                <a:latin typeface="Noto Sans"/>
              </a:rPr>
              <a:t>angle </a:t>
            </a:r>
            <a:r>
              <a:rPr sz="2000" b="0" i="0" dirty="0">
                <a:solidFill>
                  <a:srgbClr val="23373B"/>
                </a:solidFill>
                <a:latin typeface="Noto Sans"/>
              </a:rPr>
              <a:t>to </a:t>
            </a:r>
            <a:r>
              <a:rPr sz="2000" b="1" i="0" dirty="0">
                <a:solidFill>
                  <a:srgbClr val="23373B"/>
                </a:solidFill>
                <a:latin typeface="Noto Sans"/>
              </a:rPr>
              <a:t>~1°</a:t>
            </a:r>
            <a:endParaRPr lang="en-US" sz="2000" b="1" i="0" dirty="0">
              <a:solidFill>
                <a:srgbClr val="23373B"/>
              </a:solidFill>
              <a:latin typeface="Noto Sans"/>
            </a:endParaRPr>
          </a:p>
          <a:p>
            <a:pPr marL="180975" indent="-180975">
              <a:lnSpc>
                <a:spcPct val="150000"/>
              </a:lnSpc>
              <a:buClr>
                <a:srgbClr val="EB811B"/>
              </a:buClr>
              <a:buFontTx/>
              <a:buChar char="▸"/>
            </a:pPr>
            <a:r>
              <a:rPr lang="en-US" sz="2000" dirty="0">
                <a:solidFill>
                  <a:srgbClr val="23373B"/>
                </a:solidFill>
                <a:latin typeface="Noto Sans"/>
              </a:rPr>
              <a:t>2026 X17 campaign at </a:t>
            </a:r>
            <a:r>
              <a:rPr lang="en-US" sz="2000" dirty="0" err="1">
                <a:solidFill>
                  <a:srgbClr val="23373B"/>
                </a:solidFill>
                <a:latin typeface="Noto Sans"/>
              </a:rPr>
              <a:t>n_TOF</a:t>
            </a:r>
            <a:r>
              <a:rPr lang="en-US" sz="2000" dirty="0">
                <a:solidFill>
                  <a:srgbClr val="23373B"/>
                </a:solidFill>
                <a:latin typeface="Noto Sans"/>
              </a:rPr>
              <a:t> EAR2 complete: </a:t>
            </a:r>
            <a:r>
              <a:rPr lang="en-US" sz="2000" b="1" dirty="0">
                <a:solidFill>
                  <a:srgbClr val="23373B"/>
                </a:solidFill>
                <a:latin typeface="Noto Sans"/>
              </a:rPr>
              <a:t>41.8 M events, 17.9 TB, 44 days</a:t>
            </a:r>
          </a:p>
          <a:p>
            <a:pPr marL="180975" indent="-180975">
              <a:lnSpc>
                <a:spcPct val="150000"/>
              </a:lnSpc>
              <a:buClr>
                <a:srgbClr val="EB811B"/>
              </a:buClr>
              <a:buFontTx/>
              <a:buChar char="▸"/>
            </a:pPr>
            <a:r>
              <a:rPr lang="en-US" sz="2000" b="1" dirty="0">
                <a:solidFill>
                  <a:srgbClr val="23373B"/>
                </a:solidFill>
                <a:latin typeface="Noto Sans"/>
              </a:rPr>
              <a:t>Thermal</a:t>
            </a:r>
            <a:r>
              <a:rPr lang="en-US" sz="2000" dirty="0">
                <a:solidFill>
                  <a:srgbClr val="23373B"/>
                </a:solidFill>
                <a:latin typeface="Noto Sans"/>
              </a:rPr>
              <a:t> window recorded</a:t>
            </a:r>
            <a:endParaRPr lang="en-US" sz="2000" b="1" dirty="0">
              <a:solidFill>
                <a:srgbClr val="23373B"/>
              </a:solidFill>
              <a:latin typeface="Noto Sans"/>
            </a:endParaRPr>
          </a:p>
        </p:txBody>
      </p:sp>
      <p:sp>
        <p:nvSpPr>
          <p:cNvPr id="14" name="TextBox 13">
            <a:extLst>
              <a:ext uri="{FF2B5EF4-FFF2-40B4-BE49-F238E27FC236}">
                <a16:creationId xmlns:a16="http://schemas.microsoft.com/office/drawing/2014/main" id="{3A72F3ED-F6C9-E4BE-4A6F-4EA2269C7DF5}"/>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a:extLst>
              <a:ext uri="{FF2B5EF4-FFF2-40B4-BE49-F238E27FC236}">
                <a16:creationId xmlns:a16="http://schemas.microsoft.com/office/drawing/2014/main" id="{ED9760A6-7103-2F4F-D574-C92F3C2C5DA2}"/>
              </a:ext>
            </a:extLst>
          </p:cNvPr>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18.1 / 18</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415A43D2-CF50-F82D-8A39-6419744ED437}"/>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6DA4694E-C16E-9582-ED7B-2E58FD2430F8}"/>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Tree>
    <p:extLst>
      <p:ext uri="{BB962C8B-B14F-4D97-AF65-F5344CB8AC3E}">
        <p14:creationId xmlns:p14="http://schemas.microsoft.com/office/powerpoint/2010/main" val="19062362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descr="Left: plan view of the four-chamber station around the He-3 capsule, drawn to scale, with a narrow pair landing in one chamber and a 110 degree pair landing in two, the opening angle marked. An arrow labelled 41.8 M events leads to the right: a log-scale opening-angle spectrum with a shaded merging cutoff below 3 degrees, the internal-pair-conversion background falling away as a one-chamber topology, the same background continuing flat as a two-chamber one, and a drawn X17 excess sitting on it above the 109 degree kinematic threshold.">
            <a:extLst>
              <a:ext uri="{FF2B5EF4-FFF2-40B4-BE49-F238E27FC236}">
                <a16:creationId xmlns:a16="http://schemas.microsoft.com/office/drawing/2014/main" id="{1D423E47-0C51-39EE-35CE-279655AE1DF6}"/>
              </a:ext>
            </a:extLst>
          </p:cNvPr>
          <p:cNvPicPr>
            <a:picLocks noChangeAspect="1"/>
          </p:cNvPicPr>
          <p:nvPr/>
        </p:nvPicPr>
        <p:blipFill>
          <a:blip r:embed="rId2"/>
          <a:stretch>
            <a:fillRect/>
          </a:stretch>
        </p:blipFill>
        <p:spPr>
          <a:xfrm>
            <a:off x="1452879" y="2810216"/>
            <a:ext cx="9286240" cy="3848902"/>
          </a:xfrm>
          <a:prstGeom prst="rect">
            <a:avLst/>
          </a:prstGeom>
        </p:spPr>
      </p:pic>
      <p:sp>
        <p:nvSpPr>
          <p:cNvPr id="3" name="Rectangle 2"/>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a:solidFill>
                  <a:srgbClr val="C66A0F"/>
                </a:solidFill>
                <a:latin typeface="Noto Sans"/>
              </a:rPr>
              <a:t>Summary</a:t>
            </a:r>
          </a:p>
        </p:txBody>
      </p:sp>
      <p:sp>
        <p:nvSpPr>
          <p:cNvPr id="5" name="Rectangle 4"/>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dirty="0">
                <a:solidFill>
                  <a:srgbClr val="23373B"/>
                </a:solidFill>
                <a:latin typeface="Noto Sans Display"/>
              </a:rPr>
              <a:t>Summary </a:t>
            </a:r>
            <a:r>
              <a:rPr lang="en-US" sz="2783" b="1" spc="-28" dirty="0">
                <a:solidFill>
                  <a:srgbClr val="23373B"/>
                </a:solidFill>
                <a:latin typeface="Noto Sans Display"/>
              </a:rPr>
              <a:t>and where we go from here</a:t>
            </a:r>
            <a:endParaRPr sz="2783" b="1" i="0" spc="-28" dirty="0">
              <a:solidFill>
                <a:srgbClr val="23373B"/>
              </a:solidFill>
              <a:latin typeface="Noto Sans Display"/>
            </a:endParaRPr>
          </a:p>
        </p:txBody>
      </p:sp>
      <p:sp>
        <p:nvSpPr>
          <p:cNvPr id="7" name="TextBox 6"/>
          <p:cNvSpPr txBox="1"/>
          <p:nvPr/>
        </p:nvSpPr>
        <p:spPr>
          <a:xfrm>
            <a:off x="549771" y="1130400"/>
            <a:ext cx="11112698" cy="1542603"/>
          </a:xfrm>
          <a:prstGeom prst="rect">
            <a:avLst/>
          </a:prstGeom>
          <a:noFill/>
        </p:spPr>
        <p:txBody>
          <a:bodyPr wrap="square" lIns="0" tIns="0" rIns="0" bIns="0" anchor="t">
            <a:noAutofit/>
          </a:bodyPr>
          <a:lstStyle/>
          <a:p>
            <a:pPr marL="180975" indent="-180975" algn="l">
              <a:lnSpc>
                <a:spcPct val="150000"/>
              </a:lnSpc>
              <a:spcBef>
                <a:spcPts val="0"/>
              </a:spcBef>
              <a:buClr>
                <a:srgbClr val="EB811B"/>
              </a:buClr>
              <a:buChar char="▸"/>
            </a:pPr>
            <a:r>
              <a:rPr lang="en-US" sz="2000" dirty="0">
                <a:solidFill>
                  <a:srgbClr val="23373B"/>
                </a:solidFill>
                <a:latin typeface="Noto Sans"/>
              </a:rPr>
              <a:t>Constructed Micromegas TPC</a:t>
            </a:r>
            <a:r>
              <a:rPr sz="2000" b="0" i="0" dirty="0">
                <a:solidFill>
                  <a:srgbClr val="23373B"/>
                </a:solidFill>
                <a:latin typeface="Noto Sans"/>
              </a:rPr>
              <a:t>s</a:t>
            </a:r>
            <a:r>
              <a:rPr lang="en-US" sz="2000" b="0" i="0" dirty="0">
                <a:solidFill>
                  <a:srgbClr val="23373B"/>
                </a:solidFill>
                <a:latin typeface="Noto Sans"/>
              </a:rPr>
              <a:t> which</a:t>
            </a:r>
            <a:r>
              <a:rPr sz="2000" b="0" i="0" dirty="0">
                <a:solidFill>
                  <a:srgbClr val="23373B"/>
                </a:solidFill>
                <a:latin typeface="Noto Sans"/>
              </a:rPr>
              <a:t> measure</a:t>
            </a:r>
            <a:r>
              <a:rPr lang="en-US" sz="2000" b="0" i="0" dirty="0">
                <a:solidFill>
                  <a:srgbClr val="23373B"/>
                </a:solidFill>
                <a:latin typeface="Noto Sans"/>
              </a:rPr>
              <a:t> </a:t>
            </a:r>
            <a:r>
              <a:rPr sz="2000" b="0" i="0" dirty="0">
                <a:solidFill>
                  <a:srgbClr val="23373B"/>
                </a:solidFill>
                <a:latin typeface="Noto Sans"/>
              </a:rPr>
              <a:t>track </a:t>
            </a:r>
            <a:r>
              <a:rPr lang="en-US" sz="2000" dirty="0">
                <a:solidFill>
                  <a:srgbClr val="23373B"/>
                </a:solidFill>
                <a:latin typeface="Noto Sans"/>
              </a:rPr>
              <a:t>angle </a:t>
            </a:r>
            <a:r>
              <a:rPr sz="2000" b="0" i="0" dirty="0">
                <a:solidFill>
                  <a:srgbClr val="23373B"/>
                </a:solidFill>
                <a:latin typeface="Noto Sans"/>
              </a:rPr>
              <a:t>to </a:t>
            </a:r>
            <a:r>
              <a:rPr sz="2000" b="1" i="0" dirty="0">
                <a:solidFill>
                  <a:srgbClr val="23373B"/>
                </a:solidFill>
                <a:latin typeface="Noto Sans"/>
              </a:rPr>
              <a:t>~1°</a:t>
            </a:r>
            <a:endParaRPr lang="en-US" sz="2000" b="1" i="0" dirty="0">
              <a:solidFill>
                <a:srgbClr val="23373B"/>
              </a:solidFill>
              <a:latin typeface="Noto Sans"/>
            </a:endParaRPr>
          </a:p>
          <a:p>
            <a:pPr marL="180975" indent="-180975">
              <a:lnSpc>
                <a:spcPct val="150000"/>
              </a:lnSpc>
              <a:buClr>
                <a:srgbClr val="EB811B"/>
              </a:buClr>
              <a:buFontTx/>
              <a:buChar char="▸"/>
            </a:pPr>
            <a:r>
              <a:rPr lang="en-US" sz="2000" dirty="0">
                <a:solidFill>
                  <a:srgbClr val="23373B"/>
                </a:solidFill>
                <a:latin typeface="Noto Sans"/>
              </a:rPr>
              <a:t>2026 X17 campaign at </a:t>
            </a:r>
            <a:r>
              <a:rPr lang="en-US" sz="2000" dirty="0" err="1">
                <a:solidFill>
                  <a:srgbClr val="23373B"/>
                </a:solidFill>
                <a:latin typeface="Noto Sans"/>
              </a:rPr>
              <a:t>n_TOF</a:t>
            </a:r>
            <a:r>
              <a:rPr lang="en-US" sz="2000" dirty="0">
                <a:solidFill>
                  <a:srgbClr val="23373B"/>
                </a:solidFill>
                <a:latin typeface="Noto Sans"/>
              </a:rPr>
              <a:t> EAR2 complete: </a:t>
            </a:r>
            <a:r>
              <a:rPr lang="en-US" sz="2000" b="1" dirty="0">
                <a:solidFill>
                  <a:srgbClr val="23373B"/>
                </a:solidFill>
                <a:latin typeface="Noto Sans"/>
              </a:rPr>
              <a:t>41.8 M events, 17.9 TB, 44 days</a:t>
            </a:r>
          </a:p>
          <a:p>
            <a:pPr marL="180975" indent="-180975">
              <a:lnSpc>
                <a:spcPct val="150000"/>
              </a:lnSpc>
              <a:buClr>
                <a:srgbClr val="EB811B"/>
              </a:buClr>
              <a:buFontTx/>
              <a:buChar char="▸"/>
            </a:pPr>
            <a:r>
              <a:rPr lang="en-US" sz="2000" b="1" dirty="0">
                <a:solidFill>
                  <a:srgbClr val="23373B"/>
                </a:solidFill>
                <a:latin typeface="Noto Sans"/>
              </a:rPr>
              <a:t>Thermal</a:t>
            </a:r>
            <a:r>
              <a:rPr lang="en-US" sz="2000" dirty="0">
                <a:solidFill>
                  <a:srgbClr val="23373B"/>
                </a:solidFill>
                <a:latin typeface="Noto Sans"/>
              </a:rPr>
              <a:t> window recorded</a:t>
            </a:r>
            <a:endParaRPr lang="en-US" sz="2000" b="1" dirty="0">
              <a:solidFill>
                <a:srgbClr val="23373B"/>
              </a:solidFill>
              <a:latin typeface="Noto Sans"/>
            </a:endParaRPr>
          </a:p>
        </p:txBody>
      </p:sp>
      <p:sp>
        <p:nvSpPr>
          <p:cNvPr id="14" name="TextBox 13"/>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5" name="TextBox 14"/>
          <p:cNvSpPr txBox="1"/>
          <p:nvPr/>
        </p:nvSpPr>
        <p:spPr>
          <a:xfrm>
            <a:off x="11301222" y="6633972"/>
            <a:ext cx="497488" cy="224028"/>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18.2 / 18</a:t>
            </a:r>
            <a:endParaRPr sz="719" b="0" i="0" spc="58" dirty="0">
              <a:solidFill>
                <a:srgbClr val="5D7176"/>
              </a:solidFill>
              <a:latin typeface="Noto Sans"/>
            </a:endParaRPr>
          </a:p>
        </p:txBody>
      </p:sp>
      <p:sp>
        <p:nvSpPr>
          <p:cNvPr id="17" name="Rectangle 16">
            <a:extLst>
              <a:ext uri="{FF2B5EF4-FFF2-40B4-BE49-F238E27FC236}">
                <a16:creationId xmlns:a16="http://schemas.microsoft.com/office/drawing/2014/main" id="{4A44078D-B4E2-4D84-9ED3-BE930660607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EC44307-A4AD-B271-F4A3-4559076E9FA9}"/>
              </a:ext>
            </a:extLst>
          </p:cNvPr>
          <p:cNvSpPr txBox="1"/>
          <p:nvPr/>
        </p:nvSpPr>
        <p:spPr>
          <a:xfrm>
            <a:off x="-65495" y="2593347"/>
            <a:ext cx="5197934" cy="400491"/>
          </a:xfrm>
          <a:prstGeom prst="rect">
            <a:avLst/>
          </a:prstGeom>
          <a:noFill/>
        </p:spPr>
        <p:txBody>
          <a:bodyPr wrap="square" lIns="0" tIns="0" rIns="0" bIns="0" anchor="t">
            <a:noAutofit/>
          </a:bodyPr>
          <a:lstStyle/>
          <a:p>
            <a:pPr algn="ctr">
              <a:spcBef>
                <a:spcPts val="0"/>
              </a:spcBef>
              <a:spcAft>
                <a:spcPts val="0"/>
              </a:spcAft>
            </a:pPr>
            <a:r>
              <a:rPr sz="2400" b="1" i="0" spc="-8" dirty="0">
                <a:solidFill>
                  <a:srgbClr val="C66A0F"/>
                </a:solidFill>
                <a:latin typeface="Noto Sans Display"/>
              </a:rPr>
              <a:t>Next steps for the analysis</a:t>
            </a:r>
          </a:p>
        </p:txBody>
      </p:sp>
      <p:sp>
        <p:nvSpPr>
          <p:cNvPr id="9" name="TextBox 8">
            <a:extLst>
              <a:ext uri="{FF2B5EF4-FFF2-40B4-BE49-F238E27FC236}">
                <a16:creationId xmlns:a16="http://schemas.microsoft.com/office/drawing/2014/main" id="{912C9066-C505-F09C-BEC7-8EED5ED26B1A}"/>
              </a:ext>
            </a:extLst>
          </p:cNvPr>
          <p:cNvSpPr txBox="1"/>
          <p:nvPr/>
        </p:nvSpPr>
        <p:spPr>
          <a:xfrm>
            <a:off x="548580" y="6209548"/>
            <a:ext cx="4511100" cy="275846"/>
          </a:xfrm>
          <a:prstGeom prst="rect">
            <a:avLst/>
          </a:prstGeom>
          <a:noFill/>
        </p:spPr>
        <p:txBody>
          <a:bodyPr wrap="square" lIns="0" tIns="0" rIns="0" bIns="0" anchor="t">
            <a:noAutofit/>
          </a:bodyPr>
          <a:lstStyle/>
          <a:p>
            <a:pPr algn="l">
              <a:spcBef>
                <a:spcPts val="0"/>
              </a:spcBef>
              <a:spcAft>
                <a:spcPts val="0"/>
              </a:spcAft>
            </a:pPr>
            <a:r>
              <a:rPr sz="2000" b="0" i="0" spc="25" dirty="0">
                <a:solidFill>
                  <a:srgbClr val="C66A0F"/>
                </a:solidFill>
                <a:latin typeface="Noto Sans SemiBold"/>
              </a:rPr>
              <a:t>Thank you</a:t>
            </a:r>
            <a:r>
              <a:rPr lang="en-US" sz="2000" b="0" i="0" spc="25" dirty="0">
                <a:solidFill>
                  <a:srgbClr val="C66A0F"/>
                </a:solidFill>
                <a:latin typeface="Noto Sans SemiBold"/>
              </a:rPr>
              <a:t>!</a:t>
            </a:r>
            <a:r>
              <a:rPr sz="2000" b="0" i="0" spc="25" dirty="0">
                <a:solidFill>
                  <a:srgbClr val="C66A0F"/>
                </a:solidFill>
                <a:latin typeface="Noto Sans SemiBold"/>
              </a:rPr>
              <a:t> </a:t>
            </a:r>
            <a:r>
              <a:rPr lang="en-US" sz="2000" b="0" i="0" spc="25" dirty="0">
                <a:solidFill>
                  <a:srgbClr val="C66A0F"/>
                </a:solidFill>
                <a:latin typeface="Noto Sans SemiBold"/>
              </a:rPr>
              <a:t>Q</a:t>
            </a:r>
            <a:r>
              <a:rPr sz="2000" b="0" i="0" spc="25" dirty="0">
                <a:solidFill>
                  <a:srgbClr val="C66A0F"/>
                </a:solidFill>
                <a:latin typeface="Noto Sans SemiBold"/>
              </a:rPr>
              <a:t>uestions</a:t>
            </a:r>
            <a:r>
              <a:rPr lang="en-US" sz="2000" b="0" i="0" spc="25" dirty="0">
                <a:solidFill>
                  <a:srgbClr val="C66A0F"/>
                </a:solidFill>
                <a:latin typeface="Noto Sans SemiBold"/>
              </a:rPr>
              <a:t>?</a:t>
            </a:r>
            <a:endParaRPr sz="2000" b="0" i="0" spc="25" dirty="0">
              <a:solidFill>
                <a:srgbClr val="C66A0F"/>
              </a:solidFill>
              <a:latin typeface="Noto Sans SemiBold"/>
            </a:endParaRPr>
          </a:p>
        </p:txBody>
      </p:sp>
    </p:spTree>
    <p:extLst>
      <p:ext uri="{BB962C8B-B14F-4D97-AF65-F5344CB8AC3E}">
        <p14:creationId xmlns:p14="http://schemas.microsoft.com/office/powerpoint/2010/main" val="19511984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D0F8FE-19F5-5C8F-15B0-4A95C4530C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6B789DE-422A-E66A-D99F-8C5F11F6A35E}"/>
              </a:ext>
            </a:extLst>
          </p:cNvPr>
          <p:cNvSpPr/>
          <p:nvPr/>
        </p:nvSpPr>
        <p:spPr>
          <a:xfrm>
            <a:off x="548580" y="425640"/>
            <a:ext cx="196900" cy="19050"/>
          </a:xfrm>
          <a:prstGeom prst="rect">
            <a:avLst/>
          </a:prstGeom>
          <a:solidFill>
            <a:srgbClr val="EB8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04DD19C1-F67D-0712-2C92-D3E67853D77D}"/>
              </a:ext>
            </a:extLst>
          </p:cNvPr>
          <p:cNvSpPr txBox="1"/>
          <p:nvPr/>
        </p:nvSpPr>
        <p:spPr>
          <a:xfrm>
            <a:off x="838140" y="365671"/>
            <a:ext cx="10824330" cy="200025"/>
          </a:xfrm>
          <a:prstGeom prst="rect">
            <a:avLst/>
          </a:prstGeom>
          <a:noFill/>
        </p:spPr>
        <p:txBody>
          <a:bodyPr wrap="square" lIns="0" tIns="0" rIns="0" bIns="0" anchor="t">
            <a:noAutofit/>
          </a:bodyPr>
          <a:lstStyle/>
          <a:p>
            <a:pPr algn="l">
              <a:spcBef>
                <a:spcPts val="0"/>
              </a:spcBef>
              <a:spcAft>
                <a:spcPts val="0"/>
              </a:spcAft>
            </a:pPr>
            <a:r>
              <a:rPr sz="912" b="1" i="0" cap="all" spc="182" dirty="0">
                <a:solidFill>
                  <a:srgbClr val="C66A0F"/>
                </a:solidFill>
                <a:latin typeface="Noto Sans"/>
              </a:rPr>
              <a:t>Status · </a:t>
            </a:r>
            <a:r>
              <a:rPr lang="en-US" sz="912" b="1" i="0" cap="all" spc="182" dirty="0">
                <a:solidFill>
                  <a:srgbClr val="C66A0F"/>
                </a:solidFill>
                <a:latin typeface="Noto Sans"/>
              </a:rPr>
              <a:t>Early </a:t>
            </a:r>
            <a:r>
              <a:rPr sz="912" b="1" i="0" cap="all" spc="182" dirty="0">
                <a:solidFill>
                  <a:srgbClr val="C66A0F"/>
                </a:solidFill>
                <a:latin typeface="Noto Sans"/>
              </a:rPr>
              <a:t>Reconstruction</a:t>
            </a:r>
            <a:r>
              <a:rPr lang="en-US" sz="912" b="1" i="0" cap="all" spc="182" dirty="0">
                <a:solidFill>
                  <a:srgbClr val="C66A0F"/>
                </a:solidFill>
                <a:latin typeface="Noto Sans"/>
              </a:rPr>
              <a:t> Results</a:t>
            </a:r>
            <a:endParaRPr sz="912" b="1" i="0" cap="all" spc="182" dirty="0">
              <a:solidFill>
                <a:srgbClr val="C66A0F"/>
              </a:solidFill>
              <a:latin typeface="Noto Sans"/>
            </a:endParaRPr>
          </a:p>
        </p:txBody>
      </p:sp>
      <p:sp>
        <p:nvSpPr>
          <p:cNvPr id="10" name="TextBox 9">
            <a:extLst>
              <a:ext uri="{FF2B5EF4-FFF2-40B4-BE49-F238E27FC236}">
                <a16:creationId xmlns:a16="http://schemas.microsoft.com/office/drawing/2014/main" id="{097349C7-2D66-F276-A9C6-9A2F418140E0}"/>
              </a:ext>
            </a:extLst>
          </p:cNvPr>
          <p:cNvSpPr txBox="1"/>
          <p:nvPr/>
        </p:nvSpPr>
        <p:spPr>
          <a:xfrm>
            <a:off x="9410700" y="165100"/>
            <a:ext cx="2235200" cy="330200"/>
          </a:xfrm>
          <a:prstGeom prst="rect">
            <a:avLst/>
          </a:prstGeom>
          <a:noFill/>
        </p:spPr>
        <p:txBody>
          <a:bodyPr wrap="square" lIns="0" tIns="0" rIns="0" bIns="0" anchor="ctr">
            <a:noAutofit/>
          </a:bodyPr>
          <a:lstStyle/>
          <a:p>
            <a:pPr algn="ctr">
              <a:spcBef>
                <a:spcPts val="0"/>
              </a:spcBef>
              <a:spcAft>
                <a:spcPts val="0"/>
              </a:spcAft>
            </a:pPr>
            <a:r>
              <a:rPr sz="1350" b="1" i="0" cap="all" spc="150">
                <a:solidFill>
                  <a:srgbClr val="FFFFFF"/>
                </a:solidFill>
                <a:latin typeface="Noto Sans"/>
              </a:rPr>
              <a:t>Work in progress</a:t>
            </a:r>
          </a:p>
        </p:txBody>
      </p:sp>
      <p:sp>
        <p:nvSpPr>
          <p:cNvPr id="11" name="Rectangle 10">
            <a:extLst>
              <a:ext uri="{FF2B5EF4-FFF2-40B4-BE49-F238E27FC236}">
                <a16:creationId xmlns:a16="http://schemas.microsoft.com/office/drawing/2014/main" id="{6EC11884-147E-1CAB-2CCB-8EEEA7D56FA5}"/>
              </a:ext>
            </a:extLst>
          </p:cNvPr>
          <p:cNvSpPr/>
          <p:nvPr/>
        </p:nvSpPr>
        <p:spPr>
          <a:xfrm>
            <a:off x="548580" y="1092200"/>
            <a:ext cx="11094839" cy="19050"/>
          </a:xfrm>
          <a:prstGeom prst="rect">
            <a:avLst/>
          </a:prstGeom>
          <a:solidFill>
            <a:srgbClr val="233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a:extLst>
              <a:ext uri="{FF2B5EF4-FFF2-40B4-BE49-F238E27FC236}">
                <a16:creationId xmlns:a16="http://schemas.microsoft.com/office/drawing/2014/main" id="{ED1F8E39-A731-4B11-585F-85D5298A1BB7}"/>
              </a:ext>
            </a:extLst>
          </p:cNvPr>
          <p:cNvSpPr txBox="1"/>
          <p:nvPr/>
        </p:nvSpPr>
        <p:spPr>
          <a:xfrm>
            <a:off x="548580" y="635000"/>
            <a:ext cx="11113889" cy="457200"/>
          </a:xfrm>
          <a:prstGeom prst="rect">
            <a:avLst/>
          </a:prstGeom>
          <a:noFill/>
        </p:spPr>
        <p:txBody>
          <a:bodyPr wrap="square" lIns="0" tIns="0" rIns="0" bIns="0" anchor="t">
            <a:noAutofit/>
          </a:bodyPr>
          <a:lstStyle/>
          <a:p>
            <a:pPr algn="l">
              <a:lnSpc>
                <a:spcPts val="3118"/>
              </a:lnSpc>
              <a:spcBef>
                <a:spcPts val="0"/>
              </a:spcBef>
              <a:spcAft>
                <a:spcPts val="0"/>
              </a:spcAft>
            </a:pPr>
            <a:r>
              <a:rPr sz="2783" b="1" i="0" spc="-28">
                <a:solidFill>
                  <a:srgbClr val="23373B"/>
                </a:solidFill>
                <a:latin typeface="Noto Sans Display"/>
              </a:rPr>
              <a:t>The angle a track arrives with says where it came from</a:t>
            </a:r>
          </a:p>
        </p:txBody>
      </p:sp>
      <p:sp>
        <p:nvSpPr>
          <p:cNvPr id="16" name="TextBox 15">
            <a:extLst>
              <a:ext uri="{FF2B5EF4-FFF2-40B4-BE49-F238E27FC236}">
                <a16:creationId xmlns:a16="http://schemas.microsoft.com/office/drawing/2014/main" id="{B9D13706-4210-DA94-4EC7-6B6E5943F6EE}"/>
              </a:ext>
            </a:extLst>
          </p:cNvPr>
          <p:cNvSpPr txBox="1"/>
          <p:nvPr/>
        </p:nvSpPr>
        <p:spPr>
          <a:xfrm>
            <a:off x="548640" y="6633972"/>
            <a:ext cx="11113770" cy="184404"/>
          </a:xfrm>
          <a:prstGeom prst="rect">
            <a:avLst/>
          </a:prstGeom>
          <a:noFill/>
        </p:spPr>
        <p:txBody>
          <a:bodyPr wrap="square" lIns="0" tIns="0" rIns="0" bIns="0" anchor="t">
            <a:noAutofit/>
          </a:bodyPr>
          <a:lstStyle/>
          <a:p>
            <a:pPr algn="l">
              <a:spcBef>
                <a:spcPts val="0"/>
              </a:spcBef>
              <a:spcAft>
                <a:spcPts val="0"/>
              </a:spcAft>
            </a:pPr>
            <a:r>
              <a:rPr sz="719" b="0" i="0" cap="all" spc="101">
                <a:solidFill>
                  <a:srgbClr val="5D7176"/>
                </a:solidFill>
                <a:latin typeface="Noto Sans"/>
              </a:rPr>
              <a:t>D. Neff · n_TOF Collaboration Meeting, Athens · 1 October 2026</a:t>
            </a:r>
          </a:p>
        </p:txBody>
      </p:sp>
      <p:sp>
        <p:nvSpPr>
          <p:cNvPr id="17" name="TextBox 16">
            <a:extLst>
              <a:ext uri="{FF2B5EF4-FFF2-40B4-BE49-F238E27FC236}">
                <a16:creationId xmlns:a16="http://schemas.microsoft.com/office/drawing/2014/main" id="{25F1049A-5F65-4AA2-1F7B-5E7F311BA77C}"/>
              </a:ext>
            </a:extLst>
          </p:cNvPr>
          <p:cNvSpPr txBox="1"/>
          <p:nvPr/>
        </p:nvSpPr>
        <p:spPr>
          <a:xfrm>
            <a:off x="11301221" y="6662516"/>
            <a:ext cx="536817" cy="155859"/>
          </a:xfrm>
          <a:prstGeom prst="rect">
            <a:avLst/>
          </a:prstGeom>
          <a:noFill/>
        </p:spPr>
        <p:txBody>
          <a:bodyPr wrap="square" lIns="0" tIns="0" rIns="0" bIns="0" anchor="t">
            <a:noAutofit/>
          </a:bodyPr>
          <a:lstStyle/>
          <a:p>
            <a:pPr algn="r">
              <a:spcBef>
                <a:spcPts val="0"/>
              </a:spcBef>
              <a:spcAft>
                <a:spcPts val="0"/>
              </a:spcAft>
            </a:pPr>
            <a:r>
              <a:rPr lang="en-US" sz="719" b="0" i="0" spc="58" dirty="0">
                <a:solidFill>
                  <a:srgbClr val="5D7176"/>
                </a:solidFill>
                <a:latin typeface="Noto Sans"/>
              </a:rPr>
              <a:t>16.1 / 18</a:t>
            </a:r>
            <a:endParaRPr sz="719" b="0" i="0" spc="58" dirty="0">
              <a:solidFill>
                <a:srgbClr val="5D7176"/>
              </a:solidFill>
              <a:latin typeface="Noto Sans"/>
            </a:endParaRPr>
          </a:p>
        </p:txBody>
      </p:sp>
      <p:sp>
        <p:nvSpPr>
          <p:cNvPr id="18" name="Rectangle 17">
            <a:extLst>
              <a:ext uri="{FF2B5EF4-FFF2-40B4-BE49-F238E27FC236}">
                <a16:creationId xmlns:a16="http://schemas.microsoft.com/office/drawing/2014/main" id="{464B8783-5F1A-2374-6FCB-1E953E4985CB}"/>
              </a:ext>
            </a:extLst>
          </p:cNvPr>
          <p:cNvSpPr/>
          <p:nvPr/>
        </p:nvSpPr>
        <p:spPr>
          <a:xfrm>
            <a:off x="546100" y="6553200"/>
            <a:ext cx="11099800" cy="12700"/>
          </a:xfrm>
          <a:prstGeom prst="rect">
            <a:avLst/>
          </a:prstGeom>
          <a:solidFill>
            <a:srgbClr val="D3DAD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6" name="Picture 5" descr="Left: an overhead schematic of one chamber 235 mm from the beam axis, with three rays from the He-3 capsule reaching the strip plane at different positions, showing that the arrival angle is fixed by the position through tan theta = u over L. Right: a two-dimensional histogram of reconstructed tan theta against track position on the strip plane for arm A, with a dashed line at tan theta = u over 235 mm; the tracks form a band along that line.">
            <a:extLst>
              <a:ext uri="{FF2B5EF4-FFF2-40B4-BE49-F238E27FC236}">
                <a16:creationId xmlns:a16="http://schemas.microsoft.com/office/drawing/2014/main" id="{5946211C-30B3-22F9-FBFC-E78067C1C10D}"/>
              </a:ext>
            </a:extLst>
          </p:cNvPr>
          <p:cNvPicPr>
            <a:picLocks noChangeAspect="1"/>
          </p:cNvPicPr>
          <p:nvPr/>
        </p:nvPicPr>
        <p:blipFill>
          <a:blip r:embed="rId2"/>
          <a:srcRect r="61333"/>
          <a:stretch>
            <a:fillRect/>
          </a:stretch>
        </p:blipFill>
        <p:spPr>
          <a:xfrm>
            <a:off x="1" y="1134054"/>
            <a:ext cx="4714239" cy="5479550"/>
          </a:xfrm>
          <a:prstGeom prst="rect">
            <a:avLst/>
          </a:prstGeom>
        </p:spPr>
      </p:pic>
    </p:spTree>
    <p:extLst>
      <p:ext uri="{BB962C8B-B14F-4D97-AF65-F5344CB8AC3E}">
        <p14:creationId xmlns:p14="http://schemas.microsoft.com/office/powerpoint/2010/main" val="2228894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CB26F43-5AE9-4885-94F1-1374B2E6531E}">
  <we:reference id="WA200010725" version="1.0.0.1" store="Omex" storeType="OMEX"/>
  <we:alternateReferences>
    <we:reference id="WA200010725" version="1.0.0.1" store="WA200010725" storeType="OMEX"/>
  </we:alternateReferences>
  <we:properties>
    <we:property name="claude.fileId" value="&quot;645bd3e5-971b-41b2-bead-e2655b2c2cf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2598</TotalTime>
  <Words>6382</Words>
  <Application>Microsoft Office PowerPoint</Application>
  <PresentationFormat>Widescreen</PresentationFormat>
  <Paragraphs>657</Paragraphs>
  <Slides>93</Slides>
  <Notes>0</Notes>
  <HiddenSlides>13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93</vt:i4>
      </vt:variant>
    </vt:vector>
  </HeadingPairs>
  <TitlesOfParts>
    <vt:vector size="103" baseType="lpstr">
      <vt:lpstr>Arial</vt:lpstr>
      <vt:lpstr>Calibri</vt:lpstr>
      <vt:lpstr>Comic Sans MS</vt:lpstr>
      <vt:lpstr>Noto Sans</vt:lpstr>
      <vt:lpstr>Noto Sans Display</vt:lpstr>
      <vt:lpstr>Noto Sans Display SemiBold</vt:lpstr>
      <vt:lpstr>Noto Sans Mono</vt:lpstr>
      <vt:lpstr>Noto Sans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Dylan Neff</cp:lastModifiedBy>
  <cp:revision>49</cp:revision>
  <dcterms:created xsi:type="dcterms:W3CDTF">2013-01-27T09:14:16Z</dcterms:created>
  <dcterms:modified xsi:type="dcterms:W3CDTF">2026-10-01T08:45:18Z</dcterms:modified>
  <cp:category/>
</cp:coreProperties>
</file>