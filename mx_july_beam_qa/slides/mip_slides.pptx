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8"/>
    <p:sldId id="264" r:id="rId7"/>
    <p:sldId id="265" r:id="rId6"/>
    <p:sldId id="266" r:id="rId19"/>
    <p:sldId id="267" r:id="rId20"/>
    <p:sldId id="268" r:id="rId21"/>
    <p:sldId id="269" r:id="rId22"/>
  </p:sldIdLst>
  <p:sldSz cy="6858000" cx="1218895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font" Target="fonts/Average-regular.fntdata"/><Relationship Id="rId17" Type="http://schemas.openxmlformats.org/officeDocument/2006/relationships/font" Target="fonts/Oswald-regular.fntdata"/><Relationship Id="rId18" Type="http://schemas.openxmlformats.org/officeDocument/2006/relationships/font" Target="fonts/Oswald-bold.fntdata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5799073" y="3807170"/>
            <a:ext cx="591336" cy="140843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894786" y="1321067"/>
            <a:ext cx="10399500" cy="23067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894776" y="4233168"/>
            <a:ext cx="10399500" cy="1056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94776" y="2855000"/>
            <a:ext cx="10467000" cy="1148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Physics">
  <p:cSld name="TITLE_AND_TWO_COLUMNS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5"/>
          <p:cNvSpPr txBox="1"/>
          <p:nvPr/>
        </p:nvSpPr>
        <p:spPr>
          <a:xfrm>
            <a:off x="11731752" y="6528816"/>
            <a:ext cx="52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/ 26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0" y="6537900"/>
            <a:ext cx="165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3/24/2026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31" name="Google Shape;31;p5"/>
          <p:cNvCxnSpPr/>
          <p:nvPr/>
        </p:nvCxnSpPr>
        <p:spPr>
          <a:xfrm>
            <a:off x="0" y="6565392"/>
            <a:ext cx="12189000" cy="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/>
          <p:nvPr/>
        </p:nvSpPr>
        <p:spPr>
          <a:xfrm>
            <a:off x="53750" y="850399"/>
            <a:ext cx="7391400" cy="267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979800" y="6528825"/>
            <a:ext cx="422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Dylan Neff – n_TOF Analysis Meeting March 2026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hysics">
  <p:cSld name="TITLE_AND_TWO_COLUMNS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73746" y="3047255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11731752" y="6528816"/>
            <a:ext cx="52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/ 26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0" y="6537900"/>
            <a:ext cx="165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3</a:t>
            </a: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/24/2026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39" name="Google Shape;39;p6"/>
          <p:cNvCxnSpPr/>
          <p:nvPr/>
        </p:nvCxnSpPr>
        <p:spPr>
          <a:xfrm>
            <a:off x="0" y="6565392"/>
            <a:ext cx="12189000" cy="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" name="Google Shape;40;p6"/>
          <p:cNvSpPr txBox="1"/>
          <p:nvPr/>
        </p:nvSpPr>
        <p:spPr>
          <a:xfrm>
            <a:off x="3979800" y="6528825"/>
            <a:ext cx="422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Dylan Neff – n_TOF Analysis Meeting March 2026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15496" y="740800"/>
            <a:ext cx="3743100" cy="10077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415496" y="1852800"/>
            <a:ext cx="3743100" cy="4239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653503" y="701800"/>
            <a:ext cx="8300700" cy="54543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/>
        </p:nvSpPr>
        <p:spPr>
          <a:xfrm>
            <a:off x="6094475" y="0"/>
            <a:ext cx="60945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10"/>
          <p:cNvCxnSpPr/>
          <p:nvPr/>
        </p:nvCxnSpPr>
        <p:spPr>
          <a:xfrm>
            <a:off x="6704556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10"/>
          <p:cNvSpPr txBox="1"/>
          <p:nvPr>
            <p:ph type="title"/>
          </p:nvPr>
        </p:nvSpPr>
        <p:spPr>
          <a:xfrm>
            <a:off x="353911" y="1441867"/>
            <a:ext cx="5392200" cy="22803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" name="Google Shape;55;p10"/>
          <p:cNvSpPr txBox="1"/>
          <p:nvPr>
            <p:ph idx="1" type="subTitle"/>
          </p:nvPr>
        </p:nvSpPr>
        <p:spPr>
          <a:xfrm>
            <a:off x="353911" y="3793601"/>
            <a:ext cx="5392200" cy="1794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2" type="body"/>
          </p:nvPr>
        </p:nvSpPr>
        <p:spPr>
          <a:xfrm>
            <a:off x="6584352" y="965600"/>
            <a:ext cx="5114700" cy="49269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15496" y="5640767"/>
            <a:ext cx="7996500" cy="806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hasCustomPrompt="1" type="title"/>
          </p:nvPr>
        </p:nvSpPr>
        <p:spPr>
          <a:xfrm>
            <a:off x="415496" y="1673700"/>
            <a:ext cx="11358000" cy="25209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415496" y="4304567"/>
            <a:ext cx="11358000" cy="1734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609126" y="272880"/>
            <a:ext cx="10969672" cy="530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609126" y="272880"/>
            <a:ext cx="10969672" cy="114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609126" y="1604160"/>
            <a:ext cx="10969672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indent="-228600" lvl="1" marL="9144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verage"/>
              <a:buChar char="●"/>
              <a:defRPr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492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○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492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■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492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●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492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○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492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■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492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●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492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○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492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■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121875" spcFirstLastPara="1" rIns="0" wrap="square" tIns="0">
            <a:noAutofit/>
          </a:bodyPr>
          <a:lstStyle>
            <a:lvl1pPr lvl="0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SiPM Wall MIP Calibration from Wall–Plastic Coincidences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n_TOF EAR2 X17 — run 224404 (first beam data, July 15)</a:t>
            </a:r>
          </a:p>
          <a:p>
            <a:r>
              <a:t>Dylan Neff — July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selection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Official processed file, run 224404: 3792 bunches (1471 dedicated), ~300M hits</a:t>
            </a:r>
          </a:p>
          <a:p>
            <a:pPr/>
            <a:r>
              <a:t>Per-channel ADC→mV from DAQ settings (≈0.0305 mV/count)</a:t>
            </a:r>
          </a:p>
          <a:p>
            <a:pPr/>
            <a:r>
              <a:t>SiPM walls delivered NO data for 46% of beam-on bunches (643–2212) — plastics unaffected; hardware cause TBD with DAQ crew</a:t>
            </a:r>
          </a:p>
          <a:p>
            <a:pPr/>
            <a:r>
              <a:t>All results: post-recovery bunches, hits &gt;0.1 ms after γ-flash (highest coincidence purity)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Method: coincidences with sideband subtraction</a:t>
            </a:r>
          </a:p>
        </p:txBody>
      </p:sp>
      <p:pic>
        <p:nvPicPr>
          <p:cNvPr id="3" name="Picture 2" descr="sideband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27" y="1051560"/>
            <a:ext cx="866569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arm pairs wall ↔ plastic cleanly</a:t>
            </a:r>
          </a:p>
        </p:txBody>
      </p:sp>
      <p:pic>
        <p:nvPicPr>
          <p:cNvPr id="3" name="Picture 2" descr="d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556" y="1051560"/>
            <a:ext cx="633984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Peaks at −8 to −18 ns, rms 1.5–3.5 ns; per-channel offsets now a stored calibration (calib/time_offsets_run224404.json).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Geometry confirmed in data</a:t>
            </a:r>
          </a:p>
        </p:txBody>
      </p:sp>
      <p:pic>
        <p:nvPicPr>
          <p:cNvPr id="3" name="Picture 2" descr="wall_geometry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76" y="105156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Top/bottom blocks (1,2)(3,4)(5,6)(7,8) per 4-bar group; groups ordered left→right across the two bars. Corner hotspots ⇒ A–D and B–C are ADJACENT arms. Odd=top is an assumption — need cabling sheet.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Headline: SiPM-wall MIP peaks on arms B and C</a:t>
            </a:r>
          </a:p>
        </p:txBody>
      </p:sp>
      <p:pic>
        <p:nvPicPr>
          <p:cNvPr id="3" name="Picture 2" descr="mip_wall_spectra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1051560"/>
            <a:ext cx="11429999" cy="2920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Sideband-subtracted coincidence spectra. B/C: clean MIP peaks, 29–39 mV, all 16 channels ⇒ per-channel calibration. A/D: no MIP population (later slides).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Coincidence selection performs exactly as intended (B/C)</a:t>
            </a:r>
          </a:p>
        </p:txBody>
      </p:sp>
      <p:pic>
        <p:nvPicPr>
          <p:cNvPr id="3" name="Picture 2" descr="inclusive_vs_coinc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81" y="1051560"/>
            <a:ext cx="952119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Physics note: the plastic is at the BACK of the stack ⇒ the coincidence is a through-going (MIP) selection for the wall, but only a hit selection for the plastic — plastic spectra are NOT MIP spectra.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A/D problem — cause still open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A/D: 6–8× fewer true coincidences; coincident spectrum just traces the inclusive shape — no MIP bump</a:t>
            </a:r>
          </a:p>
          <a:p>
            <a:pPr/>
            <a:r>
              <a:t>Hypotheses: plastic response misses MIPs / wall SiPM gain low / geometry, absorption or flux composition</a:t>
            </a:r>
          </a:p>
          <a:p>
            <a:pPr/>
            <a:r>
              <a:t>Inclusive plastic medians agree within ±30% across all 8 PMTs (DL highest) ⇒ large plastic-gain deficit unlikely</a:t>
            </a:r>
          </a:p>
          <a:p>
            <a:pPr/>
            <a:r>
              <a:t>Wall-only top–bottom check (backup slide): SiPM response healthy on all four arms — MIP-scale deposits present everywhere</a:t>
            </a:r>
          </a:p>
          <a:p>
            <a:pPr lvl="1"/>
            <a:r>
              <a:t>but top &amp; bottom view the SAME bars, so a single gamma/Compton deposit also fires both ends — this does NOT prove a through-going flux, nor pin the blame on the plastic</a:t>
            </a:r>
          </a:p>
          <a:p>
            <a:pPr/>
            <a:r>
              <a:t>Discriminating follow-ups: pre-flash cosmic sample (guaranteed through-going muons), LIQ readout, plastic HV scan</a:t>
            </a:r>
          </a:p>
        </p:txBody>
      </p:sp>
      <p:pic>
        <p:nvPicPr>
          <p:cNvPr id="5" name="Picture 4" descr="mip_wall_spectra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36633"/>
            <a:ext cx="7069592" cy="18066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Plastic PMT relative gains &amp; HV suggestions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94560" y="1143000"/>
          <a:ext cx="7772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46736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HV [V]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med_inc [mV]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rel.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V (equalize)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V (2×)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PSSA1 (AL)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1528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PSSA2 (AR)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1422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PSSB1 (BL)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1478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PSSB2 (BR)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1425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PSSC1 (CL)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1429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PSSC2 (CR)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1419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PSSD1 (DL)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1389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PSSD2 (DR)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G ∝ V^7 assumed — request a 2-point HV scan to calibrate before trusting shifts &gt;25 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vs coincidence-selected plastic spectra (per PMT)</a:t>
            </a:r>
          </a:p>
        </p:txBody>
      </p:sp>
      <p:pic>
        <p:nvPicPr>
          <p:cNvPr id="3" name="Picture 2" descr="pmt_raw_vs_coi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51" y="1051560"/>
            <a:ext cx="1068705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READ OUT THE LIQUID SCINTILLATORS (behind the plastic on A/D): wall+LIQ coincidence requires passage through the plastic ⇒ true plastic MIP calibration. Only LIQA/LIQD cabled, no data</a:t>
            </a:r>
          </a:p>
          <a:p>
            <a:pPr/>
            <a:r>
              <a:t>Plastic HV scan (2 points) → apply gain equalization</a:t>
            </a:r>
          </a:p>
          <a:p>
            <a:pPr/>
            <a:r>
              <a:t>Cabling confirmations: top/bottom card assignment; which 4 of 20 wall bars unread; physical arm positions A–D; stack config per arm</a:t>
            </a:r>
          </a:p>
          <a:p>
            <a:pPr/>
            <a:r>
              <a:t>DAQ follow-up on the SiPM-wall outage (bunches 643–2212)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wall-only top–bottom coincidences</a:t>
            </a:r>
          </a:p>
        </p:txBody>
      </p:sp>
      <p:pic>
        <p:nvPicPr>
          <p:cNvPr id="3" name="Picture 2" descr="wall_topbot_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1051560"/>
            <a:ext cx="11429999" cy="2920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Top &amp; bottom SiPMs read the SAME 4-bar group, so any real energy deposit (through-going MIP, stopping e±, or a gamma Compton-scattering in the bars) lights both ends in tight coincidence — this removes noise, not physics backgrounds.  What it shows: SiPM response and gain are healthy on all four arms (MIP-scale bump 25–40 mV everywhere), and it provides an amplitude landmark for all 32 channels.  What it cannot show: whether particles traverse onward to the back plastic — so the A/D coincidence deficit remains unattributed (plastic response, absorption between wall and plastic, or flux composition).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window scan &amp; purity</a:t>
            </a:r>
          </a:p>
        </p:txBody>
      </p:sp>
      <p:pic>
        <p:nvPicPr>
          <p:cNvPr id="3" name="Picture 2" descr="window_scan_regions_WALC_PS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1051560"/>
            <a:ext cx="11430000" cy="32146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rate stability (wall outage)</a:t>
            </a:r>
          </a:p>
        </p:txBody>
      </p:sp>
      <p:pic>
        <p:nvPicPr>
          <p:cNvPr id="3" name="Picture 2" descr="rate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" y="1051560"/>
            <a:ext cx="1090422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_Physics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