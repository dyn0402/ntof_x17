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MX17 chambers (experiment labels A–E = serials mx17_3, _2, _6, _7, _4) were characterized identically with cosmic muons against an independent reference tracker. All numbers preliminary; position resolutions still include the reference telescope's small pointing error (conservative).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Bench stack (bottom to top, to scale): 60x60 cm trigger scintillator, two 50x50 cm M3 reference Micromegas, the two MX17 test slots, two more M3 planes, and the top 60x60 cm scintillator. The four M3 planes reconstruct each cosmic muon independently of the chamber under test; the scintillator coincidence (~5 ns) triggers readout and provides the absolute time reference. Efficiency = fraction of reference tracks with a reconstructed X+Y hit within 5 mm at the chamber plane; muons with no detector response stay in the denominator. Alignment converged sub-mm for every chamber.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Electrons freed deeper in the 30 mm drift gap arrive later at the mesh (drift velocity 34 µm/ns at the nominal field), so each strip's pulse time is a depth coordinate. A straight-line fit through (strip position, drift time) points gives the muon's angle from a single chamber — no external tracker. This 'micro-TPC' operation is what delivers the angular and timing performance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events from detector A, drawn from the raw data. Each marker is one strip signal at its strip position (horizontal) and drift time / depth (vertical), colored by pulse amplitude; the overlaid line is the track fitted from this chamber's own data. Individual per-event displays (X and Y planes, several angles) are in event_displays/ as separate PNG/PDF files.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the X and Y strip planes together: each strip signal's drift time becomes a depth, so the charge cloud traces the muon's path through the 30 mm gas gap (circle = X plane, square = Y plane; color = amplitude). The green line is the INDEPENDENT M3 telescope track extrapolated into the chamber — it runs straight through the charge cloud (match 0.3 mm here), a direct 3-D check that both the reconstruction and the alignment are right. On resolution: across the full sample the chamber-vs-reference match is centered at zero (no misalignment: mean residual &lt;10 um in both axes) with a 0.6-0.8 mm per-axis core, so a typical event sits ~0.8 mm off in 2-D radial distance (a positive quantity — that is just what 0.7 mm/axis looks like as a distance); the events shown here were picked near the tight end to show the geometry cleanly. Any fanning of the raw per-strip ladder away from the line with depth is the resistive-strip charge-sharing angle bias (removed before angles are quoted), not a position error. A 2x2 gallery across angles (figures/08) and turntable GIFs (event_displays_3d/) are in the package.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DREAM waveforms for one inclined muon (pedestal and common-mode subtracted): the diagonal charge stripe across the channel-vs-time plane is the muon track; its slope is the drift-time ladder used for the angle measurement. This is the rawest possible view of the detector working.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Detector A, 22.3k reference muons (2026-07-14 recipe: χ²&lt;1.0, NClus=4): 92.9 ± 0.2 % reconstructed within 5 mm over the full active area — the operating number, with the 3.9 % in-spark coincidence folded in; ~96 % in the core (&gt;25 mm from the frame — the outer band is the fringe-field region present in any bounded drift volume, pre-recipe-change figure). Crucially, the chamber produces a signal for essentially 100 % of muons and a track point for 96.0 % — genuine blindness is effectively 0 %. The loss off 92.9 % is a 3.9 % spark coincidence (self-quenching, no dead time after) plus a 3.1 % edge/near-miss position tail that sits just past the 5 mm cut — loosening the match recovers still more of it. Not dead area.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Residuals of detector A hits vs the reference telescope: Gaussian core σ = 0.61/0.73 mm (X/Y) on this run; the best position estimator reaches 0.47/0.54 mm for near-vertical muons — below the 0.78 mm strip pitch. Sub-pitch is possible because the resistive layer shares ~half the avalanche charge with neighbouring strips, acting as an analog interpolator: a deliberate design feature paying off. All values still include the telescope's own pointing error, so the true detector resolution is better.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tracking (the current-best method): for inclined tracks the drift-time ladder (after the charge-sharing 'unsharing' correction); for near-vertical tracks — where the time ladder has no lever arm — the shape of the charge deposit itself. Result: uniform σ68 ≈ 1.7° at ALL angles (1.66° near-vertical, 1.84° plateau), 97–98 % of tracks usable, ~0.1° residual bias. Right plot is the honest ablation: the SAME method with the head-on step switched off ('high-angle-only') matches the hybrid above ~5° — it's the same estimator there — and only rises, to ~5°, on near-vertical tracks (where a drift-time fit has no lever arm and covers just ~51 % of them). The same reconstruction transferred untouched to detector B gives 2.7° vs 2.3° retrained — a design property, not tuning. Bonus: the fit also returns the drift velocity, so the chambers monitor their own gas in situ.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X and Y strip layers sit under one amplification stage and time the same drifting electrons, so their time difference is a pure self-measurement of the chamber's timing: σt = 33 ns per plane (29 ns after time-walk correction), ≈ 1 mm of drift — matching the transverse resolution, i.e. the chamber is not timing-limited. Against the scintillator trigger the absolute event time is σ68 = 37.7 ns, detector-dominated. Replicated on detector B within ~10 %.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Amplification-voltage scan of detector A (450–525 V, drift 1000 V): efficiency plateaus at ~93 % around 490–495 V then rolls off — while the fraction of events with any signal stays at ~100 % and the spark fraction (right axis) climbs sharply exactly where efficiency dies. High-HV loss is spark-induced reconstruction failure, not a quiet detector. Optima: A 490–495 V, B 485–490 V, C 480 V, D 440 V — chamber-to-chamber optima differ by ~50 V, so each chamber gets its own operating 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waveforms: a spark is a fast common-mode baseline step across the whole front-end that recovers within the 1.9 µs readout window (94 % fully recovered); the genuine localized charge is confined to ~40–56 strips at one edge. It is NOT a propagating streamer — the onset is simultaneous across all 512 channels. This is the resistive-Micromegas spark-protection signature seen directly in raw data. Sparks are Poisson in time (0.33 Hz at A's operating point — random, no bursts), mostly muon-induced (4× enhancement), and edge-seeded.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dead-time null measurement on detector A (and D): DAQ event spacing after a spark is unchanged; reconstruction efficiency AND gas gain are flat vs time since the previous spark. The only spark-related loss is the muon that coincides with the discharge itself — already inside the quoted efficiency. The resistive protection scheme imposes no recovery-time ceiling on operation. For a construction talk this is the strongest single message: the protection design works, verified down to the raw waveforms.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pixelated resistive top layer routes avalanche charge to both strip layers — measured: X/Y charge split narrow (σ68 ≈ 0.07), centred at 0.491 (A) / 0.534 (B), constant across position and angle; X–Y charge correlation r ≈ 0.84–0.89. The ~0.04 chamber-to-chamber offset is an assembly-level effect; the constancy is the design metric. Right: resistive charge sharing measured from vertical tracks — first neighbour carries ~45–52 % with ~70 ns delay, identical on both chambers measured → a design property. It must be corrected for timing ('unsharing'), and it is exactly what buys sub-pitch position resolution.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measured drift velocity vs field matches simulation (Magboltz) for Ar/iso 95/5 with ~1 % water — the chambers identify their own gas condition from data (detector A visibly dried from &gt;3 % to ~1 % H2O over the week). Right: signal amplitude decays with drift DISTANCE, not time — curves at all drift voltages collapse onto one exponential (λ ≈ 18 mm), the fingerprint of electron attachment on oxygen from ~1 % air. Lesson for construction/operation: gas tightness and flushing matter — water sets the speed, oxygen eats the signal — and both are monitorable in situ.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Identical method on all five (2026-07-14 recipe). A and B: excellent — high uniform efficiency at sub-mm resolution, and everywhere both were probed deeply they agree (evidence the performance is the design, not luck). C and D reconstruct with the same sub-mm quality when they fire (C's 0.45 mm core is the best in the fleet) but ran at 23–33 % spark fraction at their June operating points — an operating-point effect, recoverable, not broken chambers. E fires on ~70 % of muons but its clusters are too small to reconstruct (gas gain issue — HV/threshold/gas — not a dead detector). Bottom bars: A's loss budget vs D's — same 'fires on everything' behaviour, very different discharge cost.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one-page reference for the reference chamber (mx17_3) at its June operating point (amplification 490 V, drift 1000 V). Every number is measured against independently reconstructed cosmic-muon reference tracks. Efficiency is the operating value (in-spark coincidences folded in): spark-free it is 96.6 %, and ~96 % in the core away from the fringe-field edge. Position and angle include the reference telescope's own error, so they are conservative. Full provenance and the fine print are in report/main.pdf.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measurements on all five chambers, at their best June runs (2026-07-14 recipe). A and B (drift 1000 V) are the healthy reference pair; C and D (drift 700 V) reconstruct with the same sub-mm quality when they fire but lost 23–33 % of crossings to sparking at their June operating points — an operating-point effect, not broken chambers. E fires on ~70 % of muons but its clusters are too small to reconstruct (gas-gain issue). Efficiency is within 5 mm of the reference track over the full active area; position σ includes the telescope; angle σ68 is the hybrid tracker (|θ|&lt;5° band, holdout), run fleet-wide. Amplification-HV optima come from the dedicated HV scans (drift 1000 V for A/B, 700 V for C/D).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Caveats to attach when quoting: (1) preliminary, June 2026 bench campaign; (2) position resolutions are detector⊕telescope, not yet deconvolved → conservative; (3) cosmic muons at the listed gas/HV; (4) C/D/E numbers reflect their June operating points, HV scans indicate better is available. Full details: report/main.pdf and source_reports/ in this package.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737360"/>
            <a:ext cx="10728655" cy="2011680"/>
          </a:xfrm>
          <a:prstGeom prst="rect">
            <a:avLst/>
          </a:prstGeom>
          <a:noFill/>
        </p:spPr>
        <p:txBody>
          <a:bodyPr wrap="none">
            <a:spAutoFit/>
          </a:bodyPr>
          <a:lstStyle/>
          <a:p>
            <a:pPr>
              <a:defRPr sz="3800" b="1">
                <a:solidFill>
                  <a:srgbClr val="2E598C"/>
                </a:solidFill>
              </a:defRPr>
            </a:pPr>
            <a:r>
              <a:t>The MX17 Micromegas detectors under cosmic muons</a:t>
            </a:r>
          </a:p>
          <a:p>
            <a:pPr>
              <a:defRPr sz="2200">
                <a:solidFill>
                  <a:srgbClr val="5A5A5A"/>
                </a:solidFill>
              </a:defRPr>
            </a:pPr>
            <a:r>
              <a:t>Performance summary from the June 2026 cosmic test bench (Saclay)</a:t>
            </a:r>
          </a:p>
        </p:txBody>
      </p:sp>
      <p:sp>
        <p:nvSpPr>
          <p:cNvPr id="3" name="TextBox 2"/>
          <p:cNvSpPr txBox="1"/>
          <p:nvPr/>
        </p:nvSpPr>
        <p:spPr>
          <a:xfrm>
            <a:off x="822960" y="3840480"/>
            <a:ext cx="10545775" cy="2194560"/>
          </a:xfrm>
          <a:prstGeom prst="rect">
            <a:avLst/>
          </a:prstGeom>
          <a:noFill/>
        </p:spPr>
        <p:txBody>
          <a:bodyPr wrap="square">
            <a:spAutoFit/>
          </a:bodyPr>
          <a:lstStyle/>
          <a:p>
            <a:pPr>
              <a:spcAft>
                <a:spcPts val="600"/>
              </a:spcAft>
              <a:defRPr sz="1800">
                <a:solidFill>
                  <a:srgbClr val="212121"/>
                </a:solidFill>
              </a:defRPr>
            </a:pPr>
            <a:r>
              <a:t>• ~96 % muon detection efficiency in the chamber core</a:t>
            </a:r>
          </a:p>
          <a:p>
            <a:pPr>
              <a:spcAft>
                <a:spcPts val="600"/>
              </a:spcAft>
              <a:defRPr sz="1800">
                <a:solidFill>
                  <a:srgbClr val="212121"/>
                </a:solidFill>
              </a:defRPr>
            </a:pPr>
            <a:r>
              <a:t>• 0.47 mm position resolution — better than the 0.78 mm strip pitch</a:t>
            </a:r>
          </a:p>
          <a:p>
            <a:pPr>
              <a:spcAft>
                <a:spcPts val="600"/>
              </a:spcAft>
              <a:defRPr sz="1800">
                <a:solidFill>
                  <a:srgbClr val="212121"/>
                </a:solidFill>
              </a:defRPr>
            </a:pPr>
            <a:r>
              <a:t>• ~1.7° track angle and 33 ns event time from a single chamber (micro-TPC)</a:t>
            </a:r>
          </a:p>
          <a:p>
            <a:pPr>
              <a:spcAft>
                <a:spcPts val="600"/>
              </a:spcAft>
              <a:defRPr sz="1800">
                <a:solidFill>
                  <a:srgbClr val="212121"/>
                </a:solidFill>
              </a:defRPr>
            </a:pPr>
            <a:r>
              <a:t>• Resistive spark protection verified: discharges self-quench, zero dead time</a:t>
            </a:r>
          </a:p>
        </p:txBody>
      </p:sp>
      <p:sp>
        <p:nvSpPr>
          <p:cNvPr id="4" name="TextBox 3"/>
          <p:cNvSpPr txBox="1"/>
          <p:nvPr/>
        </p:nvSpPr>
        <p:spPr>
          <a:xfrm>
            <a:off x="411480" y="6473952"/>
            <a:ext cx="11368735" cy="292608"/>
          </a:xfrm>
          <a:prstGeom prst="rect">
            <a:avLst/>
          </a:prstGeom>
          <a:noFill/>
        </p:spPr>
        <p:txBody>
          <a:bodyPr wrap="none">
            <a:spAutoFit/>
          </a:bodyPr>
          <a:lstStyle/>
          <a:p>
            <a:pPr>
              <a:defRPr sz="1000">
                <a:solidFill>
                  <a:srgbClr val="5A5A5A"/>
                </a:solidFill>
              </a:defRPr>
            </a:pPr>
            <a:r>
              <a:t>Preliminary — June 2026 cosmic-bench campaign. Speaker-note details on every 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How they were tested: the cosmic bench</a:t>
            </a:r>
          </a:p>
        </p:txBody>
      </p:sp>
      <p:sp>
        <p:nvSpPr>
          <p:cNvPr id="3" name="TextBox 2"/>
          <p:cNvSpPr txBox="1"/>
          <p:nvPr/>
        </p:nvSpPr>
        <p:spPr>
          <a:xfrm>
            <a:off x="411480" y="1234440"/>
            <a:ext cx="6035040" cy="4114800"/>
          </a:xfrm>
          <a:prstGeom prst="rect">
            <a:avLst/>
          </a:prstGeom>
          <a:noFill/>
        </p:spPr>
        <p:txBody>
          <a:bodyPr wrap="square">
            <a:spAutoFit/>
          </a:bodyPr>
          <a:lstStyle/>
          <a:p>
            <a:pPr>
              <a:spcAft>
                <a:spcPts val="600"/>
              </a:spcAft>
              <a:defRPr sz="1600">
                <a:solidFill>
                  <a:srgbClr val="212121"/>
                </a:solidFill>
              </a:defRPr>
            </a:pPr>
            <a:r>
              <a:t>• Every muon is measured twice: by a reference telescope and by the chamber under test</a:t>
            </a:r>
          </a:p>
          <a:p>
            <a:pPr>
              <a:spcAft>
                <a:spcPts val="600"/>
              </a:spcAft>
              <a:defRPr sz="1600">
                <a:solidFill>
                  <a:srgbClr val="212121"/>
                </a:solidFill>
              </a:defRPr>
            </a:pPr>
            <a:r>
              <a:t>• Trigger: scintillator-paddle coincidence (also the absolute time reference)</a:t>
            </a:r>
          </a:p>
          <a:p>
            <a:pPr>
              <a:spcAft>
                <a:spcPts val="600"/>
              </a:spcAft>
              <a:defRPr sz="1600">
                <a:solidFill>
                  <a:srgbClr val="212121"/>
                </a:solidFill>
              </a:defRPr>
            </a:pPr>
            <a:r>
              <a:t>• Efficiency: reconstructed hit within 5 mm of the reference track — no hidden normalization</a:t>
            </a:r>
          </a:p>
          <a:p>
            <a:pPr>
              <a:spcAft>
                <a:spcPts val="600"/>
              </a:spcAft>
              <a:defRPr sz="1600">
                <a:solidFill>
                  <a:srgbClr val="212121"/>
                </a:solidFill>
              </a:defRPr>
            </a:pPr>
            <a:r>
              <a:t>• 52,000 clean reference muons on the headline run; all 5 chambers, same method</a:t>
            </a:r>
          </a:p>
          <a:p>
            <a:pPr>
              <a:spcAft>
                <a:spcPts val="600"/>
              </a:spcAft>
              <a:defRPr sz="1600">
                <a:solidFill>
                  <a:srgbClr val="212121"/>
                </a:solidFill>
              </a:defRPr>
            </a:pPr>
            <a:r>
              <a:t>• As operated: Ar/isobutane 95/5, drift 1000 V over 30 mm, amplification 440–490 V,</a:t>
            </a:r>
          </a:p>
          <a:p>
            <a:pPr lvl="1">
              <a:spcAft>
                <a:spcPts val="600"/>
              </a:spcAft>
              <a:defRPr sz="1400">
                <a:solidFill>
                  <a:srgbClr val="5A5A5A"/>
                </a:solidFill>
              </a:defRPr>
            </a:pPr>
            <a:r>
              <a:t>– DREAM readout: full waveform per strip, 60 ns sampling</a:t>
            </a:r>
          </a:p>
        </p:txBody>
      </p:sp>
      <p:pic>
        <p:nvPicPr>
          <p:cNvPr id="4" name="Picture 3" descr="00-cosmic-bench-schematic.png"/>
          <p:cNvPicPr>
            <a:picLocks noChangeAspect="1"/>
          </p:cNvPicPr>
          <p:nvPr/>
        </p:nvPicPr>
        <p:blipFill>
          <a:blip r:embed="rId3"/>
          <a:stretch>
            <a:fillRect/>
          </a:stretch>
        </p:blipFill>
        <p:spPr>
          <a:xfrm>
            <a:off x="7059168" y="960120"/>
            <a:ext cx="4352544" cy="5440680"/>
          </a:xfrm>
          <a:prstGeom prst="rect">
            <a:avLst/>
          </a:prstGeom>
        </p:spPr>
      </p:pic>
      <p:sp>
        <p:nvSpPr>
          <p:cNvPr id="5" name="TextBox 4"/>
          <p:cNvSpPr txBox="1"/>
          <p:nvPr/>
        </p:nvSpPr>
        <p:spPr>
          <a:xfrm>
            <a:off x="411480" y="6473952"/>
            <a:ext cx="11368735" cy="292608"/>
          </a:xfrm>
          <a:prstGeom prst="rect">
            <a:avLst/>
          </a:prstGeom>
          <a:noFill/>
        </p:spPr>
        <p:txBody>
          <a:bodyPr wrap="none">
            <a:spAutoFit/>
          </a:bodyPr>
          <a:lstStyle/>
          <a:p>
            <a:pPr>
              <a:defRPr sz="1000">
                <a:solidFill>
                  <a:srgbClr val="5A5A5A"/>
                </a:solidFill>
              </a:defRPr>
            </a:pPr>
            <a:r>
              <a:t>Detector letters: A=mx17_3, B=mx17_2, C=mx17_6, D=mx17_7, E=mx17_4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One 30 mm gap makes each chamber a tiny TPC</a:t>
            </a:r>
          </a:p>
        </p:txBody>
      </p:sp>
      <p:sp>
        <p:nvSpPr>
          <p:cNvPr id="3" name="TextBox 2"/>
          <p:cNvSpPr txBox="1"/>
          <p:nvPr/>
        </p:nvSpPr>
        <p:spPr>
          <a:xfrm>
            <a:off x="411480" y="1188720"/>
            <a:ext cx="4023360" cy="3657600"/>
          </a:xfrm>
          <a:prstGeom prst="rect">
            <a:avLst/>
          </a:prstGeom>
          <a:noFill/>
        </p:spPr>
        <p:txBody>
          <a:bodyPr wrap="square">
            <a:spAutoFit/>
          </a:bodyPr>
          <a:lstStyle/>
          <a:p>
            <a:pPr>
              <a:spcAft>
                <a:spcPts val="600"/>
              </a:spcAft>
              <a:defRPr sz="1600">
                <a:solidFill>
                  <a:srgbClr val="212121"/>
                </a:solidFill>
              </a:defRPr>
            </a:pPr>
            <a:r>
              <a:t>• Drift time = depth: 30 mm gap maps onto ~0.9 µs of arrival times</a:t>
            </a:r>
          </a:p>
          <a:p>
            <a:pPr>
              <a:spcAft>
                <a:spcPts val="600"/>
              </a:spcAft>
              <a:defRPr sz="1600">
                <a:solidFill>
                  <a:srgbClr val="212121"/>
                </a:solidFill>
              </a:defRPr>
            </a:pPr>
            <a:r>
              <a:t>• Each fired strip gives a 3D point; the line fit gives the track angle</a:t>
            </a:r>
          </a:p>
          <a:p>
            <a:pPr>
              <a:spcAft>
                <a:spcPts val="600"/>
              </a:spcAft>
              <a:defRPr sz="1600">
                <a:solidFill>
                  <a:srgbClr val="212121"/>
                </a:solidFill>
              </a:defRPr>
            </a:pPr>
            <a:r>
              <a:t>• A single chamber measures position, direction, and time</a:t>
            </a:r>
          </a:p>
        </p:txBody>
      </p:sp>
      <p:pic>
        <p:nvPicPr>
          <p:cNvPr id="4" name="Picture 3" descr="02-microtpc-principle-schematic.png"/>
          <p:cNvPicPr>
            <a:picLocks noChangeAspect="1"/>
          </p:cNvPicPr>
          <p:nvPr/>
        </p:nvPicPr>
        <p:blipFill>
          <a:blip r:embed="rId3"/>
          <a:stretch>
            <a:fillRect/>
          </a:stretch>
        </p:blipFill>
        <p:spPr>
          <a:xfrm>
            <a:off x="4572000" y="1996588"/>
            <a:ext cx="7223760" cy="336774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What a cosmic muon looks like in the chamber</a:t>
            </a:r>
          </a:p>
        </p:txBody>
      </p:sp>
      <p:pic>
        <p:nvPicPr>
          <p:cNvPr id="3" name="Picture 2" descr="event_display_gallery.png"/>
          <p:cNvPicPr>
            <a:picLocks noChangeAspect="1"/>
          </p:cNvPicPr>
          <p:nvPr/>
        </p:nvPicPr>
        <p:blipFill>
          <a:blip r:embed="rId3"/>
          <a:stretch>
            <a:fillRect/>
          </a:stretch>
        </p:blipFill>
        <p:spPr>
          <a:xfrm>
            <a:off x="1369734" y="960120"/>
            <a:ext cx="9452227" cy="54406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The same muon in 3-D — with the reference track through it</a:t>
            </a:r>
          </a:p>
        </p:txBody>
      </p:sp>
      <p:pic>
        <p:nvPicPr>
          <p:cNvPr id="3" name="Picture 2" descr="07-det3A-event-3d-display.png"/>
          <p:cNvPicPr>
            <a:picLocks noChangeAspect="1"/>
          </p:cNvPicPr>
          <p:nvPr/>
        </p:nvPicPr>
        <p:blipFill>
          <a:blip r:embed="rId3"/>
          <a:stretch>
            <a:fillRect/>
          </a:stretch>
        </p:blipFill>
        <p:spPr>
          <a:xfrm>
            <a:off x="2850301" y="960120"/>
            <a:ext cx="6491092" cy="5440680"/>
          </a:xfrm>
          <a:prstGeom prst="rect">
            <a:avLst/>
          </a:prstGeom>
        </p:spPr>
      </p:pic>
      <p:sp>
        <p:nvSpPr>
          <p:cNvPr id="4" name="TextBox 3"/>
          <p:cNvSpPr txBox="1"/>
          <p:nvPr/>
        </p:nvSpPr>
        <p:spPr>
          <a:xfrm>
            <a:off x="411480" y="6473952"/>
            <a:ext cx="11368735" cy="292608"/>
          </a:xfrm>
          <a:prstGeom prst="rect">
            <a:avLst/>
          </a:prstGeom>
          <a:noFill/>
        </p:spPr>
        <p:txBody>
          <a:bodyPr wrap="none">
            <a:spAutoFit/>
          </a:bodyPr>
          <a:lstStyle/>
          <a:p>
            <a:pPr>
              <a:defRPr sz="1000">
                <a:solidFill>
                  <a:srgbClr val="5A5A5A"/>
                </a:solidFill>
              </a:defRPr>
            </a:pPr>
            <a:r>
              <a:t>Detector A (mx17_3), event 25066 · reference track = M3 telescope, independent of the chamber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The raw signal: a muon crossing, as the electronics see it</a:t>
            </a:r>
          </a:p>
        </p:txBody>
      </p:sp>
      <p:pic>
        <p:nvPicPr>
          <p:cNvPr id="3" name="Picture 2" descr="event_display_waveforms.png"/>
          <p:cNvPicPr>
            <a:picLocks noChangeAspect="1"/>
          </p:cNvPicPr>
          <p:nvPr/>
        </p:nvPicPr>
        <p:blipFill>
          <a:blip r:embed="rId3"/>
          <a:stretch>
            <a:fillRect/>
          </a:stretch>
        </p:blipFill>
        <p:spPr>
          <a:xfrm>
            <a:off x="2168495" y="960120"/>
            <a:ext cx="7854704" cy="54406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Efficiency: 92.9 % overall, ~96 % in the core, never blind</a:t>
            </a:r>
          </a:p>
        </p:txBody>
      </p:sp>
      <p:sp>
        <p:nvSpPr>
          <p:cNvPr id="3" name="TextBox 2"/>
          <p:cNvSpPr txBox="1"/>
          <p:nvPr/>
        </p:nvSpPr>
        <p:spPr>
          <a:xfrm>
            <a:off x="411480" y="1097280"/>
            <a:ext cx="3931920" cy="3291840"/>
          </a:xfrm>
          <a:prstGeom prst="rect">
            <a:avLst/>
          </a:prstGeom>
          <a:noFill/>
        </p:spPr>
        <p:txBody>
          <a:bodyPr wrap="square">
            <a:spAutoFit/>
          </a:bodyPr>
          <a:lstStyle/>
          <a:p>
            <a:pPr>
              <a:spcAft>
                <a:spcPts val="600"/>
              </a:spcAft>
              <a:defRPr sz="1600">
                <a:solidFill>
                  <a:srgbClr val="212121"/>
                </a:solidFill>
              </a:defRPr>
            </a:pPr>
            <a:r>
              <a:t>• 92.9 % within 5 mm over the full area; ~96 % in the core</a:t>
            </a:r>
          </a:p>
          <a:p>
            <a:pPr>
              <a:spcAft>
                <a:spcPts val="600"/>
              </a:spcAft>
              <a:defRPr sz="1600">
                <a:solidFill>
                  <a:srgbClr val="212121"/>
                </a:solidFill>
              </a:defRPr>
            </a:pPr>
            <a:r>
              <a:t>• Signal on ~100 % of muons, a track point on 96.0 % — genuine blindness is ~0 %</a:t>
            </a:r>
          </a:p>
          <a:p>
            <a:pPr>
              <a:spcAft>
                <a:spcPts val="600"/>
              </a:spcAft>
              <a:defRPr sz="1600">
                <a:solidFill>
                  <a:srgbClr val="212121"/>
                </a:solidFill>
              </a:defRPr>
            </a:pPr>
            <a:r>
              <a:t>• Loss = a spark coincidence (3.9 %) + an edge/near-miss position tail (3.1 %), not dead area</a:t>
            </a:r>
          </a:p>
        </p:txBody>
      </p:sp>
      <p:pic>
        <p:nvPicPr>
          <p:cNvPr id="4" name="Picture 3" descr="20-det3A-efficiency-map.png"/>
          <p:cNvPicPr>
            <a:picLocks noChangeAspect="1"/>
          </p:cNvPicPr>
          <p:nvPr/>
        </p:nvPicPr>
        <p:blipFill>
          <a:blip r:embed="rId3"/>
          <a:stretch>
            <a:fillRect/>
          </a:stretch>
        </p:blipFill>
        <p:spPr>
          <a:xfrm>
            <a:off x="4480560" y="1400181"/>
            <a:ext cx="7315200" cy="2411717"/>
          </a:xfrm>
          <a:prstGeom prst="rect">
            <a:avLst/>
          </a:prstGeom>
        </p:spPr>
      </p:pic>
      <p:pic>
        <p:nvPicPr>
          <p:cNvPr id="5" name="Picture 4" descr="21-det3A-efficiency-breakdown.png"/>
          <p:cNvPicPr>
            <a:picLocks noChangeAspect="1"/>
          </p:cNvPicPr>
          <p:nvPr/>
        </p:nvPicPr>
        <p:blipFill>
          <a:blip r:embed="rId4"/>
          <a:stretch>
            <a:fillRect/>
          </a:stretch>
        </p:blipFill>
        <p:spPr>
          <a:xfrm>
            <a:off x="3711102" y="4434840"/>
            <a:ext cx="4739315" cy="1920240"/>
          </a:xfrm>
          <a:prstGeom prst="rect">
            <a:avLst/>
          </a:prstGeom>
        </p:spPr>
      </p:pic>
      <p:sp>
        <p:nvSpPr>
          <p:cNvPr id="6" name="TextBox 5"/>
          <p:cNvSpPr txBox="1"/>
          <p:nvPr/>
        </p:nvSpPr>
        <p:spPr>
          <a:xfrm>
            <a:off x="411480" y="6473952"/>
            <a:ext cx="11368735" cy="292608"/>
          </a:xfrm>
          <a:prstGeom prst="rect">
            <a:avLst/>
          </a:prstGeom>
          <a:noFill/>
        </p:spPr>
        <p:txBody>
          <a:bodyPr wrap="none">
            <a:spAutoFit/>
          </a:bodyPr>
          <a:lstStyle/>
          <a:p>
            <a:pPr>
              <a:defRPr sz="1000">
                <a:solidFill>
                  <a:srgbClr val="5A5A5A"/>
                </a:solidFill>
              </a:defRPr>
            </a:pPr>
            <a:r>
              <a:t>Detector A (mx17_3), weekend headline run, 490 V / 1000 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Position resolution: better than the strip pitch</a:t>
            </a:r>
          </a:p>
        </p:txBody>
      </p:sp>
      <p:sp>
        <p:nvSpPr>
          <p:cNvPr id="3" name="TextBox 2"/>
          <p:cNvSpPr txBox="1"/>
          <p:nvPr/>
        </p:nvSpPr>
        <p:spPr>
          <a:xfrm>
            <a:off x="411480" y="1188720"/>
            <a:ext cx="3840480" cy="3291840"/>
          </a:xfrm>
          <a:prstGeom prst="rect">
            <a:avLst/>
          </a:prstGeom>
          <a:noFill/>
        </p:spPr>
        <p:txBody>
          <a:bodyPr wrap="square">
            <a:spAutoFit/>
          </a:bodyPr>
          <a:lstStyle/>
          <a:p>
            <a:pPr>
              <a:spcAft>
                <a:spcPts val="600"/>
              </a:spcAft>
              <a:defRPr sz="1600">
                <a:solidFill>
                  <a:srgbClr val="212121"/>
                </a:solidFill>
              </a:defRPr>
            </a:pPr>
            <a:r>
              <a:t>• σ ≈ 0.47 mm at best — below the 0.78 mm strip pitch</a:t>
            </a:r>
          </a:p>
          <a:p>
            <a:pPr>
              <a:spcAft>
                <a:spcPts val="600"/>
              </a:spcAft>
              <a:defRPr sz="1600">
                <a:solidFill>
                  <a:srgbClr val="212121"/>
                </a:solidFill>
              </a:defRPr>
            </a:pPr>
            <a:r>
              <a:t>• Resistive charge sharing = built-in analog interpolation between strips</a:t>
            </a:r>
          </a:p>
          <a:p>
            <a:pPr>
              <a:spcAft>
                <a:spcPts val="600"/>
              </a:spcAft>
              <a:defRPr sz="1600">
                <a:solidFill>
                  <a:srgbClr val="212121"/>
                </a:solidFill>
              </a:defRPr>
            </a:pPr>
            <a:r>
              <a:t>• Telescope error still included → these are conservative numbers</a:t>
            </a:r>
          </a:p>
        </p:txBody>
      </p:sp>
      <p:pic>
        <p:nvPicPr>
          <p:cNvPr id="4" name="Picture 3" descr="10-det3A-spatial-residuals.png"/>
          <p:cNvPicPr>
            <a:picLocks noChangeAspect="1"/>
          </p:cNvPicPr>
          <p:nvPr/>
        </p:nvPicPr>
        <p:blipFill>
          <a:blip r:embed="rId3"/>
          <a:stretch>
            <a:fillRect/>
          </a:stretch>
        </p:blipFill>
        <p:spPr>
          <a:xfrm>
            <a:off x="4389120" y="1846750"/>
            <a:ext cx="7406640" cy="366741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Track angle to ~1.7° — from one chamber alone, at every angle</a:t>
            </a:r>
          </a:p>
        </p:txBody>
      </p:sp>
      <p:sp>
        <p:nvSpPr>
          <p:cNvPr id="3" name="TextBox 2"/>
          <p:cNvSpPr txBox="1"/>
          <p:nvPr/>
        </p:nvSpPr>
        <p:spPr>
          <a:xfrm>
            <a:off x="411480" y="1188720"/>
            <a:ext cx="3840480" cy="3108960"/>
          </a:xfrm>
          <a:prstGeom prst="rect">
            <a:avLst/>
          </a:prstGeom>
          <a:noFill/>
        </p:spPr>
        <p:txBody>
          <a:bodyPr wrap="square">
            <a:spAutoFit/>
          </a:bodyPr>
          <a:lstStyle/>
          <a:p>
            <a:pPr>
              <a:spcAft>
                <a:spcPts val="600"/>
              </a:spcAft>
              <a:defRPr sz="1600">
                <a:solidFill>
                  <a:srgbClr val="212121"/>
                </a:solidFill>
              </a:defRPr>
            </a:pPr>
            <a:r>
              <a:t>• σ68 ≈ 1.7° per plane, uniform at ALL angles incl. head-on</a:t>
            </a:r>
          </a:p>
          <a:p>
            <a:pPr>
              <a:spcAft>
                <a:spcPts val="600"/>
              </a:spcAft>
              <a:defRPr sz="1600">
                <a:solidFill>
                  <a:srgbClr val="212121"/>
                </a:solidFill>
              </a:defRPr>
            </a:pPr>
            <a:r>
              <a:t>• Bias only ~0.1°; 97–98 % of tracks usable</a:t>
            </a:r>
          </a:p>
          <a:p>
            <a:pPr>
              <a:spcAft>
                <a:spcPts val="600"/>
              </a:spcAft>
              <a:defRPr sz="1600">
                <a:solidFill>
                  <a:srgbClr val="212121"/>
                </a:solidFill>
              </a:defRPr>
            </a:pPr>
            <a:r>
              <a:t>• Head-on step is what fixes near-vertical tracks (~5°→1.7°); the two agree above ~5°</a:t>
            </a:r>
          </a:p>
          <a:p>
            <a:pPr>
              <a:spcAft>
                <a:spcPts val="600"/>
              </a:spcAft>
              <a:defRPr sz="1600">
                <a:solidFill>
                  <a:srgbClr val="212121"/>
                </a:solidFill>
              </a:defRPr>
            </a:pPr>
            <a:r>
              <a:t>• Transfers between chambers unchanged → design property</a:t>
            </a:r>
          </a:p>
        </p:txBody>
      </p:sp>
      <p:pic>
        <p:nvPicPr>
          <p:cNvPr id="4" name="Picture 3" descr="15-det3A-hybrid-angle-correlation.png"/>
          <p:cNvPicPr>
            <a:picLocks noChangeAspect="1"/>
          </p:cNvPicPr>
          <p:nvPr/>
        </p:nvPicPr>
        <p:blipFill>
          <a:blip r:embed="rId3"/>
          <a:stretch>
            <a:fillRect/>
          </a:stretch>
        </p:blipFill>
        <p:spPr>
          <a:xfrm>
            <a:off x="4389120" y="1855205"/>
            <a:ext cx="4023360" cy="3650510"/>
          </a:xfrm>
          <a:prstGeom prst="rect">
            <a:avLst/>
          </a:prstGeom>
        </p:spPr>
      </p:pic>
      <p:pic>
        <p:nvPicPr>
          <p:cNvPr id="5" name="Picture 4" descr="16-det3A-hybrid-angular-resolution-vs-angle.png"/>
          <p:cNvPicPr>
            <a:picLocks noChangeAspect="1"/>
          </p:cNvPicPr>
          <p:nvPr/>
        </p:nvPicPr>
        <p:blipFill>
          <a:blip r:embed="rId4"/>
          <a:stretch>
            <a:fillRect/>
          </a:stretch>
        </p:blipFill>
        <p:spPr>
          <a:xfrm>
            <a:off x="8458200" y="2098090"/>
            <a:ext cx="3566160" cy="247893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Event timing: 33 ns ≈ 1 mm of drift</a:t>
            </a:r>
          </a:p>
        </p:txBody>
      </p:sp>
      <p:sp>
        <p:nvSpPr>
          <p:cNvPr id="3" name="TextBox 2"/>
          <p:cNvSpPr txBox="1"/>
          <p:nvPr/>
        </p:nvSpPr>
        <p:spPr>
          <a:xfrm>
            <a:off x="411480" y="1188720"/>
            <a:ext cx="3840480" cy="3108960"/>
          </a:xfrm>
          <a:prstGeom prst="rect">
            <a:avLst/>
          </a:prstGeom>
          <a:noFill/>
        </p:spPr>
        <p:txBody>
          <a:bodyPr wrap="square">
            <a:spAutoFit/>
          </a:bodyPr>
          <a:lstStyle/>
          <a:p>
            <a:pPr>
              <a:spcAft>
                <a:spcPts val="600"/>
              </a:spcAft>
              <a:defRPr sz="1600">
                <a:solidFill>
                  <a:srgbClr val="212121"/>
                </a:solidFill>
              </a:defRPr>
            </a:pPr>
            <a:r>
              <a:t>• σt = 33 ns per plane (≈ 1 mm of drift); 29 ns after walk correction</a:t>
            </a:r>
          </a:p>
          <a:p>
            <a:pPr>
              <a:spcAft>
                <a:spcPts val="600"/>
              </a:spcAft>
              <a:defRPr sz="1600">
                <a:solidFill>
                  <a:srgbClr val="212121"/>
                </a:solidFill>
              </a:defRPr>
            </a:pPr>
            <a:r>
              <a:t>• Measured telescope-free: two orthogonal layers time the same electrons</a:t>
            </a:r>
          </a:p>
          <a:p>
            <a:pPr>
              <a:spcAft>
                <a:spcPts val="600"/>
              </a:spcAft>
              <a:defRPr sz="1600">
                <a:solidFill>
                  <a:srgbClr val="212121"/>
                </a:solidFill>
              </a:defRPr>
            </a:pPr>
            <a:r>
              <a:t>• Absolute event time vs trigger: σ68 = 37.7 ns</a:t>
            </a:r>
          </a:p>
        </p:txBody>
      </p:sp>
      <p:pic>
        <p:nvPicPr>
          <p:cNvPr id="4" name="Picture 3" descr="06-timing-principle-schematic.png"/>
          <p:cNvPicPr>
            <a:picLocks noChangeAspect="1"/>
          </p:cNvPicPr>
          <p:nvPr/>
        </p:nvPicPr>
        <p:blipFill>
          <a:blip r:embed="rId3"/>
          <a:stretch>
            <a:fillRect/>
          </a:stretch>
        </p:blipFill>
        <p:spPr>
          <a:xfrm>
            <a:off x="4297680" y="2122714"/>
            <a:ext cx="3291840" cy="2429691"/>
          </a:xfrm>
          <a:prstGeom prst="rect">
            <a:avLst/>
          </a:prstGeom>
        </p:spPr>
      </p:pic>
      <p:pic>
        <p:nvPicPr>
          <p:cNvPr id="5" name="Picture 4" descr="51-time-resolution-plane-to-plane.png"/>
          <p:cNvPicPr>
            <a:picLocks noChangeAspect="1"/>
          </p:cNvPicPr>
          <p:nvPr/>
        </p:nvPicPr>
        <p:blipFill>
          <a:blip r:embed="rId4"/>
          <a:stretch>
            <a:fillRect/>
          </a:stretch>
        </p:blipFill>
        <p:spPr>
          <a:xfrm>
            <a:off x="7635240" y="2522438"/>
            <a:ext cx="4389120" cy="163024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Operating point: a clean plateau, ended by sparks — not silence</a:t>
            </a:r>
          </a:p>
        </p:txBody>
      </p:sp>
      <p:sp>
        <p:nvSpPr>
          <p:cNvPr id="3" name="TextBox 2"/>
          <p:cNvSpPr txBox="1"/>
          <p:nvPr/>
        </p:nvSpPr>
        <p:spPr>
          <a:xfrm>
            <a:off x="411480" y="1188720"/>
            <a:ext cx="3840480" cy="3291840"/>
          </a:xfrm>
          <a:prstGeom prst="rect">
            <a:avLst/>
          </a:prstGeom>
          <a:noFill/>
        </p:spPr>
        <p:txBody>
          <a:bodyPr wrap="square">
            <a:spAutoFit/>
          </a:bodyPr>
          <a:lstStyle/>
          <a:p>
            <a:pPr>
              <a:spcAft>
                <a:spcPts val="600"/>
              </a:spcAft>
              <a:defRPr sz="1600">
                <a:solidFill>
                  <a:srgbClr val="212121"/>
                </a:solidFill>
              </a:defRPr>
            </a:pPr>
            <a:r>
              <a:t>• ~93 % plateau at 485–495 V (detectors A and B)</a:t>
            </a:r>
          </a:p>
          <a:p>
            <a:pPr>
              <a:spcAft>
                <a:spcPts val="600"/>
              </a:spcAft>
              <a:defRPr sz="1600">
                <a:solidFill>
                  <a:srgbClr val="212121"/>
                </a:solidFill>
              </a:defRPr>
            </a:pPr>
            <a:r>
              <a:t>• Above plateau: sparks rise exactly where efficiency falls</a:t>
            </a:r>
          </a:p>
          <a:p>
            <a:pPr>
              <a:spcAft>
                <a:spcPts val="600"/>
              </a:spcAft>
              <a:defRPr sz="1600">
                <a:solidFill>
                  <a:srgbClr val="212121"/>
                </a:solidFill>
              </a:defRPr>
            </a:pPr>
            <a:r>
              <a:t>• The chamber never goes silent — losses are discharge coincidences</a:t>
            </a:r>
          </a:p>
          <a:p>
            <a:pPr>
              <a:spcAft>
                <a:spcPts val="600"/>
              </a:spcAft>
              <a:defRPr sz="1600">
                <a:solidFill>
                  <a:srgbClr val="212121"/>
                </a:solidFill>
              </a:defRPr>
            </a:pPr>
            <a:r>
              <a:t>• Per-chamber optima: 440–495 V</a:t>
            </a:r>
          </a:p>
        </p:txBody>
      </p:sp>
      <p:pic>
        <p:nvPicPr>
          <p:cNvPr id="4" name="Picture 3" descr="30-det3A-hv-scan-efficiency-sparks.png"/>
          <p:cNvPicPr>
            <a:picLocks noChangeAspect="1"/>
          </p:cNvPicPr>
          <p:nvPr/>
        </p:nvPicPr>
        <p:blipFill>
          <a:blip r:embed="rId3"/>
          <a:stretch>
            <a:fillRect/>
          </a:stretch>
        </p:blipFill>
        <p:spPr>
          <a:xfrm>
            <a:off x="4389120" y="1395183"/>
            <a:ext cx="7406639" cy="457055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What a discharge really is: fast, global, self-quenching</a:t>
            </a:r>
          </a:p>
        </p:txBody>
      </p:sp>
      <p:pic>
        <p:nvPicPr>
          <p:cNvPr id="3" name="Picture 2" descr="43-det3A-spark-waveform-gallery.png"/>
          <p:cNvPicPr>
            <a:picLocks noChangeAspect="1"/>
          </p:cNvPicPr>
          <p:nvPr/>
        </p:nvPicPr>
        <p:blipFill>
          <a:blip r:embed="rId3"/>
          <a:stretch>
            <a:fillRect/>
          </a:stretch>
        </p:blipFill>
        <p:spPr>
          <a:xfrm>
            <a:off x="483072" y="960120"/>
            <a:ext cx="7720656" cy="5440680"/>
          </a:xfrm>
          <a:prstGeom prst="rect">
            <a:avLst/>
          </a:prstGeom>
        </p:spPr>
      </p:pic>
      <p:sp>
        <p:nvSpPr>
          <p:cNvPr id="4" name="TextBox 3"/>
          <p:cNvSpPr txBox="1"/>
          <p:nvPr/>
        </p:nvSpPr>
        <p:spPr>
          <a:xfrm>
            <a:off x="8412480" y="1325880"/>
            <a:ext cx="3474720" cy="3657600"/>
          </a:xfrm>
          <a:prstGeom prst="rect">
            <a:avLst/>
          </a:prstGeom>
          <a:noFill/>
        </p:spPr>
        <p:txBody>
          <a:bodyPr wrap="square">
            <a:spAutoFit/>
          </a:bodyPr>
          <a:lstStyle/>
          <a:p>
            <a:pPr>
              <a:spcAft>
                <a:spcPts val="600"/>
              </a:spcAft>
              <a:defRPr sz="1400">
                <a:solidFill>
                  <a:srgbClr val="212121"/>
                </a:solidFill>
              </a:defRPr>
            </a:pPr>
            <a:r>
              <a:t>• Global baseline step, over within 2 µs</a:t>
            </a:r>
          </a:p>
          <a:p>
            <a:pPr>
              <a:spcAft>
                <a:spcPts val="600"/>
              </a:spcAft>
              <a:defRPr sz="1400">
                <a:solidFill>
                  <a:srgbClr val="212121"/>
                </a:solidFill>
              </a:defRPr>
            </a:pPr>
            <a:r>
              <a:t>• Not a streamer: onset simultaneous on all 512 channels</a:t>
            </a:r>
          </a:p>
          <a:p>
            <a:pPr>
              <a:spcAft>
                <a:spcPts val="600"/>
              </a:spcAft>
              <a:defRPr sz="1400">
                <a:solidFill>
                  <a:srgbClr val="212121"/>
                </a:solidFill>
              </a:defRPr>
            </a:pPr>
            <a:r>
              <a:t>• Poisson, muon-induced (4×), edge-seeded</a:t>
            </a:r>
          </a:p>
          <a:p>
            <a:pPr>
              <a:spcAft>
                <a:spcPts val="600"/>
              </a:spcAft>
              <a:defRPr sz="1400">
                <a:solidFill>
                  <a:srgbClr val="212121"/>
                </a:solidFill>
              </a:defRPr>
            </a:pPr>
            <a:r>
              <a:t>• Alternative figure: event_displays/event_display_spark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…and it costs no dead time at all</a:t>
            </a:r>
          </a:p>
        </p:txBody>
      </p:sp>
      <p:sp>
        <p:nvSpPr>
          <p:cNvPr id="3" name="TextBox 2"/>
          <p:cNvSpPr txBox="1"/>
          <p:nvPr/>
        </p:nvSpPr>
        <p:spPr>
          <a:xfrm>
            <a:off x="411480" y="1188720"/>
            <a:ext cx="3840480" cy="3108960"/>
          </a:xfrm>
          <a:prstGeom prst="rect">
            <a:avLst/>
          </a:prstGeom>
          <a:noFill/>
        </p:spPr>
        <p:txBody>
          <a:bodyPr wrap="square">
            <a:spAutoFit/>
          </a:bodyPr>
          <a:lstStyle/>
          <a:p>
            <a:pPr>
              <a:spcAft>
                <a:spcPts val="600"/>
              </a:spcAft>
              <a:defRPr sz="1600">
                <a:solidFill>
                  <a:srgbClr val="212121"/>
                </a:solidFill>
              </a:defRPr>
            </a:pPr>
            <a:r>
              <a:t>• Efficiency flat vs time-since-spark (χ²/ndf ≈ 1)</a:t>
            </a:r>
          </a:p>
          <a:p>
            <a:pPr>
              <a:spcAft>
                <a:spcPts val="600"/>
              </a:spcAft>
              <a:defRPr sz="1600">
                <a:solidFill>
                  <a:srgbClr val="212121"/>
                </a:solidFill>
              </a:defRPr>
            </a:pPr>
            <a:r>
              <a:t>• Gas gain flat too — no HV droop, no recovery transient</a:t>
            </a:r>
          </a:p>
          <a:p>
            <a:pPr>
              <a:spcAft>
                <a:spcPts val="600"/>
              </a:spcAft>
              <a:defRPr sz="1600">
                <a:solidFill>
                  <a:srgbClr val="212121"/>
                </a:solidFill>
              </a:defRPr>
            </a:pPr>
            <a:r>
              <a:t>• Only cost: the crossing that coincides with the spark (3.9 % at A)</a:t>
            </a:r>
          </a:p>
        </p:txBody>
      </p:sp>
      <p:pic>
        <p:nvPicPr>
          <p:cNvPr id="4" name="Picture 3" descr="44-det3A-spark-deadtime-null.png"/>
          <p:cNvPicPr>
            <a:picLocks noChangeAspect="1"/>
          </p:cNvPicPr>
          <p:nvPr/>
        </p:nvPicPr>
        <p:blipFill>
          <a:blip r:embed="rId3"/>
          <a:stretch>
            <a:fillRect/>
          </a:stretch>
        </p:blipFill>
        <p:spPr>
          <a:xfrm>
            <a:off x="4389120" y="1196382"/>
            <a:ext cx="7406640" cy="496815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Two construction choices, validated in data</a:t>
            </a:r>
          </a:p>
        </p:txBody>
      </p:sp>
      <p:pic>
        <p:nvPicPr>
          <p:cNvPr id="3" name="Picture 2" descr="05-charge-routing-schematic.png"/>
          <p:cNvPicPr>
            <a:picLocks noChangeAspect="1"/>
          </p:cNvPicPr>
          <p:nvPr/>
        </p:nvPicPr>
        <p:blipFill>
          <a:blip r:embed="rId3"/>
          <a:stretch>
            <a:fillRect/>
          </a:stretch>
        </p:blipFill>
        <p:spPr>
          <a:xfrm>
            <a:off x="411480" y="1597010"/>
            <a:ext cx="4297680" cy="3298219"/>
          </a:xfrm>
          <a:prstGeom prst="rect">
            <a:avLst/>
          </a:prstGeom>
        </p:spPr>
      </p:pic>
      <p:pic>
        <p:nvPicPr>
          <p:cNvPr id="4" name="Picture 3" descr="61-xy-charge-balance-distribution.png"/>
          <p:cNvPicPr>
            <a:picLocks noChangeAspect="1"/>
          </p:cNvPicPr>
          <p:nvPr/>
        </p:nvPicPr>
        <p:blipFill>
          <a:blip r:embed="rId4"/>
          <a:stretch>
            <a:fillRect/>
          </a:stretch>
        </p:blipFill>
        <p:spPr>
          <a:xfrm>
            <a:off x="5451231" y="1051560"/>
            <a:ext cx="5739618" cy="2194560"/>
          </a:xfrm>
          <a:prstGeom prst="rect">
            <a:avLst/>
          </a:prstGeom>
        </p:spPr>
      </p:pic>
      <p:pic>
        <p:nvPicPr>
          <p:cNvPr id="5" name="Picture 4" descr="18-det3A-charge-sharing-measured.png"/>
          <p:cNvPicPr>
            <a:picLocks noChangeAspect="1"/>
          </p:cNvPicPr>
          <p:nvPr/>
        </p:nvPicPr>
        <p:blipFill>
          <a:blip r:embed="rId5"/>
          <a:stretch>
            <a:fillRect/>
          </a:stretch>
        </p:blipFill>
        <p:spPr>
          <a:xfrm>
            <a:off x="5394960" y="3337560"/>
            <a:ext cx="5852160" cy="2194560"/>
          </a:xfrm>
          <a:prstGeom prst="rect">
            <a:avLst/>
          </a:prstGeom>
        </p:spPr>
      </p:pic>
      <p:sp>
        <p:nvSpPr>
          <p:cNvPr id="6" name="TextBox 5"/>
          <p:cNvSpPr txBox="1"/>
          <p:nvPr/>
        </p:nvSpPr>
        <p:spPr>
          <a:xfrm>
            <a:off x="411480" y="6473952"/>
            <a:ext cx="11368735" cy="292608"/>
          </a:xfrm>
          <a:prstGeom prst="rect">
            <a:avLst/>
          </a:prstGeom>
          <a:noFill/>
        </p:spPr>
        <p:txBody>
          <a:bodyPr wrap="none">
            <a:spAutoFit/>
          </a:bodyPr>
          <a:lstStyle/>
          <a:p>
            <a:pPr>
              <a:defRPr sz="1000">
                <a:solidFill>
                  <a:srgbClr val="5A5A5A"/>
                </a:solidFill>
              </a:defRPr>
            </a:pPr>
            <a:r>
              <a:t>Pixel-layer charge balance (left schematic, top right) and resistive strip-to-strip sharing (bottom right)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The gas talks: drift velocity and attachment as built-in monitors</a:t>
            </a:r>
          </a:p>
        </p:txBody>
      </p:sp>
      <p:pic>
        <p:nvPicPr>
          <p:cNvPr id="3" name="Picture 2" descr="70-det3A-drift-velocity-vs-magboltz.png"/>
          <p:cNvPicPr>
            <a:picLocks noChangeAspect="1"/>
          </p:cNvPicPr>
          <p:nvPr/>
        </p:nvPicPr>
        <p:blipFill>
          <a:blip r:embed="rId3"/>
          <a:stretch>
            <a:fillRect/>
          </a:stretch>
        </p:blipFill>
        <p:spPr>
          <a:xfrm>
            <a:off x="411480" y="1446496"/>
            <a:ext cx="5577840" cy="3599247"/>
          </a:xfrm>
          <a:prstGeom prst="rect">
            <a:avLst/>
          </a:prstGeom>
        </p:spPr>
      </p:pic>
      <p:pic>
        <p:nvPicPr>
          <p:cNvPr id="4" name="Picture 3" descr="71-det3A-attachment-amplitude-decay.png"/>
          <p:cNvPicPr>
            <a:picLocks noChangeAspect="1"/>
          </p:cNvPicPr>
          <p:nvPr/>
        </p:nvPicPr>
        <p:blipFill>
          <a:blip r:embed="rId4"/>
          <a:stretch>
            <a:fillRect/>
          </a:stretch>
        </p:blipFill>
        <p:spPr>
          <a:xfrm>
            <a:off x="6172200" y="2097942"/>
            <a:ext cx="5577840" cy="2296355"/>
          </a:xfrm>
          <a:prstGeom prst="rect">
            <a:avLst/>
          </a:prstGeom>
        </p:spPr>
      </p:pic>
      <p:sp>
        <p:nvSpPr>
          <p:cNvPr id="5" name="TextBox 4"/>
          <p:cNvSpPr txBox="1"/>
          <p:nvPr/>
        </p:nvSpPr>
        <p:spPr>
          <a:xfrm>
            <a:off x="411480" y="6473952"/>
            <a:ext cx="11368735" cy="292608"/>
          </a:xfrm>
          <a:prstGeom prst="rect">
            <a:avLst/>
          </a:prstGeom>
          <a:noFill/>
        </p:spPr>
        <p:txBody>
          <a:bodyPr wrap="none">
            <a:spAutoFit/>
          </a:bodyPr>
          <a:lstStyle/>
          <a:p>
            <a:pPr>
              <a:defRPr sz="1000">
                <a:solidFill>
                  <a:srgbClr val="5A5A5A"/>
                </a:solidFill>
              </a:defRPr>
            </a:pPr>
            <a:r>
              <a:t>Water sets the drift speed; oxygen sets the attachment — both measured from the muon data themselves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The five chambers, honestly compared</a:t>
            </a:r>
          </a:p>
        </p:txBody>
      </p:sp>
      <p:graphicFrame>
        <p:nvGraphicFramePr>
          <p:cNvPr id="3" name="Table 2"/>
          <p:cNvGraphicFramePr>
            <a:graphicFrameLocks noGrp="1"/>
          </p:cNvGraphicFramePr>
          <p:nvPr/>
        </p:nvGraphicFramePr>
        <p:xfrm>
          <a:off x="411480" y="1051560"/>
          <a:ext cx="8412480" cy="2651760"/>
        </p:xfrm>
        <a:graphic>
          <a:graphicData uri="http://schemas.openxmlformats.org/drawingml/2006/table">
            <a:tbl>
              <a:tblPr firstRow="1" bandRow="1">
                <a:tableStyleId>{5C22544A-7EE6-4342-B048-85BDC9FD1C3A}</a:tableStyleId>
              </a:tblPr>
              <a:tblGrid>
                <a:gridCol w="640080"/>
                <a:gridCol w="1097280"/>
                <a:gridCol w="1737360"/>
                <a:gridCol w="1280160"/>
                <a:gridCol w="1097280"/>
                <a:gridCol w="914400"/>
                <a:gridCol w="1645920"/>
              </a:tblGrid>
              <a:tr h="441960">
                <a:tc>
                  <a:txBody>
                    <a:bodyPr/>
                    <a:lstStyle/>
                    <a:p>
                      <a:pPr algn="l">
                        <a:defRPr sz="1300" b="1"/>
                      </a:pPr>
                      <a:r>
                        <a:t>Det</a:t>
                      </a:r>
                    </a:p>
                  </a:txBody>
                  <a:tcPr/>
                </a:tc>
                <a:tc>
                  <a:txBody>
                    <a:bodyPr/>
                    <a:lstStyle/>
                    <a:p>
                      <a:pPr algn="l">
                        <a:defRPr sz="1300" b="1"/>
                      </a:pPr>
                      <a:r>
                        <a:t>Serial</a:t>
                      </a:r>
                    </a:p>
                  </a:txBody>
                  <a:tcPr/>
                </a:tc>
                <a:tc>
                  <a:txBody>
                    <a:bodyPr/>
                    <a:lstStyle/>
                    <a:p>
                      <a:pPr algn="l">
                        <a:defRPr sz="1300" b="1"/>
                      </a:pPr>
                      <a:r>
                        <a:t>Efficiency</a:t>
                      </a:r>
                    </a:p>
                  </a:txBody>
                  <a:tcPr/>
                </a:tc>
                <a:tc>
                  <a:txBody>
                    <a:bodyPr/>
                    <a:lstStyle/>
                    <a:p>
                      <a:pPr algn="l">
                        <a:defRPr sz="1300" b="1"/>
                      </a:pPr>
                      <a:r>
                        <a:t>Position σ</a:t>
                      </a:r>
                    </a:p>
                  </a:txBody>
                  <a:tcPr/>
                </a:tc>
                <a:tc>
                  <a:txBody>
                    <a:bodyPr/>
                    <a:lstStyle/>
                    <a:p>
                      <a:pPr algn="l">
                        <a:defRPr sz="1300" b="1"/>
                      </a:pPr>
                      <a:r>
                        <a:t>Angle σ68*</a:t>
                      </a:r>
                    </a:p>
                  </a:txBody>
                  <a:tcPr/>
                </a:tc>
                <a:tc>
                  <a:txBody>
                    <a:bodyPr/>
                    <a:lstStyle/>
                    <a:p>
                      <a:pPr algn="l">
                        <a:defRPr sz="1300" b="1"/>
                      </a:pPr>
                      <a:r>
                        <a:t>Spark</a:t>
                      </a:r>
                    </a:p>
                  </a:txBody>
                  <a:tcPr/>
                </a:tc>
                <a:tc>
                  <a:txBody>
                    <a:bodyPr/>
                    <a:lstStyle/>
                    <a:p>
                      <a:pPr algn="l">
                        <a:defRPr sz="1300" b="1"/>
                      </a:pPr>
                      <a:r>
                        <a:t>Verdict</a:t>
                      </a:r>
                    </a:p>
                  </a:txBody>
                  <a:tcPr/>
                </a:tc>
              </a:tr>
              <a:tr h="441960">
                <a:tc>
                  <a:txBody>
                    <a:bodyPr/>
                    <a:lstStyle/>
                    <a:p>
                      <a:pPr algn="l">
                        <a:defRPr sz="1300" b="0"/>
                      </a:pPr>
                      <a:r>
                        <a:t>A</a:t>
                      </a:r>
                    </a:p>
                  </a:txBody>
                  <a:tcPr/>
                </a:tc>
                <a:tc>
                  <a:txBody>
                    <a:bodyPr/>
                    <a:lstStyle/>
                    <a:p>
                      <a:pPr algn="l">
                        <a:defRPr sz="1300" b="0"/>
                      </a:pPr>
                      <a:r>
                        <a:t>mx17_3</a:t>
                      </a:r>
                    </a:p>
                  </a:txBody>
                  <a:tcPr/>
                </a:tc>
                <a:tc>
                  <a:txBody>
                    <a:bodyPr/>
                    <a:lstStyle/>
                    <a:p>
                      <a:pPr algn="l">
                        <a:defRPr sz="1300" b="0"/>
                      </a:pPr>
                      <a:r>
                        <a:t>92.9 %</a:t>
                      </a:r>
                    </a:p>
                  </a:txBody>
                  <a:tcPr/>
                </a:tc>
                <a:tc>
                  <a:txBody>
                    <a:bodyPr/>
                    <a:lstStyle/>
                    <a:p>
                      <a:pPr algn="l">
                        <a:defRPr sz="1300" b="0"/>
                      </a:pPr>
                      <a:r>
                        <a:t>0.47 mm</a:t>
                      </a:r>
                    </a:p>
                  </a:txBody>
                  <a:tcPr/>
                </a:tc>
                <a:tc>
                  <a:txBody>
                    <a:bodyPr/>
                    <a:lstStyle/>
                    <a:p>
                      <a:pPr algn="l">
                        <a:defRPr sz="1300" b="0"/>
                      </a:pPr>
                      <a:r>
                        <a:t>1.7°</a:t>
                      </a:r>
                    </a:p>
                  </a:txBody>
                  <a:tcPr/>
                </a:tc>
                <a:tc>
                  <a:txBody>
                    <a:bodyPr/>
                    <a:lstStyle/>
                    <a:p>
                      <a:pPr algn="l">
                        <a:defRPr sz="1300" b="0"/>
                      </a:pPr>
                      <a:r>
                        <a:t>3.9 %</a:t>
                      </a:r>
                    </a:p>
                  </a:txBody>
                  <a:tcPr/>
                </a:tc>
                <a:tc>
                  <a:txBody>
                    <a:bodyPr/>
                    <a:lstStyle/>
                    <a:p>
                      <a:pPr algn="l">
                        <a:defRPr sz="1300" b="0"/>
                      </a:pPr>
                      <a:r>
                        <a:t>Best performer</a:t>
                      </a:r>
                    </a:p>
                  </a:txBody>
                  <a:tcPr/>
                </a:tc>
              </a:tr>
              <a:tr h="441960">
                <a:tc>
                  <a:txBody>
                    <a:bodyPr/>
                    <a:lstStyle/>
                    <a:p>
                      <a:pPr algn="l">
                        <a:defRPr sz="1300" b="0"/>
                      </a:pPr>
                      <a:r>
                        <a:t>B</a:t>
                      </a:r>
                    </a:p>
                  </a:txBody>
                  <a:tcPr/>
                </a:tc>
                <a:tc>
                  <a:txBody>
                    <a:bodyPr/>
                    <a:lstStyle/>
                    <a:p>
                      <a:pPr algn="l">
                        <a:defRPr sz="1300" b="0"/>
                      </a:pPr>
                      <a:r>
                        <a:t>mx17_2</a:t>
                      </a:r>
                    </a:p>
                  </a:txBody>
                  <a:tcPr/>
                </a:tc>
                <a:tc>
                  <a:txBody>
                    <a:bodyPr/>
                    <a:lstStyle/>
                    <a:p>
                      <a:pPr algn="l">
                        <a:defRPr sz="1300" b="0"/>
                      </a:pPr>
                      <a:r>
                        <a:t>91.3 %</a:t>
                      </a:r>
                    </a:p>
                  </a:txBody>
                  <a:tcPr/>
                </a:tc>
                <a:tc>
                  <a:txBody>
                    <a:bodyPr/>
                    <a:lstStyle/>
                    <a:p>
                      <a:pPr algn="l">
                        <a:defRPr sz="1300" b="0"/>
                      </a:pPr>
                      <a:r>
                        <a:t>0.46 mm</a:t>
                      </a:r>
                    </a:p>
                  </a:txBody>
                  <a:tcPr/>
                </a:tc>
                <a:tc>
                  <a:txBody>
                    <a:bodyPr/>
                    <a:lstStyle/>
                    <a:p>
                      <a:pPr algn="l">
                        <a:defRPr sz="1300" b="0"/>
                      </a:pPr>
                      <a:r>
                        <a:t>2.3°</a:t>
                      </a:r>
                    </a:p>
                  </a:txBody>
                  <a:tcPr/>
                </a:tc>
                <a:tc>
                  <a:txBody>
                    <a:bodyPr/>
                    <a:lstStyle/>
                    <a:p>
                      <a:pPr algn="l">
                        <a:defRPr sz="1300" b="0"/>
                      </a:pPr>
                      <a:r>
                        <a:t>5.0 %</a:t>
                      </a:r>
                    </a:p>
                  </a:txBody>
                  <a:tcPr/>
                </a:tc>
                <a:tc>
                  <a:txBody>
                    <a:bodyPr/>
                    <a:lstStyle/>
                    <a:p>
                      <a:pPr algn="l">
                        <a:defRPr sz="1300" b="0"/>
                      </a:pPr>
                      <a:r>
                        <a:t>Healthy</a:t>
                      </a:r>
                    </a:p>
                  </a:txBody>
                  <a:tcPr/>
                </a:tc>
              </a:tr>
              <a:tr h="441960">
                <a:tc>
                  <a:txBody>
                    <a:bodyPr/>
                    <a:lstStyle/>
                    <a:p>
                      <a:pPr algn="l">
                        <a:defRPr sz="1300" b="0"/>
                      </a:pPr>
                      <a:r>
                        <a:t>C</a:t>
                      </a:r>
                    </a:p>
                  </a:txBody>
                  <a:tcPr/>
                </a:tc>
                <a:tc>
                  <a:txBody>
                    <a:bodyPr/>
                    <a:lstStyle/>
                    <a:p>
                      <a:pPr algn="l">
                        <a:defRPr sz="1300" b="0"/>
                      </a:pPr>
                      <a:r>
                        <a:t>mx17_6</a:t>
                      </a:r>
                    </a:p>
                  </a:txBody>
                  <a:tcPr/>
                </a:tc>
                <a:tc>
                  <a:txBody>
                    <a:bodyPr/>
                    <a:lstStyle/>
                    <a:p>
                      <a:pPr algn="l">
                        <a:defRPr sz="1300" b="0"/>
                      </a:pPr>
                      <a:r>
                        <a:t>57.8 %</a:t>
                      </a:r>
                    </a:p>
                  </a:txBody>
                  <a:tcPr/>
                </a:tc>
                <a:tc>
                  <a:txBody>
                    <a:bodyPr/>
                    <a:lstStyle/>
                    <a:p>
                      <a:pPr algn="l">
                        <a:defRPr sz="1300" b="0"/>
                      </a:pPr>
                      <a:r>
                        <a:t>0.45 mm</a:t>
                      </a:r>
                    </a:p>
                  </a:txBody>
                  <a:tcPr/>
                </a:tc>
                <a:tc>
                  <a:txBody>
                    <a:bodyPr/>
                    <a:lstStyle/>
                    <a:p>
                      <a:pPr algn="l">
                        <a:defRPr sz="1300" b="0"/>
                      </a:pPr>
                      <a:r>
                        <a:t>3.9° †</a:t>
                      </a:r>
                    </a:p>
                  </a:txBody>
                  <a:tcPr/>
                </a:tc>
                <a:tc>
                  <a:txBody>
                    <a:bodyPr/>
                    <a:lstStyle/>
                    <a:p>
                      <a:pPr algn="l">
                        <a:defRPr sz="1300" b="0"/>
                      </a:pPr>
                      <a:r>
                        <a:t>23.0 %</a:t>
                      </a:r>
                    </a:p>
                  </a:txBody>
                  <a:tcPr/>
                </a:tc>
                <a:tc>
                  <a:txBody>
                    <a:bodyPr/>
                    <a:lstStyle/>
                    <a:p>
                      <a:pPr algn="l">
                        <a:defRPr sz="1300" b="0"/>
                      </a:pPr>
                      <a:r>
                        <a:t>Spark-limited (op. point)</a:t>
                      </a:r>
                    </a:p>
                  </a:txBody>
                  <a:tcPr/>
                </a:tc>
              </a:tr>
              <a:tr h="441960">
                <a:tc>
                  <a:txBody>
                    <a:bodyPr/>
                    <a:lstStyle/>
                    <a:p>
                      <a:pPr algn="l">
                        <a:defRPr sz="1300" b="0"/>
                      </a:pPr>
                      <a:r>
                        <a:t>D</a:t>
                      </a:r>
                    </a:p>
                  </a:txBody>
                  <a:tcPr/>
                </a:tc>
                <a:tc>
                  <a:txBody>
                    <a:bodyPr/>
                    <a:lstStyle/>
                    <a:p>
                      <a:pPr algn="l">
                        <a:defRPr sz="1300" b="0"/>
                      </a:pPr>
                      <a:r>
                        <a:t>mx17_7</a:t>
                      </a:r>
                    </a:p>
                  </a:txBody>
                  <a:tcPr/>
                </a:tc>
                <a:tc>
                  <a:txBody>
                    <a:bodyPr/>
                    <a:lstStyle/>
                    <a:p>
                      <a:pPr algn="l">
                        <a:defRPr sz="1300" b="0"/>
                      </a:pPr>
                      <a:r>
                        <a:t>43.1 %</a:t>
                      </a:r>
                    </a:p>
                  </a:txBody>
                  <a:tcPr/>
                </a:tc>
                <a:tc>
                  <a:txBody>
                    <a:bodyPr/>
                    <a:lstStyle/>
                    <a:p>
                      <a:pPr algn="l">
                        <a:defRPr sz="1300" b="0"/>
                      </a:pPr>
                      <a:r>
                        <a:t>0.59 mm</a:t>
                      </a:r>
                    </a:p>
                  </a:txBody>
                  <a:tcPr/>
                </a:tc>
                <a:tc>
                  <a:txBody>
                    <a:bodyPr/>
                    <a:lstStyle/>
                    <a:p>
                      <a:pPr algn="l">
                        <a:defRPr sz="1300" b="0"/>
                      </a:pPr>
                      <a:r>
                        <a:t>3.4°</a:t>
                      </a:r>
                    </a:p>
                  </a:txBody>
                  <a:tcPr/>
                </a:tc>
                <a:tc>
                  <a:txBody>
                    <a:bodyPr/>
                    <a:lstStyle/>
                    <a:p>
                      <a:pPr algn="l">
                        <a:defRPr sz="1300" b="0"/>
                      </a:pPr>
                      <a:r>
                        <a:t>33.4 %</a:t>
                      </a:r>
                    </a:p>
                  </a:txBody>
                  <a:tcPr/>
                </a:tc>
                <a:tc>
                  <a:txBody>
                    <a:bodyPr/>
                    <a:lstStyle/>
                    <a:p>
                      <a:pPr algn="l">
                        <a:defRPr sz="1300" b="0"/>
                      </a:pPr>
                      <a:r>
                        <a:t>Spark-limited (op. point)</a:t>
                      </a:r>
                    </a:p>
                  </a:txBody>
                  <a:tcPr/>
                </a:tc>
              </a:tr>
              <a:tr h="441960">
                <a:tc>
                  <a:txBody>
                    <a:bodyPr/>
                    <a:lstStyle/>
                    <a:p>
                      <a:pPr algn="l">
                        <a:defRPr sz="1300" b="0"/>
                      </a:pPr>
                      <a:r>
                        <a:t>E</a:t>
                      </a:r>
                    </a:p>
                  </a:txBody>
                  <a:tcPr/>
                </a:tc>
                <a:tc>
                  <a:txBody>
                    <a:bodyPr/>
                    <a:lstStyle/>
                    <a:p>
                      <a:pPr algn="l">
                        <a:defRPr sz="1300" b="0"/>
                      </a:pPr>
                      <a:r>
                        <a:t>mx17_4</a:t>
                      </a:r>
                    </a:p>
                  </a:txBody>
                  <a:tcPr/>
                </a:tc>
                <a:tc>
                  <a:txBody>
                    <a:bodyPr/>
                    <a:lstStyle/>
                    <a:p>
                      <a:pPr algn="l">
                        <a:defRPr sz="1300" b="0"/>
                      </a:pPr>
                      <a:r>
                        <a:t>20.7 %</a:t>
                      </a:r>
                    </a:p>
                  </a:txBody>
                  <a:tcPr/>
                </a:tc>
                <a:tc>
                  <a:txBody>
                    <a:bodyPr/>
                    <a:lstStyle/>
                    <a:p>
                      <a:pPr algn="l">
                        <a:defRPr sz="1300" b="0"/>
                      </a:pPr>
                      <a:r>
                        <a:t>0.67 mm</a:t>
                      </a:r>
                    </a:p>
                  </a:txBody>
                  <a:tcPr/>
                </a:tc>
                <a:tc>
                  <a:txBody>
                    <a:bodyPr/>
                    <a:lstStyle/>
                    <a:p>
                      <a:pPr algn="l">
                        <a:defRPr sz="1300" b="0"/>
                      </a:pPr>
                      <a:r>
                        <a:t>2.6°</a:t>
                      </a:r>
                    </a:p>
                  </a:txBody>
                  <a:tcPr/>
                </a:tc>
                <a:tc>
                  <a:txBody>
                    <a:bodyPr/>
                    <a:lstStyle/>
                    <a:p>
                      <a:pPr algn="l">
                        <a:defRPr sz="1300" b="0"/>
                      </a:pPr>
                      <a:r>
                        <a:t>3.2 %</a:t>
                      </a:r>
                    </a:p>
                  </a:txBody>
                  <a:tcPr/>
                </a:tc>
                <a:tc>
                  <a:txBody>
                    <a:bodyPr/>
                    <a:lstStyle/>
                    <a:p>
                      <a:pPr algn="l">
                        <a:defRPr sz="1300" b="0"/>
                      </a:pPr>
                      <a:r>
                        <a:t>Gain-limited</a:t>
                      </a:r>
                    </a:p>
                  </a:txBody>
                  <a:tcPr/>
                </a:tc>
              </a:tr>
            </a:tbl>
          </a:graphicData>
        </a:graphic>
      </p:graphicFrame>
      <p:sp>
        <p:nvSpPr>
          <p:cNvPr id="4" name="TextBox 3"/>
          <p:cNvSpPr txBox="1"/>
          <p:nvPr/>
        </p:nvSpPr>
        <p:spPr>
          <a:xfrm>
            <a:off x="9052560" y="1143000"/>
            <a:ext cx="2834640" cy="2651760"/>
          </a:xfrm>
          <a:prstGeom prst="rect">
            <a:avLst/>
          </a:prstGeom>
          <a:noFill/>
        </p:spPr>
        <p:txBody>
          <a:bodyPr wrap="square">
            <a:spAutoFit/>
          </a:bodyPr>
          <a:lstStyle/>
          <a:p>
            <a:pPr>
              <a:spcAft>
                <a:spcPts val="600"/>
              </a:spcAft>
              <a:defRPr sz="1300">
                <a:solidFill>
                  <a:srgbClr val="212121"/>
                </a:solidFill>
              </a:defRPr>
            </a:pPr>
            <a:r>
              <a:t>• A &amp; B excellent and mutually consistent</a:t>
            </a:r>
          </a:p>
          <a:p>
            <a:pPr>
              <a:spcAft>
                <a:spcPts val="600"/>
              </a:spcAft>
              <a:defRPr sz="1300">
                <a:solidFill>
                  <a:srgbClr val="212121"/>
                </a:solidFill>
              </a:defRPr>
            </a:pPr>
            <a:r>
              <a:t>• C &amp; D: great cores, June op. point past spark optimum</a:t>
            </a:r>
          </a:p>
          <a:p>
            <a:pPr>
              <a:spcAft>
                <a:spcPts val="600"/>
              </a:spcAft>
              <a:defRPr sz="1300">
                <a:solidFill>
                  <a:srgbClr val="212121"/>
                </a:solidFill>
              </a:defRPr>
            </a:pPr>
            <a:r>
              <a:t>• E: fires on ~70 % of muons — gain issue, not dead</a:t>
            </a:r>
          </a:p>
        </p:txBody>
      </p:sp>
      <p:pic>
        <p:nvPicPr>
          <p:cNvPr id="5" name="Picture 4" descr="21-det3A-efficiency-breakdown.png"/>
          <p:cNvPicPr>
            <a:picLocks noChangeAspect="1"/>
          </p:cNvPicPr>
          <p:nvPr/>
        </p:nvPicPr>
        <p:blipFill>
          <a:blip r:embed="rId3"/>
          <a:stretch>
            <a:fillRect/>
          </a:stretch>
        </p:blipFill>
        <p:spPr>
          <a:xfrm>
            <a:off x="1679967" y="3840480"/>
            <a:ext cx="3498066" cy="1417320"/>
          </a:xfrm>
          <a:prstGeom prst="rect">
            <a:avLst/>
          </a:prstGeom>
        </p:spPr>
      </p:pic>
      <p:pic>
        <p:nvPicPr>
          <p:cNvPr id="6" name="Picture 5" descr="25-det7D-efficiency-breakdown.png"/>
          <p:cNvPicPr>
            <a:picLocks noChangeAspect="1"/>
          </p:cNvPicPr>
          <p:nvPr/>
        </p:nvPicPr>
        <p:blipFill>
          <a:blip r:embed="rId4"/>
          <a:stretch>
            <a:fillRect/>
          </a:stretch>
        </p:blipFill>
        <p:spPr>
          <a:xfrm>
            <a:off x="6217920" y="3980115"/>
            <a:ext cx="5212080" cy="1138050"/>
          </a:xfrm>
          <a:prstGeom prst="rect">
            <a:avLst/>
          </a:prstGeom>
        </p:spPr>
      </p:pic>
      <p:sp>
        <p:nvSpPr>
          <p:cNvPr id="7" name="TextBox 6"/>
          <p:cNvSpPr txBox="1"/>
          <p:nvPr/>
        </p:nvSpPr>
        <p:spPr>
          <a:xfrm>
            <a:off x="411480" y="6473952"/>
            <a:ext cx="11368735" cy="292608"/>
          </a:xfrm>
          <a:prstGeom prst="rect">
            <a:avLst/>
          </a:prstGeom>
          <a:noFill/>
        </p:spPr>
        <p:txBody>
          <a:bodyPr wrap="none">
            <a:spAutoFit/>
          </a:bodyPr>
          <a:lstStyle/>
          <a:p>
            <a:pPr>
              <a:defRPr sz="1000">
                <a:solidFill>
                  <a:srgbClr val="5A5A5A"/>
                </a:solidFill>
              </a:defRPr>
            </a:pPr>
            <a:r>
              <a:t>Efficiency within 5 mm of reference track, full active area; position σ includes the telescope. *Angle = hybrid tracking |θ|&lt;5° σ68 (holdout), now fleet-wide. †C low-angle-only: X-plane has no drift-time structure (board-C mesh defect), plateau omitted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Detector A at a glance — specification sheet</a:t>
            </a:r>
          </a:p>
        </p:txBody>
      </p:sp>
      <p:graphicFrame>
        <p:nvGraphicFramePr>
          <p:cNvPr id="3" name="Table 2"/>
          <p:cNvGraphicFramePr>
            <a:graphicFrameLocks noGrp="1"/>
          </p:cNvGraphicFramePr>
          <p:nvPr/>
        </p:nvGraphicFramePr>
        <p:xfrm>
          <a:off x="502920" y="1005840"/>
          <a:ext cx="11338560" cy="4933188"/>
        </p:xfrm>
        <a:graphic>
          <a:graphicData uri="http://schemas.openxmlformats.org/drawingml/2006/table">
            <a:tbl>
              <a:tblPr>
                <a:tableStyleId>{5C22544A-7EE6-4342-B048-85BDC9FD1C3A}</a:tableStyleId>
              </a:tblPr>
              <a:tblGrid>
                <a:gridCol w="3200400"/>
                <a:gridCol w="2651760"/>
                <a:gridCol w="5486400"/>
              </a:tblGrid>
              <a:tr h="379476">
                <a:tc>
                  <a:txBody>
                    <a:bodyPr/>
                    <a:lstStyle/>
                    <a:p>
                      <a:pPr algn="l"/>
                      <a:r>
                        <a:rPr sz="1500" b="1">
                          <a:solidFill>
                            <a:srgbClr val="FFFFFF"/>
                          </a:solidFill>
                        </a:rPr>
                        <a:t>Quantity</a:t>
                      </a:r>
                    </a:p>
                  </a:txBody>
                  <a:tcPr anchor="ctr" marT="12700" marB="12700" marL="88900" marR="88900">
                    <a:solidFill>
                      <a:srgbClr val="2E598C"/>
                    </a:solidFill>
                  </a:tcPr>
                </a:tc>
                <a:tc>
                  <a:txBody>
                    <a:bodyPr/>
                    <a:lstStyle/>
                    <a:p>
                      <a:pPr algn="l"/>
                      <a:r>
                        <a:rPr sz="1500" b="1">
                          <a:solidFill>
                            <a:srgbClr val="FFFFFF"/>
                          </a:solidFill>
                        </a:rPr>
                        <a:t>Value</a:t>
                      </a:r>
                    </a:p>
                  </a:txBody>
                  <a:tcPr anchor="ctr" marT="12700" marB="12700" marL="88900" marR="88900">
                    <a:solidFill>
                      <a:srgbClr val="2E598C"/>
                    </a:solidFill>
                  </a:tcPr>
                </a:tc>
                <a:tc>
                  <a:txBody>
                    <a:bodyPr/>
                    <a:lstStyle/>
                    <a:p>
                      <a:pPr algn="l"/>
                      <a:r>
                        <a:rPr sz="1500" b="1">
                          <a:solidFill>
                            <a:srgbClr val="FFFFFF"/>
                          </a:solidFill>
                        </a:rPr>
                        <a:t>Notes</a:t>
                      </a:r>
                    </a:p>
                  </a:txBody>
                  <a:tcPr anchor="ctr" marT="12700" marB="12700" marL="88900" marR="88900">
                    <a:solidFill>
                      <a:srgbClr val="2E598C"/>
                    </a:solidFill>
                  </a:tcPr>
                </a:tc>
              </a:tr>
              <a:tr h="379476">
                <a:tc>
                  <a:txBody>
                    <a:bodyPr/>
                    <a:lstStyle/>
                    <a:p>
                      <a:pPr algn="l"/>
                      <a:r>
                        <a:rPr sz="1350" b="1">
                          <a:solidFill>
                            <a:srgbClr val="212121"/>
                          </a:solidFill>
                        </a:rPr>
                        <a:t>Active area</a:t>
                      </a:r>
                    </a:p>
                  </a:txBody>
                  <a:tcPr anchor="ctr" marT="12700" marB="12700" marL="88900" marR="88900">
                    <a:solidFill>
                      <a:srgbClr val="EEF2F8"/>
                    </a:solidFill>
                  </a:tcPr>
                </a:tc>
                <a:tc>
                  <a:txBody>
                    <a:bodyPr/>
                    <a:lstStyle/>
                    <a:p>
                      <a:pPr algn="l"/>
                      <a:r>
                        <a:rPr sz="1350" b="0">
                          <a:solidFill>
                            <a:srgbClr val="212121"/>
                          </a:solidFill>
                        </a:rPr>
                        <a:t>~40 × 40 cm²</a:t>
                      </a:r>
                    </a:p>
                  </a:txBody>
                  <a:tcPr anchor="ctr" marT="12700" marB="12700" marL="88900" marR="88900">
                    <a:solidFill>
                      <a:srgbClr val="EEF2F8"/>
                    </a:solidFill>
                  </a:tcPr>
                </a:tc>
                <a:tc>
                  <a:txBody>
                    <a:bodyPr/>
                    <a:lstStyle/>
                    <a:p>
                      <a:pPr algn="l"/>
                      <a:r>
                        <a:rPr sz="1350" b="0">
                          <a:solidFill>
                            <a:srgbClr val="212121"/>
                          </a:solidFill>
                        </a:rPr>
                        <a:t>512 strips × 0.78 mm, per coordinate</a:t>
                      </a:r>
                    </a:p>
                  </a:txBody>
                  <a:tcPr anchor="ctr" marT="12700" marB="12700" marL="88900" marR="88900">
                    <a:solidFill>
                      <a:srgbClr val="EEF2F8"/>
                    </a:solidFill>
                  </a:tcPr>
                </a:tc>
              </a:tr>
              <a:tr h="379476">
                <a:tc>
                  <a:txBody>
                    <a:bodyPr/>
                    <a:lstStyle/>
                    <a:p>
                      <a:pPr algn="l"/>
                      <a:r>
                        <a:rPr sz="1350" b="1">
                          <a:solidFill>
                            <a:srgbClr val="212121"/>
                          </a:solidFill>
                        </a:rPr>
                        <a:t>Strip pitch</a:t>
                      </a:r>
                    </a:p>
                  </a:txBody>
                  <a:tcPr anchor="ctr" marT="12700" marB="12700" marL="88900" marR="88900">
                    <a:solidFill>
                      <a:srgbClr val="FFFFFF"/>
                    </a:solidFill>
                  </a:tcPr>
                </a:tc>
                <a:tc>
                  <a:txBody>
                    <a:bodyPr/>
                    <a:lstStyle/>
                    <a:p>
                      <a:pPr algn="l"/>
                      <a:r>
                        <a:rPr sz="1350" b="0">
                          <a:solidFill>
                            <a:srgbClr val="212121"/>
                          </a:solidFill>
                        </a:rPr>
                        <a:t>0.78 mm</a:t>
                      </a:r>
                    </a:p>
                  </a:txBody>
                  <a:tcPr anchor="ctr" marT="12700" marB="12700" marL="88900" marR="88900">
                    <a:solidFill>
                      <a:srgbClr val="FFFFFF"/>
                    </a:solidFill>
                  </a:tcPr>
                </a:tc>
                <a:tc>
                  <a:txBody>
                    <a:bodyPr/>
                    <a:lstStyle/>
                    <a:p>
                      <a:pPr algn="l"/>
                      <a:r>
                        <a:rPr sz="1350" b="0">
                          <a:solidFill>
                            <a:srgbClr val="212121"/>
                          </a:solidFill>
                        </a:rPr>
                        <a:t>both coordinates (X and Y)</a:t>
                      </a:r>
                    </a:p>
                  </a:txBody>
                  <a:tcPr anchor="ctr" marT="12700" marB="12700" marL="88900" marR="88900">
                    <a:solidFill>
                      <a:srgbClr val="FFFFFF"/>
                    </a:solidFill>
                  </a:tcPr>
                </a:tc>
              </a:tr>
              <a:tr h="379476">
                <a:tc>
                  <a:txBody>
                    <a:bodyPr/>
                    <a:lstStyle/>
                    <a:p>
                      <a:pPr algn="l"/>
                      <a:r>
                        <a:rPr sz="1350" b="1">
                          <a:solidFill>
                            <a:srgbClr val="212121"/>
                          </a:solidFill>
                        </a:rPr>
                        <a:t>Drift gap</a:t>
                      </a:r>
                    </a:p>
                  </a:txBody>
                  <a:tcPr anchor="ctr" marT="12700" marB="12700" marL="88900" marR="88900">
                    <a:solidFill>
                      <a:srgbClr val="EEF2F8"/>
                    </a:solidFill>
                  </a:tcPr>
                </a:tc>
                <a:tc>
                  <a:txBody>
                    <a:bodyPr/>
                    <a:lstStyle/>
                    <a:p>
                      <a:pPr algn="l"/>
                      <a:r>
                        <a:rPr sz="1350" b="0">
                          <a:solidFill>
                            <a:srgbClr val="212121"/>
                          </a:solidFill>
                        </a:rPr>
                        <a:t>30 mm</a:t>
                      </a:r>
                    </a:p>
                  </a:txBody>
                  <a:tcPr anchor="ctr" marT="12700" marB="12700" marL="88900" marR="88900">
                    <a:solidFill>
                      <a:srgbClr val="EEF2F8"/>
                    </a:solidFill>
                  </a:tcPr>
                </a:tc>
                <a:tc>
                  <a:txBody>
                    <a:bodyPr/>
                    <a:lstStyle/>
                    <a:p>
                      <a:pPr algn="l"/>
                      <a:r>
                        <a:rPr sz="1350" b="0">
                          <a:solidFill>
                            <a:srgbClr val="212121"/>
                          </a:solidFill>
                        </a:rPr>
                        <a:t>micro-TPC mode, drift field ≈ 330 V/cm</a:t>
                      </a:r>
                    </a:p>
                  </a:txBody>
                  <a:tcPr anchor="ctr" marT="12700" marB="12700" marL="88900" marR="88900">
                    <a:solidFill>
                      <a:srgbClr val="EEF2F8"/>
                    </a:solidFill>
                  </a:tcPr>
                </a:tc>
              </a:tr>
              <a:tr h="379476">
                <a:tc>
                  <a:txBody>
                    <a:bodyPr/>
                    <a:lstStyle/>
                    <a:p>
                      <a:pPr algn="l"/>
                      <a:r>
                        <a:rPr sz="1350" b="1">
                          <a:solidFill>
                            <a:srgbClr val="212121"/>
                          </a:solidFill>
                        </a:rPr>
                        <a:t>Gas</a:t>
                      </a:r>
                    </a:p>
                  </a:txBody>
                  <a:tcPr anchor="ctr" marT="12700" marB="12700" marL="88900" marR="88900">
                    <a:solidFill>
                      <a:srgbClr val="FFFFFF"/>
                    </a:solidFill>
                  </a:tcPr>
                </a:tc>
                <a:tc>
                  <a:txBody>
                    <a:bodyPr/>
                    <a:lstStyle/>
                    <a:p>
                      <a:pPr algn="l"/>
                      <a:r>
                        <a:rPr sz="1350" b="0">
                          <a:solidFill>
                            <a:srgbClr val="212121"/>
                          </a:solidFill>
                        </a:rPr>
                        <a:t>Ar/iC₄H₁₀ 95/5</a:t>
                      </a:r>
                    </a:p>
                  </a:txBody>
                  <a:tcPr anchor="ctr" marT="12700" marB="12700" marL="88900" marR="88900">
                    <a:solidFill>
                      <a:srgbClr val="FFFFFF"/>
                    </a:solidFill>
                  </a:tcPr>
                </a:tc>
                <a:tc>
                  <a:txBody>
                    <a:bodyPr/>
                    <a:lstStyle/>
                    <a:p>
                      <a:pPr algn="l"/>
                      <a:r>
                        <a:rPr sz="1350" b="0">
                          <a:solidFill>
                            <a:srgbClr val="212121"/>
                          </a:solidFill>
                        </a:rPr>
                        <a:t>atmospheric, flushed</a:t>
                      </a:r>
                    </a:p>
                  </a:txBody>
                  <a:tcPr anchor="ctr" marT="12700" marB="12700" marL="88900" marR="88900">
                    <a:solidFill>
                      <a:srgbClr val="FFFFFF"/>
                    </a:solidFill>
                  </a:tcPr>
                </a:tc>
              </a:tr>
              <a:tr h="379476">
                <a:tc>
                  <a:txBody>
                    <a:bodyPr/>
                    <a:lstStyle/>
                    <a:p>
                      <a:pPr algn="l"/>
                      <a:r>
                        <a:rPr sz="1350" b="1">
                          <a:solidFill>
                            <a:srgbClr val="212121"/>
                          </a:solidFill>
                        </a:rPr>
                        <a:t>Drift velocity</a:t>
                      </a:r>
                    </a:p>
                  </a:txBody>
                  <a:tcPr anchor="ctr" marT="12700" marB="12700" marL="88900" marR="88900">
                    <a:solidFill>
                      <a:srgbClr val="EEF2F8"/>
                    </a:solidFill>
                  </a:tcPr>
                </a:tc>
                <a:tc>
                  <a:txBody>
                    <a:bodyPr/>
                    <a:lstStyle/>
                    <a:p>
                      <a:pPr algn="l"/>
                      <a:r>
                        <a:rPr sz="1350" b="0">
                          <a:solidFill>
                            <a:srgbClr val="212121"/>
                          </a:solidFill>
                        </a:rPr>
                        <a:t>34 ± 1.5 µm/ns</a:t>
                      </a:r>
                    </a:p>
                  </a:txBody>
                  <a:tcPr anchor="ctr" marT="12700" marB="12700" marL="88900" marR="88900">
                    <a:solidFill>
                      <a:srgbClr val="EEF2F8"/>
                    </a:solidFill>
                  </a:tcPr>
                </a:tc>
                <a:tc>
                  <a:txBody>
                    <a:bodyPr/>
                    <a:lstStyle/>
                    <a:p>
                      <a:pPr algn="l"/>
                      <a:r>
                        <a:rPr sz="1350" b="0">
                          <a:solidFill>
                            <a:srgbClr val="212121"/>
                          </a:solidFill>
                        </a:rPr>
                        <a:t>measured; matches Magboltz (~1 % H₂O)</a:t>
                      </a:r>
                    </a:p>
                  </a:txBody>
                  <a:tcPr anchor="ctr" marT="12700" marB="12700" marL="88900" marR="88900">
                    <a:solidFill>
                      <a:srgbClr val="EEF2F8"/>
                    </a:solidFill>
                  </a:tcPr>
                </a:tc>
              </a:tr>
              <a:tr h="379476">
                <a:tc>
                  <a:txBody>
                    <a:bodyPr/>
                    <a:lstStyle/>
                    <a:p>
                      <a:pPr algn="l"/>
                      <a:r>
                        <a:rPr sz="1350" b="1">
                          <a:solidFill>
                            <a:srgbClr val="212121"/>
                          </a:solidFill>
                        </a:rPr>
                        <a:t>Detection efficiency</a:t>
                      </a:r>
                    </a:p>
                  </a:txBody>
                  <a:tcPr anchor="ctr" marT="12700" marB="12700" marL="88900" marR="88900">
                    <a:solidFill>
                      <a:srgbClr val="FFFFFF"/>
                    </a:solidFill>
                  </a:tcPr>
                </a:tc>
                <a:tc>
                  <a:txBody>
                    <a:bodyPr/>
                    <a:lstStyle/>
                    <a:p>
                      <a:pPr algn="l"/>
                      <a:r>
                        <a:rPr sz="1350" b="0">
                          <a:solidFill>
                            <a:srgbClr val="212121"/>
                          </a:solidFill>
                        </a:rPr>
                        <a:t>92.9 %</a:t>
                      </a:r>
                    </a:p>
                  </a:txBody>
                  <a:tcPr anchor="ctr" marT="12700" marB="12700" marL="88900" marR="88900">
                    <a:solidFill>
                      <a:srgbClr val="FFFFFF"/>
                    </a:solidFill>
                  </a:tcPr>
                </a:tc>
                <a:tc>
                  <a:txBody>
                    <a:bodyPr/>
                    <a:lstStyle/>
                    <a:p>
                      <a:pPr algn="l"/>
                      <a:r>
                        <a:rPr sz="1350" b="0">
                          <a:solidFill>
                            <a:srgbClr val="212121"/>
                          </a:solidFill>
                        </a:rPr>
                        <a:t>within 5 mm; spark-free 96.6 %, core ~96 %</a:t>
                      </a:r>
                    </a:p>
                  </a:txBody>
                  <a:tcPr anchor="ctr" marT="12700" marB="12700" marL="88900" marR="88900">
                    <a:solidFill>
                      <a:srgbClr val="FFFFFF"/>
                    </a:solidFill>
                  </a:tcPr>
                </a:tc>
              </a:tr>
              <a:tr h="379476">
                <a:tc>
                  <a:txBody>
                    <a:bodyPr/>
                    <a:lstStyle/>
                    <a:p>
                      <a:pPr algn="l"/>
                      <a:r>
                        <a:rPr sz="1350" b="1">
                          <a:solidFill>
                            <a:srgbClr val="212121"/>
                          </a:solidFill>
                        </a:rPr>
                        <a:t>Muons giving any signal</a:t>
                      </a:r>
                    </a:p>
                  </a:txBody>
                  <a:tcPr anchor="ctr" marT="12700" marB="12700" marL="88900" marR="88900">
                    <a:solidFill>
                      <a:srgbClr val="EEF2F8"/>
                    </a:solidFill>
                  </a:tcPr>
                </a:tc>
                <a:tc>
                  <a:txBody>
                    <a:bodyPr/>
                    <a:lstStyle/>
                    <a:p>
                      <a:pPr algn="l"/>
                      <a:r>
                        <a:rPr sz="1350" b="0">
                          <a:solidFill>
                            <a:srgbClr val="212121"/>
                          </a:solidFill>
                        </a:rPr>
                        <a:t>≈ 100 %</a:t>
                      </a:r>
                    </a:p>
                  </a:txBody>
                  <a:tcPr anchor="ctr" marT="12700" marB="12700" marL="88900" marR="88900">
                    <a:solidFill>
                      <a:srgbClr val="EEF2F8"/>
                    </a:solidFill>
                  </a:tcPr>
                </a:tc>
                <a:tc>
                  <a:txBody>
                    <a:bodyPr/>
                    <a:lstStyle/>
                    <a:p>
                      <a:pPr algn="l"/>
                      <a:r>
                        <a:rPr sz="1350" b="0">
                          <a:solidFill>
                            <a:srgbClr val="212121"/>
                          </a:solidFill>
                        </a:rPr>
                        <a:t>chamber essentially never blind (≈0 % silent)</a:t>
                      </a:r>
                    </a:p>
                  </a:txBody>
                  <a:tcPr anchor="ctr" marT="12700" marB="12700" marL="88900" marR="88900">
                    <a:solidFill>
                      <a:srgbClr val="EEF2F8"/>
                    </a:solidFill>
                  </a:tcPr>
                </a:tc>
              </a:tr>
              <a:tr h="379476">
                <a:tc>
                  <a:txBody>
                    <a:bodyPr/>
                    <a:lstStyle/>
                    <a:p>
                      <a:pPr algn="l"/>
                      <a:r>
                        <a:rPr sz="1350" b="1">
                          <a:solidFill>
                            <a:srgbClr val="212121"/>
                          </a:solidFill>
                        </a:rPr>
                        <a:t>Position resolution</a:t>
                      </a:r>
                    </a:p>
                  </a:txBody>
                  <a:tcPr anchor="ctr" marT="12700" marB="12700" marL="88900" marR="88900">
                    <a:solidFill>
                      <a:srgbClr val="FFFFFF"/>
                    </a:solidFill>
                  </a:tcPr>
                </a:tc>
                <a:tc>
                  <a:txBody>
                    <a:bodyPr/>
                    <a:lstStyle/>
                    <a:p>
                      <a:pPr algn="l"/>
                      <a:r>
                        <a:rPr sz="1350" b="0">
                          <a:solidFill>
                            <a:srgbClr val="212121"/>
                          </a:solidFill>
                        </a:rPr>
                        <a:t>0.44 – 0.47 mm</a:t>
                      </a:r>
                    </a:p>
                  </a:txBody>
                  <a:tcPr anchor="ctr" marT="12700" marB="12700" marL="88900" marR="88900">
                    <a:solidFill>
                      <a:srgbClr val="FFFFFF"/>
                    </a:solidFill>
                  </a:tcPr>
                </a:tc>
                <a:tc>
                  <a:txBody>
                    <a:bodyPr/>
                    <a:lstStyle/>
                    <a:p>
                      <a:pPr algn="l"/>
                      <a:r>
                        <a:rPr sz="1350" b="0">
                          <a:solidFill>
                            <a:srgbClr val="212121"/>
                          </a:solidFill>
                        </a:rPr>
                        <a:t>sub-pitch (pitch 0.78 mm); incl. telescope</a:t>
                      </a:r>
                    </a:p>
                  </a:txBody>
                  <a:tcPr anchor="ctr" marT="12700" marB="12700" marL="88900" marR="88900">
                    <a:solidFill>
                      <a:srgbClr val="FFFFFF"/>
                    </a:solidFill>
                  </a:tcPr>
                </a:tc>
              </a:tr>
              <a:tr h="379476">
                <a:tc>
                  <a:txBody>
                    <a:bodyPr/>
                    <a:lstStyle/>
                    <a:p>
                      <a:pPr algn="l"/>
                      <a:r>
                        <a:rPr sz="1350" b="1">
                          <a:solidFill>
                            <a:srgbClr val="212121"/>
                          </a:solidFill>
                        </a:rPr>
                        <a:t>Angular resolution</a:t>
                      </a:r>
                    </a:p>
                  </a:txBody>
                  <a:tcPr anchor="ctr" marT="12700" marB="12700" marL="88900" marR="88900">
                    <a:solidFill>
                      <a:srgbClr val="EEF2F8"/>
                    </a:solidFill>
                  </a:tcPr>
                </a:tc>
                <a:tc>
                  <a:txBody>
                    <a:bodyPr/>
                    <a:lstStyle/>
                    <a:p>
                      <a:pPr algn="l"/>
                      <a:r>
                        <a:rPr sz="1350" b="0">
                          <a:solidFill>
                            <a:srgbClr val="212121"/>
                          </a:solidFill>
                        </a:rPr>
                        <a:t>≈ 1.7°</a:t>
                      </a:r>
                    </a:p>
                  </a:txBody>
                  <a:tcPr anchor="ctr" marT="12700" marB="12700" marL="88900" marR="88900">
                    <a:solidFill>
                      <a:srgbClr val="EEF2F8"/>
                    </a:solidFill>
                  </a:tcPr>
                </a:tc>
                <a:tc>
                  <a:txBody>
                    <a:bodyPr/>
                    <a:lstStyle/>
                    <a:p>
                      <a:pPr algn="l"/>
                      <a:r>
                        <a:rPr sz="1350" b="0">
                          <a:solidFill>
                            <a:srgbClr val="212121"/>
                          </a:solidFill>
                        </a:rPr>
                        <a:t>hybrid tracking, all angles; bias ≈0.1°</a:t>
                      </a:r>
                    </a:p>
                  </a:txBody>
                  <a:tcPr anchor="ctr" marT="12700" marB="12700" marL="88900" marR="88900">
                    <a:solidFill>
                      <a:srgbClr val="EEF2F8"/>
                    </a:solidFill>
                  </a:tcPr>
                </a:tc>
              </a:tr>
              <a:tr h="379476">
                <a:tc>
                  <a:txBody>
                    <a:bodyPr/>
                    <a:lstStyle/>
                    <a:p>
                      <a:pPr algn="l"/>
                      <a:r>
                        <a:rPr sz="1350" b="1">
                          <a:solidFill>
                            <a:srgbClr val="212121"/>
                          </a:solidFill>
                        </a:rPr>
                        <a:t>Time resolution</a:t>
                      </a:r>
                    </a:p>
                  </a:txBody>
                  <a:tcPr anchor="ctr" marT="12700" marB="12700" marL="88900" marR="88900">
                    <a:solidFill>
                      <a:srgbClr val="FFFFFF"/>
                    </a:solidFill>
                  </a:tcPr>
                </a:tc>
                <a:tc>
                  <a:txBody>
                    <a:bodyPr/>
                    <a:lstStyle/>
                    <a:p>
                      <a:pPr algn="l"/>
                      <a:r>
                        <a:rPr sz="1350" b="0">
                          <a:solidFill>
                            <a:srgbClr val="212121"/>
                          </a:solidFill>
                        </a:rPr>
                        <a:t>33 ns (≈ 1 mm drift)</a:t>
                      </a:r>
                    </a:p>
                  </a:txBody>
                  <a:tcPr anchor="ctr" marT="12700" marB="12700" marL="88900" marR="88900">
                    <a:solidFill>
                      <a:srgbClr val="FFFFFF"/>
                    </a:solidFill>
                  </a:tcPr>
                </a:tc>
                <a:tc>
                  <a:txBody>
                    <a:bodyPr/>
                    <a:lstStyle/>
                    <a:p>
                      <a:pPr algn="l"/>
                      <a:r>
                        <a:rPr sz="1350" b="0">
                          <a:solidFill>
                            <a:srgbClr val="212121"/>
                          </a:solidFill>
                        </a:rPr>
                        <a:t>telescope-free, inter-plane method</a:t>
                      </a:r>
                    </a:p>
                  </a:txBody>
                  <a:tcPr anchor="ctr" marT="12700" marB="12700" marL="88900" marR="88900">
                    <a:solidFill>
                      <a:srgbClr val="FFFFFF"/>
                    </a:solidFill>
                  </a:tcPr>
                </a:tc>
              </a:tr>
              <a:tr h="379476">
                <a:tc>
                  <a:txBody>
                    <a:bodyPr/>
                    <a:lstStyle/>
                    <a:p>
                      <a:pPr algn="l"/>
                      <a:r>
                        <a:rPr sz="1350" b="1">
                          <a:solidFill>
                            <a:srgbClr val="212121"/>
                          </a:solidFill>
                        </a:rPr>
                        <a:t>Charge sharing</a:t>
                      </a:r>
                    </a:p>
                  </a:txBody>
                  <a:tcPr anchor="ctr" marT="12700" marB="12700" marL="88900" marR="88900">
                    <a:solidFill>
                      <a:srgbClr val="EEF2F8"/>
                    </a:solidFill>
                  </a:tcPr>
                </a:tc>
                <a:tc>
                  <a:txBody>
                    <a:bodyPr/>
                    <a:lstStyle/>
                    <a:p>
                      <a:pPr algn="l"/>
                      <a:r>
                        <a:rPr sz="1350" b="0">
                          <a:solidFill>
                            <a:srgbClr val="212121"/>
                          </a:solidFill>
                        </a:rPr>
                        <a:t>45 – 52 % to neighbour</a:t>
                      </a:r>
                    </a:p>
                  </a:txBody>
                  <a:tcPr anchor="ctr" marT="12700" marB="12700" marL="88900" marR="88900">
                    <a:solidFill>
                      <a:srgbClr val="EEF2F8"/>
                    </a:solidFill>
                  </a:tcPr>
                </a:tc>
                <a:tc>
                  <a:txBody>
                    <a:bodyPr/>
                    <a:lstStyle/>
                    <a:p>
                      <a:pPr algn="l"/>
                      <a:r>
                        <a:rPr sz="1350" b="0">
                          <a:solidFill>
                            <a:srgbClr val="212121"/>
                          </a:solidFill>
                        </a:rPr>
                        <a:t>design property; enables sub-pitch</a:t>
                      </a:r>
                    </a:p>
                  </a:txBody>
                  <a:tcPr anchor="ctr" marT="12700" marB="12700" marL="88900" marR="88900">
                    <a:solidFill>
                      <a:srgbClr val="EEF2F8"/>
                    </a:solidFill>
                  </a:tcPr>
                </a:tc>
              </a:tr>
              <a:tr h="379476">
                <a:tc>
                  <a:txBody>
                    <a:bodyPr/>
                    <a:lstStyle/>
                    <a:p>
                      <a:pPr algn="l"/>
                      <a:r>
                        <a:rPr sz="1350" b="1">
                          <a:solidFill>
                            <a:srgbClr val="212121"/>
                          </a:solidFill>
                        </a:rPr>
                        <a:t>Spark rate (at optimum)</a:t>
                      </a:r>
                    </a:p>
                  </a:txBody>
                  <a:tcPr anchor="ctr" marT="12700" marB="12700" marL="88900" marR="88900">
                    <a:solidFill>
                      <a:srgbClr val="FFFFFF"/>
                    </a:solidFill>
                  </a:tcPr>
                </a:tc>
                <a:tc>
                  <a:txBody>
                    <a:bodyPr/>
                    <a:lstStyle/>
                    <a:p>
                      <a:pPr algn="l"/>
                      <a:r>
                        <a:rPr sz="1350" b="0">
                          <a:solidFill>
                            <a:srgbClr val="212121"/>
                          </a:solidFill>
                        </a:rPr>
                        <a:t>3.9 % of crossings</a:t>
                      </a:r>
                    </a:p>
                  </a:txBody>
                  <a:tcPr anchor="ctr" marT="12700" marB="12700" marL="88900" marR="88900">
                    <a:solidFill>
                      <a:srgbClr val="FFFFFF"/>
                    </a:solidFill>
                  </a:tcPr>
                </a:tc>
                <a:tc>
                  <a:txBody>
                    <a:bodyPr/>
                    <a:lstStyle/>
                    <a:p>
                      <a:pPr algn="l"/>
                      <a:r>
                        <a:rPr sz="1350" b="0">
                          <a:solidFill>
                            <a:srgbClr val="212121"/>
                          </a:solidFill>
                        </a:rPr>
                        <a:t>self-quenching; zero measurable dead time</a:t>
                      </a:r>
                    </a:p>
                  </a:txBody>
                  <a:tcPr anchor="ctr" marT="12700" marB="12700" marL="88900" marR="88900">
                    <a:solidFill>
                      <a:srgbClr val="FFFFFF"/>
                    </a:solidFill>
                  </a:tcPr>
                </a:tc>
              </a:tr>
            </a:tbl>
          </a:graphicData>
        </a:graphic>
      </p:graphicFrame>
      <p:sp>
        <p:nvSpPr>
          <p:cNvPr id="4" name="TextBox 3"/>
          <p:cNvSpPr txBox="1"/>
          <p:nvPr/>
        </p:nvSpPr>
        <p:spPr>
          <a:xfrm>
            <a:off x="411480" y="6473952"/>
            <a:ext cx="11368735" cy="292608"/>
          </a:xfrm>
          <a:prstGeom prst="rect">
            <a:avLst/>
          </a:prstGeom>
          <a:noFill/>
        </p:spPr>
        <p:txBody>
          <a:bodyPr wrap="none">
            <a:spAutoFit/>
          </a:bodyPr>
          <a:lstStyle/>
          <a:p>
            <a:pPr>
              <a:defRPr sz="1000">
                <a:solidFill>
                  <a:srgbClr val="5A5A5A"/>
                </a:solidFill>
              </a:defRPr>
            </a:pPr>
            <a:r>
              <a:t>Detector A (mx17_3), 490 V / 1000 V. All values preliminary; measured against reference muon tracks.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Per-detector characteristics — the five chambers</a:t>
            </a:r>
          </a:p>
        </p:txBody>
      </p:sp>
      <p:graphicFrame>
        <p:nvGraphicFramePr>
          <p:cNvPr id="3" name="Table 2"/>
          <p:cNvGraphicFramePr>
            <a:graphicFrameLocks noGrp="1"/>
          </p:cNvGraphicFramePr>
          <p:nvPr/>
        </p:nvGraphicFramePr>
        <p:xfrm>
          <a:off x="411480" y="1371600"/>
          <a:ext cx="11201400" cy="3621024"/>
        </p:xfrm>
        <a:graphic>
          <a:graphicData uri="http://schemas.openxmlformats.org/drawingml/2006/table">
            <a:tbl>
              <a:tblPr>
                <a:tableStyleId>{5C22544A-7EE6-4342-B048-85BDC9FD1C3A}</a:tableStyleId>
              </a:tblPr>
              <a:tblGrid>
                <a:gridCol w="640080"/>
                <a:gridCol w="1234440"/>
                <a:gridCol w="1554480"/>
                <a:gridCol w="1371600"/>
                <a:gridCol w="1280160"/>
                <a:gridCol w="1417320"/>
                <a:gridCol w="1554480"/>
                <a:gridCol w="2148840"/>
              </a:tblGrid>
              <a:tr h="603504">
                <a:tc>
                  <a:txBody>
                    <a:bodyPr/>
                    <a:lstStyle/>
                    <a:p>
                      <a:pPr algn="l"/>
                      <a:r>
                        <a:rPr sz="1350" b="1">
                          <a:solidFill>
                            <a:srgbClr val="FFFFFF"/>
                          </a:solidFill>
                        </a:rPr>
                        <a:t>Det</a:t>
                      </a:r>
                    </a:p>
                  </a:txBody>
                  <a:tcPr anchor="ctr" marT="12700" marB="12700" marL="88900" marR="88900">
                    <a:solidFill>
                      <a:srgbClr val="2E598C"/>
                    </a:solidFill>
                  </a:tcPr>
                </a:tc>
                <a:tc>
                  <a:txBody>
                    <a:bodyPr/>
                    <a:lstStyle/>
                    <a:p>
                      <a:pPr algn="ctr"/>
                      <a:r>
                        <a:rPr sz="1350" b="1">
                          <a:solidFill>
                            <a:srgbClr val="FFFFFF"/>
                          </a:solidFill>
                        </a:rPr>
                        <a:t>Serial</a:t>
                      </a:r>
                    </a:p>
                  </a:txBody>
                  <a:tcPr anchor="ctr" marT="12700" marB="12700" marL="88900" marR="88900">
                    <a:solidFill>
                      <a:srgbClr val="2E598C"/>
                    </a:solidFill>
                  </a:tcPr>
                </a:tc>
                <a:tc>
                  <a:txBody>
                    <a:bodyPr/>
                    <a:lstStyle/>
                    <a:p>
                      <a:pPr algn="ctr"/>
                      <a:r>
                        <a:rPr sz="1350" b="1">
                          <a:solidFill>
                            <a:srgbClr val="FFFFFF"/>
                          </a:solidFill>
                        </a:rPr>
                        <a:t>Efficiency</a:t>
                      </a:r>
                    </a:p>
                    <a:p>
                      <a:pPr algn="ctr"/>
                      <a:r>
                        <a:rPr sz="1350" b="1">
                          <a:solidFill>
                            <a:srgbClr val="FFFFFF"/>
                          </a:solidFill>
                        </a:rPr>
                        <a:t>(≤5 mm)</a:t>
                      </a:r>
                    </a:p>
                  </a:txBody>
                  <a:tcPr anchor="ctr" marT="12700" marB="12700" marL="88900" marR="88900">
                    <a:solidFill>
                      <a:srgbClr val="2E598C"/>
                    </a:solidFill>
                  </a:tcPr>
                </a:tc>
                <a:tc>
                  <a:txBody>
                    <a:bodyPr/>
                    <a:lstStyle/>
                    <a:p>
                      <a:pPr algn="ctr"/>
                      <a:r>
                        <a:rPr sz="1350" b="1">
                          <a:solidFill>
                            <a:srgbClr val="FFFFFF"/>
                          </a:solidFill>
                        </a:rPr>
                        <a:t>Position σ</a:t>
                      </a:r>
                    </a:p>
                  </a:txBody>
                  <a:tcPr anchor="ctr" marT="12700" marB="12700" marL="88900" marR="88900">
                    <a:solidFill>
                      <a:srgbClr val="2E598C"/>
                    </a:solidFill>
                  </a:tcPr>
                </a:tc>
                <a:tc>
                  <a:txBody>
                    <a:bodyPr/>
                    <a:lstStyle/>
                    <a:p>
                      <a:pPr algn="ctr"/>
                      <a:r>
                        <a:rPr sz="1350" b="1">
                          <a:solidFill>
                            <a:srgbClr val="FFFFFF"/>
                          </a:solidFill>
                        </a:rPr>
                        <a:t>Angle σ68*</a:t>
                      </a:r>
                    </a:p>
                  </a:txBody>
                  <a:tcPr anchor="ctr" marT="12700" marB="12700" marL="88900" marR="88900">
                    <a:solidFill>
                      <a:srgbClr val="2E598C"/>
                    </a:solidFill>
                  </a:tcPr>
                </a:tc>
                <a:tc>
                  <a:txBody>
                    <a:bodyPr/>
                    <a:lstStyle/>
                    <a:p>
                      <a:pPr algn="ctr"/>
                      <a:r>
                        <a:rPr sz="1350" b="1">
                          <a:solidFill>
                            <a:srgbClr val="FFFFFF"/>
                          </a:solidFill>
                        </a:rPr>
                        <a:t>Spark</a:t>
                      </a:r>
                    </a:p>
                    <a:p>
                      <a:pPr algn="ctr"/>
                      <a:r>
                        <a:rPr sz="1350" b="1">
                          <a:solidFill>
                            <a:srgbClr val="FFFFFF"/>
                          </a:solidFill>
                        </a:rPr>
                        <a:t>(% cross.)</a:t>
                      </a:r>
                    </a:p>
                  </a:txBody>
                  <a:tcPr anchor="ctr" marT="12700" marB="12700" marL="88900" marR="88900">
                    <a:solidFill>
                      <a:srgbClr val="2E598C"/>
                    </a:solidFill>
                  </a:tcPr>
                </a:tc>
                <a:tc>
                  <a:txBody>
                    <a:bodyPr/>
                    <a:lstStyle/>
                    <a:p>
                      <a:pPr algn="ctr"/>
                      <a:r>
                        <a:rPr sz="1350" b="1">
                          <a:solidFill>
                            <a:srgbClr val="FFFFFF"/>
                          </a:solidFill>
                        </a:rPr>
                        <a:t>Amp HV</a:t>
                      </a:r>
                    </a:p>
                    <a:p>
                      <a:pPr algn="ctr"/>
                      <a:r>
                        <a:rPr sz="1350" b="1">
                          <a:solidFill>
                            <a:srgbClr val="FFFFFF"/>
                          </a:solidFill>
                        </a:rPr>
                        <a:t>(optimum)</a:t>
                      </a:r>
                    </a:p>
                  </a:txBody>
                  <a:tcPr anchor="ctr" marT="12700" marB="12700" marL="88900" marR="88900">
                    <a:solidFill>
                      <a:srgbClr val="2E598C"/>
                    </a:solidFill>
                  </a:tcPr>
                </a:tc>
                <a:tc>
                  <a:txBody>
                    <a:bodyPr/>
                    <a:lstStyle/>
                    <a:p>
                      <a:pPr algn="ctr"/>
                      <a:r>
                        <a:rPr sz="1350" b="1">
                          <a:solidFill>
                            <a:srgbClr val="FFFFFF"/>
                          </a:solidFill>
                        </a:rPr>
                        <a:t>Verdict</a:t>
                      </a:r>
                    </a:p>
                  </a:txBody>
                  <a:tcPr anchor="ctr" marT="12700" marB="12700" marL="88900" marR="88900">
                    <a:solidFill>
                      <a:srgbClr val="2E598C"/>
                    </a:solidFill>
                  </a:tcPr>
                </a:tc>
              </a:tr>
              <a:tr h="603504">
                <a:tc>
                  <a:txBody>
                    <a:bodyPr/>
                    <a:lstStyle/>
                    <a:p>
                      <a:pPr algn="l"/>
                      <a:r>
                        <a:rPr sz="1400" b="1">
                          <a:solidFill>
                            <a:srgbClr val="212121"/>
                          </a:solidFill>
                        </a:rPr>
                        <a:t>A</a:t>
                      </a:r>
                    </a:p>
                  </a:txBody>
                  <a:tcPr anchor="ctr" marT="12700" marB="12700" marL="88900" marR="88900">
                    <a:solidFill>
                      <a:srgbClr val="EEF2F8"/>
                    </a:solidFill>
                  </a:tcPr>
                </a:tc>
                <a:tc>
                  <a:txBody>
                    <a:bodyPr/>
                    <a:lstStyle/>
                    <a:p>
                      <a:pPr algn="ctr"/>
                      <a:r>
                        <a:rPr sz="1400" b="0">
                          <a:solidFill>
                            <a:srgbClr val="212121"/>
                          </a:solidFill>
                        </a:rPr>
                        <a:t>mx17_3</a:t>
                      </a:r>
                    </a:p>
                  </a:txBody>
                  <a:tcPr anchor="ctr" marT="12700" marB="12700" marL="88900" marR="88900">
                    <a:solidFill>
                      <a:srgbClr val="EEF2F8"/>
                    </a:solidFill>
                  </a:tcPr>
                </a:tc>
                <a:tc>
                  <a:txBody>
                    <a:bodyPr/>
                    <a:lstStyle/>
                    <a:p>
                      <a:pPr algn="ctr"/>
                      <a:r>
                        <a:rPr sz="1400" b="0">
                          <a:solidFill>
                            <a:srgbClr val="212121"/>
                          </a:solidFill>
                        </a:rPr>
                        <a:t>92.9 %</a:t>
                      </a:r>
                    </a:p>
                  </a:txBody>
                  <a:tcPr anchor="ctr" marT="12700" marB="12700" marL="88900" marR="88900">
                    <a:solidFill>
                      <a:srgbClr val="EEF2F8"/>
                    </a:solidFill>
                  </a:tcPr>
                </a:tc>
                <a:tc>
                  <a:txBody>
                    <a:bodyPr/>
                    <a:lstStyle/>
                    <a:p>
                      <a:pPr algn="ctr"/>
                      <a:r>
                        <a:rPr sz="1400" b="0">
                          <a:solidFill>
                            <a:srgbClr val="212121"/>
                          </a:solidFill>
                        </a:rPr>
                        <a:t>0.47 mm</a:t>
                      </a:r>
                    </a:p>
                  </a:txBody>
                  <a:tcPr anchor="ctr" marT="12700" marB="12700" marL="88900" marR="88900">
                    <a:solidFill>
                      <a:srgbClr val="EEF2F8"/>
                    </a:solidFill>
                  </a:tcPr>
                </a:tc>
                <a:tc>
                  <a:txBody>
                    <a:bodyPr/>
                    <a:lstStyle/>
                    <a:p>
                      <a:pPr algn="ctr"/>
                      <a:r>
                        <a:rPr sz="1400" b="0">
                          <a:solidFill>
                            <a:srgbClr val="212121"/>
                          </a:solidFill>
                        </a:rPr>
                        <a:t>1.7°</a:t>
                      </a:r>
                    </a:p>
                  </a:txBody>
                  <a:tcPr anchor="ctr" marT="12700" marB="12700" marL="88900" marR="88900">
                    <a:solidFill>
                      <a:srgbClr val="EEF2F8"/>
                    </a:solidFill>
                  </a:tcPr>
                </a:tc>
                <a:tc>
                  <a:txBody>
                    <a:bodyPr/>
                    <a:lstStyle/>
                    <a:p>
                      <a:pPr algn="ctr"/>
                      <a:r>
                        <a:rPr sz="1400" b="0">
                          <a:solidFill>
                            <a:srgbClr val="212121"/>
                          </a:solidFill>
                        </a:rPr>
                        <a:t>3.9 %</a:t>
                      </a:r>
                    </a:p>
                  </a:txBody>
                  <a:tcPr anchor="ctr" marT="12700" marB="12700" marL="88900" marR="88900">
                    <a:solidFill>
                      <a:srgbClr val="EEF2F8"/>
                    </a:solidFill>
                  </a:tcPr>
                </a:tc>
                <a:tc>
                  <a:txBody>
                    <a:bodyPr/>
                    <a:lstStyle/>
                    <a:p>
                      <a:pPr algn="ctr"/>
                      <a:r>
                        <a:rPr sz="1400" b="0">
                          <a:solidFill>
                            <a:srgbClr val="212121"/>
                          </a:solidFill>
                        </a:rPr>
                        <a:t>490–495 V</a:t>
                      </a:r>
                    </a:p>
                  </a:txBody>
                  <a:tcPr anchor="ctr" marT="12700" marB="12700" marL="88900" marR="88900">
                    <a:solidFill>
                      <a:srgbClr val="EEF2F8"/>
                    </a:solidFill>
                  </a:tcPr>
                </a:tc>
                <a:tc>
                  <a:txBody>
                    <a:bodyPr/>
                    <a:lstStyle/>
                    <a:p>
                      <a:pPr algn="ctr"/>
                      <a:r>
                        <a:rPr sz="1400" b="0">
                          <a:solidFill>
                            <a:srgbClr val="212121"/>
                          </a:solidFill>
                        </a:rPr>
                        <a:t>Best performer</a:t>
                      </a:r>
                    </a:p>
                  </a:txBody>
                  <a:tcPr anchor="ctr" marT="12700" marB="12700" marL="88900" marR="88900">
                    <a:solidFill>
                      <a:srgbClr val="EEF2F8"/>
                    </a:solidFill>
                  </a:tcPr>
                </a:tc>
              </a:tr>
              <a:tr h="603504">
                <a:tc>
                  <a:txBody>
                    <a:bodyPr/>
                    <a:lstStyle/>
                    <a:p>
                      <a:pPr algn="l"/>
                      <a:r>
                        <a:rPr sz="1400" b="1">
                          <a:solidFill>
                            <a:srgbClr val="212121"/>
                          </a:solidFill>
                        </a:rPr>
                        <a:t>B</a:t>
                      </a:r>
                    </a:p>
                  </a:txBody>
                  <a:tcPr anchor="ctr" marT="12700" marB="12700" marL="88900" marR="88900">
                    <a:solidFill>
                      <a:srgbClr val="FFFFFF"/>
                    </a:solidFill>
                  </a:tcPr>
                </a:tc>
                <a:tc>
                  <a:txBody>
                    <a:bodyPr/>
                    <a:lstStyle/>
                    <a:p>
                      <a:pPr algn="ctr"/>
                      <a:r>
                        <a:rPr sz="1400" b="0">
                          <a:solidFill>
                            <a:srgbClr val="212121"/>
                          </a:solidFill>
                        </a:rPr>
                        <a:t>mx17_2</a:t>
                      </a:r>
                    </a:p>
                  </a:txBody>
                  <a:tcPr anchor="ctr" marT="12700" marB="12700" marL="88900" marR="88900">
                    <a:solidFill>
                      <a:srgbClr val="FFFFFF"/>
                    </a:solidFill>
                  </a:tcPr>
                </a:tc>
                <a:tc>
                  <a:txBody>
                    <a:bodyPr/>
                    <a:lstStyle/>
                    <a:p>
                      <a:pPr algn="ctr"/>
                      <a:r>
                        <a:rPr sz="1400" b="0">
                          <a:solidFill>
                            <a:srgbClr val="212121"/>
                          </a:solidFill>
                        </a:rPr>
                        <a:t>91.3 %</a:t>
                      </a:r>
                    </a:p>
                  </a:txBody>
                  <a:tcPr anchor="ctr" marT="12700" marB="12700" marL="88900" marR="88900">
                    <a:solidFill>
                      <a:srgbClr val="FFFFFF"/>
                    </a:solidFill>
                  </a:tcPr>
                </a:tc>
                <a:tc>
                  <a:txBody>
                    <a:bodyPr/>
                    <a:lstStyle/>
                    <a:p>
                      <a:pPr algn="ctr"/>
                      <a:r>
                        <a:rPr sz="1400" b="0">
                          <a:solidFill>
                            <a:srgbClr val="212121"/>
                          </a:solidFill>
                        </a:rPr>
                        <a:t>0.46 mm</a:t>
                      </a:r>
                    </a:p>
                  </a:txBody>
                  <a:tcPr anchor="ctr" marT="12700" marB="12700" marL="88900" marR="88900">
                    <a:solidFill>
                      <a:srgbClr val="FFFFFF"/>
                    </a:solidFill>
                  </a:tcPr>
                </a:tc>
                <a:tc>
                  <a:txBody>
                    <a:bodyPr/>
                    <a:lstStyle/>
                    <a:p>
                      <a:pPr algn="ctr"/>
                      <a:r>
                        <a:rPr sz="1400" b="0">
                          <a:solidFill>
                            <a:srgbClr val="212121"/>
                          </a:solidFill>
                        </a:rPr>
                        <a:t>2.3°</a:t>
                      </a:r>
                    </a:p>
                  </a:txBody>
                  <a:tcPr anchor="ctr" marT="12700" marB="12700" marL="88900" marR="88900">
                    <a:solidFill>
                      <a:srgbClr val="FFFFFF"/>
                    </a:solidFill>
                  </a:tcPr>
                </a:tc>
                <a:tc>
                  <a:txBody>
                    <a:bodyPr/>
                    <a:lstStyle/>
                    <a:p>
                      <a:pPr algn="ctr"/>
                      <a:r>
                        <a:rPr sz="1400" b="0">
                          <a:solidFill>
                            <a:srgbClr val="212121"/>
                          </a:solidFill>
                        </a:rPr>
                        <a:t>5.0 %</a:t>
                      </a:r>
                    </a:p>
                  </a:txBody>
                  <a:tcPr anchor="ctr" marT="12700" marB="12700" marL="88900" marR="88900">
                    <a:solidFill>
                      <a:srgbClr val="FFFFFF"/>
                    </a:solidFill>
                  </a:tcPr>
                </a:tc>
                <a:tc>
                  <a:txBody>
                    <a:bodyPr/>
                    <a:lstStyle/>
                    <a:p>
                      <a:pPr algn="ctr"/>
                      <a:r>
                        <a:rPr sz="1400" b="0">
                          <a:solidFill>
                            <a:srgbClr val="212121"/>
                          </a:solidFill>
                        </a:rPr>
                        <a:t>485–490 V</a:t>
                      </a:r>
                    </a:p>
                  </a:txBody>
                  <a:tcPr anchor="ctr" marT="12700" marB="12700" marL="88900" marR="88900">
                    <a:solidFill>
                      <a:srgbClr val="FFFFFF"/>
                    </a:solidFill>
                  </a:tcPr>
                </a:tc>
                <a:tc>
                  <a:txBody>
                    <a:bodyPr/>
                    <a:lstStyle/>
                    <a:p>
                      <a:pPr algn="ctr"/>
                      <a:r>
                        <a:rPr sz="1400" b="0">
                          <a:solidFill>
                            <a:srgbClr val="212121"/>
                          </a:solidFill>
                        </a:rPr>
                        <a:t>Healthy</a:t>
                      </a:r>
                    </a:p>
                  </a:txBody>
                  <a:tcPr anchor="ctr" marT="12700" marB="12700" marL="88900" marR="88900">
                    <a:solidFill>
                      <a:srgbClr val="FFFFFF"/>
                    </a:solidFill>
                  </a:tcPr>
                </a:tc>
              </a:tr>
              <a:tr h="603504">
                <a:tc>
                  <a:txBody>
                    <a:bodyPr/>
                    <a:lstStyle/>
                    <a:p>
                      <a:pPr algn="l"/>
                      <a:r>
                        <a:rPr sz="1400" b="1">
                          <a:solidFill>
                            <a:srgbClr val="212121"/>
                          </a:solidFill>
                        </a:rPr>
                        <a:t>C</a:t>
                      </a:r>
                    </a:p>
                  </a:txBody>
                  <a:tcPr anchor="ctr" marT="12700" marB="12700" marL="88900" marR="88900">
                    <a:solidFill>
                      <a:srgbClr val="EEF2F8"/>
                    </a:solidFill>
                  </a:tcPr>
                </a:tc>
                <a:tc>
                  <a:txBody>
                    <a:bodyPr/>
                    <a:lstStyle/>
                    <a:p>
                      <a:pPr algn="ctr"/>
                      <a:r>
                        <a:rPr sz="1400" b="0">
                          <a:solidFill>
                            <a:srgbClr val="212121"/>
                          </a:solidFill>
                        </a:rPr>
                        <a:t>mx17_6</a:t>
                      </a:r>
                    </a:p>
                  </a:txBody>
                  <a:tcPr anchor="ctr" marT="12700" marB="12700" marL="88900" marR="88900">
                    <a:solidFill>
                      <a:srgbClr val="EEF2F8"/>
                    </a:solidFill>
                  </a:tcPr>
                </a:tc>
                <a:tc>
                  <a:txBody>
                    <a:bodyPr/>
                    <a:lstStyle/>
                    <a:p>
                      <a:pPr algn="ctr"/>
                      <a:r>
                        <a:rPr sz="1400" b="0">
                          <a:solidFill>
                            <a:srgbClr val="212121"/>
                          </a:solidFill>
                        </a:rPr>
                        <a:t>57.8 %</a:t>
                      </a:r>
                    </a:p>
                  </a:txBody>
                  <a:tcPr anchor="ctr" marT="12700" marB="12700" marL="88900" marR="88900">
                    <a:solidFill>
                      <a:srgbClr val="EEF2F8"/>
                    </a:solidFill>
                  </a:tcPr>
                </a:tc>
                <a:tc>
                  <a:txBody>
                    <a:bodyPr/>
                    <a:lstStyle/>
                    <a:p>
                      <a:pPr algn="ctr"/>
                      <a:r>
                        <a:rPr sz="1400" b="0">
                          <a:solidFill>
                            <a:srgbClr val="212121"/>
                          </a:solidFill>
                        </a:rPr>
                        <a:t>0.45 mm</a:t>
                      </a:r>
                    </a:p>
                  </a:txBody>
                  <a:tcPr anchor="ctr" marT="12700" marB="12700" marL="88900" marR="88900">
                    <a:solidFill>
                      <a:srgbClr val="EEF2F8"/>
                    </a:solidFill>
                  </a:tcPr>
                </a:tc>
                <a:tc>
                  <a:txBody>
                    <a:bodyPr/>
                    <a:lstStyle/>
                    <a:p>
                      <a:pPr algn="ctr"/>
                      <a:r>
                        <a:rPr sz="1400" b="0">
                          <a:solidFill>
                            <a:srgbClr val="212121"/>
                          </a:solidFill>
                        </a:rPr>
                        <a:t>3.9° †</a:t>
                      </a:r>
                    </a:p>
                  </a:txBody>
                  <a:tcPr anchor="ctr" marT="12700" marB="12700" marL="88900" marR="88900">
                    <a:solidFill>
                      <a:srgbClr val="EEF2F8"/>
                    </a:solidFill>
                  </a:tcPr>
                </a:tc>
                <a:tc>
                  <a:txBody>
                    <a:bodyPr/>
                    <a:lstStyle/>
                    <a:p>
                      <a:pPr algn="ctr"/>
                      <a:r>
                        <a:rPr sz="1400" b="0">
                          <a:solidFill>
                            <a:srgbClr val="212121"/>
                          </a:solidFill>
                        </a:rPr>
                        <a:t>23.0 %</a:t>
                      </a:r>
                    </a:p>
                  </a:txBody>
                  <a:tcPr anchor="ctr" marT="12700" marB="12700" marL="88900" marR="88900">
                    <a:solidFill>
                      <a:srgbClr val="EEF2F8"/>
                    </a:solidFill>
                  </a:tcPr>
                </a:tc>
                <a:tc>
                  <a:txBody>
                    <a:bodyPr/>
                    <a:lstStyle/>
                    <a:p>
                      <a:pPr algn="ctr"/>
                      <a:r>
                        <a:rPr sz="1400" b="0">
                          <a:solidFill>
                            <a:srgbClr val="212121"/>
                          </a:solidFill>
                        </a:rPr>
                        <a:t>480 V</a:t>
                      </a:r>
                    </a:p>
                  </a:txBody>
                  <a:tcPr anchor="ctr" marT="12700" marB="12700" marL="88900" marR="88900">
                    <a:solidFill>
                      <a:srgbClr val="EEF2F8"/>
                    </a:solidFill>
                  </a:tcPr>
                </a:tc>
                <a:tc>
                  <a:txBody>
                    <a:bodyPr/>
                    <a:lstStyle/>
                    <a:p>
                      <a:pPr algn="ctr"/>
                      <a:r>
                        <a:rPr sz="1400" b="0">
                          <a:solidFill>
                            <a:srgbClr val="212121"/>
                          </a:solidFill>
                        </a:rPr>
                        <a:t>Spark-limited (op. pt.)</a:t>
                      </a:r>
                    </a:p>
                  </a:txBody>
                  <a:tcPr anchor="ctr" marT="12700" marB="12700" marL="88900" marR="88900">
                    <a:solidFill>
                      <a:srgbClr val="EEF2F8"/>
                    </a:solidFill>
                  </a:tcPr>
                </a:tc>
              </a:tr>
              <a:tr h="603504">
                <a:tc>
                  <a:txBody>
                    <a:bodyPr/>
                    <a:lstStyle/>
                    <a:p>
                      <a:pPr algn="l"/>
                      <a:r>
                        <a:rPr sz="1400" b="1">
                          <a:solidFill>
                            <a:srgbClr val="212121"/>
                          </a:solidFill>
                        </a:rPr>
                        <a:t>D</a:t>
                      </a:r>
                    </a:p>
                  </a:txBody>
                  <a:tcPr anchor="ctr" marT="12700" marB="12700" marL="88900" marR="88900">
                    <a:solidFill>
                      <a:srgbClr val="FFFFFF"/>
                    </a:solidFill>
                  </a:tcPr>
                </a:tc>
                <a:tc>
                  <a:txBody>
                    <a:bodyPr/>
                    <a:lstStyle/>
                    <a:p>
                      <a:pPr algn="ctr"/>
                      <a:r>
                        <a:rPr sz="1400" b="0">
                          <a:solidFill>
                            <a:srgbClr val="212121"/>
                          </a:solidFill>
                        </a:rPr>
                        <a:t>mx17_7</a:t>
                      </a:r>
                    </a:p>
                  </a:txBody>
                  <a:tcPr anchor="ctr" marT="12700" marB="12700" marL="88900" marR="88900">
                    <a:solidFill>
                      <a:srgbClr val="FFFFFF"/>
                    </a:solidFill>
                  </a:tcPr>
                </a:tc>
                <a:tc>
                  <a:txBody>
                    <a:bodyPr/>
                    <a:lstStyle/>
                    <a:p>
                      <a:pPr algn="ctr"/>
                      <a:r>
                        <a:rPr sz="1400" b="0">
                          <a:solidFill>
                            <a:srgbClr val="212121"/>
                          </a:solidFill>
                        </a:rPr>
                        <a:t>43.1 %</a:t>
                      </a:r>
                    </a:p>
                  </a:txBody>
                  <a:tcPr anchor="ctr" marT="12700" marB="12700" marL="88900" marR="88900">
                    <a:solidFill>
                      <a:srgbClr val="FFFFFF"/>
                    </a:solidFill>
                  </a:tcPr>
                </a:tc>
                <a:tc>
                  <a:txBody>
                    <a:bodyPr/>
                    <a:lstStyle/>
                    <a:p>
                      <a:pPr algn="ctr"/>
                      <a:r>
                        <a:rPr sz="1400" b="0">
                          <a:solidFill>
                            <a:srgbClr val="212121"/>
                          </a:solidFill>
                        </a:rPr>
                        <a:t>0.59 mm</a:t>
                      </a:r>
                    </a:p>
                  </a:txBody>
                  <a:tcPr anchor="ctr" marT="12700" marB="12700" marL="88900" marR="88900">
                    <a:solidFill>
                      <a:srgbClr val="FFFFFF"/>
                    </a:solidFill>
                  </a:tcPr>
                </a:tc>
                <a:tc>
                  <a:txBody>
                    <a:bodyPr/>
                    <a:lstStyle/>
                    <a:p>
                      <a:pPr algn="ctr"/>
                      <a:r>
                        <a:rPr sz="1400" b="0">
                          <a:solidFill>
                            <a:srgbClr val="212121"/>
                          </a:solidFill>
                        </a:rPr>
                        <a:t>3.4°</a:t>
                      </a:r>
                    </a:p>
                  </a:txBody>
                  <a:tcPr anchor="ctr" marT="12700" marB="12700" marL="88900" marR="88900">
                    <a:solidFill>
                      <a:srgbClr val="FFFFFF"/>
                    </a:solidFill>
                  </a:tcPr>
                </a:tc>
                <a:tc>
                  <a:txBody>
                    <a:bodyPr/>
                    <a:lstStyle/>
                    <a:p>
                      <a:pPr algn="ctr"/>
                      <a:r>
                        <a:rPr sz="1400" b="0">
                          <a:solidFill>
                            <a:srgbClr val="212121"/>
                          </a:solidFill>
                        </a:rPr>
                        <a:t>33.4 %</a:t>
                      </a:r>
                    </a:p>
                  </a:txBody>
                  <a:tcPr anchor="ctr" marT="12700" marB="12700" marL="88900" marR="88900">
                    <a:solidFill>
                      <a:srgbClr val="FFFFFF"/>
                    </a:solidFill>
                  </a:tcPr>
                </a:tc>
                <a:tc>
                  <a:txBody>
                    <a:bodyPr/>
                    <a:lstStyle/>
                    <a:p>
                      <a:pPr algn="ctr"/>
                      <a:r>
                        <a:rPr sz="1400" b="0">
                          <a:solidFill>
                            <a:srgbClr val="212121"/>
                          </a:solidFill>
                        </a:rPr>
                        <a:t>440 V</a:t>
                      </a:r>
                    </a:p>
                  </a:txBody>
                  <a:tcPr anchor="ctr" marT="12700" marB="12700" marL="88900" marR="88900">
                    <a:solidFill>
                      <a:srgbClr val="FFFFFF"/>
                    </a:solidFill>
                  </a:tcPr>
                </a:tc>
                <a:tc>
                  <a:txBody>
                    <a:bodyPr/>
                    <a:lstStyle/>
                    <a:p>
                      <a:pPr algn="ctr"/>
                      <a:r>
                        <a:rPr sz="1400" b="0">
                          <a:solidFill>
                            <a:srgbClr val="212121"/>
                          </a:solidFill>
                        </a:rPr>
                        <a:t>Spark-limited (op. pt.)</a:t>
                      </a:r>
                    </a:p>
                  </a:txBody>
                  <a:tcPr anchor="ctr" marT="12700" marB="12700" marL="88900" marR="88900">
                    <a:solidFill>
                      <a:srgbClr val="FFFFFF"/>
                    </a:solidFill>
                  </a:tcPr>
                </a:tc>
              </a:tr>
              <a:tr h="603504">
                <a:tc>
                  <a:txBody>
                    <a:bodyPr/>
                    <a:lstStyle/>
                    <a:p>
                      <a:pPr algn="l"/>
                      <a:r>
                        <a:rPr sz="1400" b="1">
                          <a:solidFill>
                            <a:srgbClr val="212121"/>
                          </a:solidFill>
                        </a:rPr>
                        <a:t>E</a:t>
                      </a:r>
                    </a:p>
                  </a:txBody>
                  <a:tcPr anchor="ctr" marT="12700" marB="12700" marL="88900" marR="88900">
                    <a:solidFill>
                      <a:srgbClr val="EEF2F8"/>
                    </a:solidFill>
                  </a:tcPr>
                </a:tc>
                <a:tc>
                  <a:txBody>
                    <a:bodyPr/>
                    <a:lstStyle/>
                    <a:p>
                      <a:pPr algn="ctr"/>
                      <a:r>
                        <a:rPr sz="1400" b="0">
                          <a:solidFill>
                            <a:srgbClr val="212121"/>
                          </a:solidFill>
                        </a:rPr>
                        <a:t>mx17_4</a:t>
                      </a:r>
                    </a:p>
                  </a:txBody>
                  <a:tcPr anchor="ctr" marT="12700" marB="12700" marL="88900" marR="88900">
                    <a:solidFill>
                      <a:srgbClr val="EEF2F8"/>
                    </a:solidFill>
                  </a:tcPr>
                </a:tc>
                <a:tc>
                  <a:txBody>
                    <a:bodyPr/>
                    <a:lstStyle/>
                    <a:p>
                      <a:pPr algn="ctr"/>
                      <a:r>
                        <a:rPr sz="1400" b="0">
                          <a:solidFill>
                            <a:srgbClr val="212121"/>
                          </a:solidFill>
                        </a:rPr>
                        <a:t>20.7 %</a:t>
                      </a:r>
                    </a:p>
                  </a:txBody>
                  <a:tcPr anchor="ctr" marT="12700" marB="12700" marL="88900" marR="88900">
                    <a:solidFill>
                      <a:srgbClr val="EEF2F8"/>
                    </a:solidFill>
                  </a:tcPr>
                </a:tc>
                <a:tc>
                  <a:txBody>
                    <a:bodyPr/>
                    <a:lstStyle/>
                    <a:p>
                      <a:pPr algn="ctr"/>
                      <a:r>
                        <a:rPr sz="1400" b="0">
                          <a:solidFill>
                            <a:srgbClr val="212121"/>
                          </a:solidFill>
                        </a:rPr>
                        <a:t>0.67 mm</a:t>
                      </a:r>
                    </a:p>
                  </a:txBody>
                  <a:tcPr anchor="ctr" marT="12700" marB="12700" marL="88900" marR="88900">
                    <a:solidFill>
                      <a:srgbClr val="EEF2F8"/>
                    </a:solidFill>
                  </a:tcPr>
                </a:tc>
                <a:tc>
                  <a:txBody>
                    <a:bodyPr/>
                    <a:lstStyle/>
                    <a:p>
                      <a:pPr algn="ctr"/>
                      <a:r>
                        <a:rPr sz="1400" b="0">
                          <a:solidFill>
                            <a:srgbClr val="212121"/>
                          </a:solidFill>
                        </a:rPr>
                        <a:t>2.6°</a:t>
                      </a:r>
                    </a:p>
                  </a:txBody>
                  <a:tcPr anchor="ctr" marT="12700" marB="12700" marL="88900" marR="88900">
                    <a:solidFill>
                      <a:srgbClr val="EEF2F8"/>
                    </a:solidFill>
                  </a:tcPr>
                </a:tc>
                <a:tc>
                  <a:txBody>
                    <a:bodyPr/>
                    <a:lstStyle/>
                    <a:p>
                      <a:pPr algn="ctr"/>
                      <a:r>
                        <a:rPr sz="1400" b="0">
                          <a:solidFill>
                            <a:srgbClr val="212121"/>
                          </a:solidFill>
                        </a:rPr>
                        <a:t>3.2 %</a:t>
                      </a:r>
                    </a:p>
                  </a:txBody>
                  <a:tcPr anchor="ctr" marT="12700" marB="12700" marL="88900" marR="88900">
                    <a:solidFill>
                      <a:srgbClr val="EEF2F8"/>
                    </a:solidFill>
                  </a:tcPr>
                </a:tc>
                <a:tc>
                  <a:txBody>
                    <a:bodyPr/>
                    <a:lstStyle/>
                    <a:p>
                      <a:pPr algn="ctr"/>
                      <a:r>
                        <a:rPr sz="1400" b="0">
                          <a:solidFill>
                            <a:srgbClr val="212121"/>
                          </a:solidFill>
                        </a:rPr>
                        <a:t>—</a:t>
                      </a:r>
                    </a:p>
                  </a:txBody>
                  <a:tcPr anchor="ctr" marT="12700" marB="12700" marL="88900" marR="88900">
                    <a:solidFill>
                      <a:srgbClr val="EEF2F8"/>
                    </a:solidFill>
                  </a:tcPr>
                </a:tc>
                <a:tc>
                  <a:txBody>
                    <a:bodyPr/>
                    <a:lstStyle/>
                    <a:p>
                      <a:pPr algn="ctr"/>
                      <a:r>
                        <a:rPr sz="1400" b="0">
                          <a:solidFill>
                            <a:srgbClr val="212121"/>
                          </a:solidFill>
                        </a:rPr>
                        <a:t>Gain-limited</a:t>
                      </a:r>
                    </a:p>
                  </a:txBody>
                  <a:tcPr anchor="ctr" marT="12700" marB="12700" marL="88900" marR="88900">
                    <a:solidFill>
                      <a:srgbClr val="EEF2F8"/>
                    </a:solidFill>
                  </a:tcPr>
                </a:tc>
              </a:tr>
            </a:tbl>
          </a:graphicData>
        </a:graphic>
      </p:graphicFrame>
      <p:sp>
        <p:nvSpPr>
          <p:cNvPr id="4" name="TextBox 3"/>
          <p:cNvSpPr txBox="1"/>
          <p:nvPr/>
        </p:nvSpPr>
        <p:spPr>
          <a:xfrm>
            <a:off x="502920" y="5303520"/>
            <a:ext cx="11185855" cy="1371600"/>
          </a:xfrm>
          <a:prstGeom prst="rect">
            <a:avLst/>
          </a:prstGeom>
          <a:noFill/>
        </p:spPr>
        <p:txBody>
          <a:bodyPr wrap="square">
            <a:spAutoFit/>
          </a:bodyPr>
          <a:lstStyle/>
          <a:p>
            <a:pPr>
              <a:spcAft>
                <a:spcPts val="600"/>
              </a:spcAft>
              <a:defRPr sz="1400">
                <a:solidFill>
                  <a:srgbClr val="212121"/>
                </a:solidFill>
              </a:defRPr>
            </a:pPr>
            <a:r>
              <a:t>• A &amp; B: excellent and mutually consistent (design, not luck)</a:t>
            </a:r>
          </a:p>
          <a:p>
            <a:pPr>
              <a:spcAft>
                <a:spcPts val="600"/>
              </a:spcAft>
              <a:defRPr sz="1400">
                <a:solidFill>
                  <a:srgbClr val="212121"/>
                </a:solidFill>
              </a:defRPr>
            </a:pPr>
            <a:r>
              <a:t>• C &amp; D: best-in-fleet cores (C 0.45 mm) — June op. point past the spark optimum</a:t>
            </a:r>
          </a:p>
          <a:p>
            <a:pPr>
              <a:spcAft>
                <a:spcPts val="600"/>
              </a:spcAft>
              <a:defRPr sz="1400">
                <a:solidFill>
                  <a:srgbClr val="212121"/>
                </a:solidFill>
              </a:defRPr>
            </a:pPr>
            <a:r>
              <a:t>• E: fires on ~70 % of muons — gain issue, recoverable, not a dead chamber</a:t>
            </a:r>
          </a:p>
        </p:txBody>
      </p:sp>
      <p:sp>
        <p:nvSpPr>
          <p:cNvPr id="5" name="TextBox 4"/>
          <p:cNvSpPr txBox="1"/>
          <p:nvPr/>
        </p:nvSpPr>
        <p:spPr>
          <a:xfrm>
            <a:off x="411480" y="6473952"/>
            <a:ext cx="11368735" cy="292608"/>
          </a:xfrm>
          <a:prstGeom prst="rect">
            <a:avLst/>
          </a:prstGeom>
          <a:noFill/>
        </p:spPr>
        <p:txBody>
          <a:bodyPr wrap="none">
            <a:spAutoFit/>
          </a:bodyPr>
          <a:lstStyle/>
          <a:p>
            <a:pPr>
              <a:defRPr sz="1000">
                <a:solidFill>
                  <a:srgbClr val="5A5A5A"/>
                </a:solidFill>
              </a:defRPr>
            </a:pPr>
            <a:r>
              <a:t>*Angle = hybrid tracking |θ|&lt;5° σ68 (holdout), fleet-wide. †C low-angle-only: X-plane has no drift-time structure (board-C mesh defect), plateau omitted. C/D drift 700 V; A/B drift 1000 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none">
            <a:spAutoFit/>
          </a:bodyPr>
          <a:lstStyle/>
          <a:p>
            <a:pPr>
              <a:defRPr sz="3000" b="1">
                <a:solidFill>
                  <a:srgbClr val="2E598C"/>
                </a:solidFill>
              </a:defRPr>
            </a:pPr>
            <a:r>
              <a:t>Takeaways</a:t>
            </a:r>
          </a:p>
        </p:txBody>
      </p:sp>
      <p:sp>
        <p:nvSpPr>
          <p:cNvPr id="3" name="TextBox 2"/>
          <p:cNvSpPr txBox="1"/>
          <p:nvPr/>
        </p:nvSpPr>
        <p:spPr>
          <a:xfrm>
            <a:off x="640080" y="1325880"/>
            <a:ext cx="10911535" cy="4572000"/>
          </a:xfrm>
          <a:prstGeom prst="rect">
            <a:avLst/>
          </a:prstGeom>
          <a:noFill/>
        </p:spPr>
        <p:txBody>
          <a:bodyPr wrap="square">
            <a:spAutoFit/>
          </a:bodyPr>
          <a:lstStyle/>
          <a:p>
            <a:pPr>
              <a:spcAft>
                <a:spcPts val="600"/>
              </a:spcAft>
              <a:defRPr sz="1900">
                <a:solidFill>
                  <a:srgbClr val="212121"/>
                </a:solidFill>
              </a:defRPr>
            </a:pPr>
            <a:r>
              <a:t>• The chambers work: ~96 % core efficiency, and they fire on essentially every muon</a:t>
            </a:r>
          </a:p>
          <a:p>
            <a:pPr>
              <a:spcAft>
                <a:spcPts val="600"/>
              </a:spcAft>
              <a:defRPr sz="1900">
                <a:solidFill>
                  <a:srgbClr val="212121"/>
                </a:solidFill>
              </a:defRPr>
            </a:pPr>
            <a:r>
              <a:t>• Sub-pitch position (0.47 mm vs 0.78 mm pitch) — delivered by the resistive-sharing design</a:t>
            </a:r>
          </a:p>
          <a:p>
            <a:pPr>
              <a:spcAft>
                <a:spcPts val="600"/>
              </a:spcAft>
              <a:defRPr sz="1900">
                <a:solidFill>
                  <a:srgbClr val="212121"/>
                </a:solidFill>
              </a:defRPr>
            </a:pPr>
            <a:r>
              <a:t>• Each chamber is a self-contained 3D tracker: ~1.7° angles, 33 ns timing, from one 30 mm gap</a:t>
            </a:r>
          </a:p>
          <a:p>
            <a:pPr>
              <a:spcAft>
                <a:spcPts val="600"/>
              </a:spcAft>
              <a:defRPr sz="1900">
                <a:solidFill>
                  <a:srgbClr val="212121"/>
                </a:solidFill>
              </a:defRPr>
            </a:pPr>
            <a:r>
              <a:t>• The resistive spark protection is verified end-to-end: rare, self-quenching, zero dead time</a:t>
            </a:r>
          </a:p>
          <a:p>
            <a:pPr>
              <a:spcAft>
                <a:spcPts val="600"/>
              </a:spcAft>
              <a:defRPr sz="1900">
                <a:solidFill>
                  <a:srgbClr val="212121"/>
                </a:solidFill>
              </a:defRPr>
            </a:pPr>
            <a:r>
              <a:t>• The pixelated charge-routing layer splits charge 50/50, uniformly — as designed</a:t>
            </a:r>
          </a:p>
          <a:p>
            <a:pPr>
              <a:spcAft>
                <a:spcPts val="600"/>
              </a:spcAft>
              <a:defRPr sz="1900">
                <a:solidFill>
                  <a:srgbClr val="212121"/>
                </a:solidFill>
              </a:defRPr>
            </a:pPr>
            <a:r>
              <a:t>• Chamber-to-chamber differences are operating-point and gas effects, not construction defects</a:t>
            </a:r>
          </a:p>
          <a:p>
            <a:pPr>
              <a:spcAft>
                <a:spcPts val="600"/>
              </a:spcAft>
              <a:defRPr sz="1900">
                <a:solidFill>
                  <a:srgbClr val="212121"/>
                </a:solidFill>
              </a:defRPr>
            </a:pPr>
            <a:r>
              <a:t>• Preliminary; position numbers conservative (telescope not deconvolved)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